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3" r:id="rId7"/>
    <p:sldId id="264" r:id="rId8"/>
    <p:sldId id="271" r:id="rId9"/>
    <p:sldId id="272" r:id="rId10"/>
    <p:sldId id="265" r:id="rId11"/>
    <p:sldId id="273" r:id="rId12"/>
    <p:sldId id="274" r:id="rId13"/>
    <p:sldId id="275" r:id="rId14"/>
    <p:sldId id="279" r:id="rId15"/>
    <p:sldId id="267" r:id="rId16"/>
    <p:sldId id="276" r:id="rId17"/>
    <p:sldId id="280" r:id="rId18"/>
    <p:sldId id="269" r:id="rId19"/>
    <p:sldId id="270" r:id="rId20"/>
    <p:sldId id="277" r:id="rId21"/>
    <p:sldId id="278" r:id="rId22"/>
  </p:sldIdLst>
  <p:sldSz cx="7594600" cy="10699750"/>
  <p:notesSz cx="7594600" cy="10699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2390" y="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9595" y="3316922"/>
            <a:ext cx="6455410" cy="2246947"/>
          </a:xfrm>
          <a:prstGeom prst="rect">
            <a:avLst/>
          </a:prstGeom>
        </p:spPr>
        <p:txBody>
          <a:bodyPr wrap="square" lIns="0" tIns="0" rIns="0" bIns="0">
            <a:spAutoFit/>
          </a:bodyPr>
          <a:lstStyle>
            <a:lvl1pPr>
              <a:defRPr sz="22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139190" y="5991860"/>
            <a:ext cx="5316220" cy="26749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6/10/2024</a:t>
            </a:fld>
            <a:endParaRPr lang="en-US"/>
          </a:p>
        </p:txBody>
      </p:sp>
      <p:sp>
        <p:nvSpPr>
          <p:cNvPr id="6" name="Holder 6"/>
          <p:cNvSpPr>
            <a:spLocks noGrp="1"/>
          </p:cNvSpPr>
          <p:nvPr>
            <p:ph type="sldNum" sz="quarter" idx="7"/>
          </p:nvPr>
        </p:nvSpPr>
        <p:spPr/>
        <p:txBody>
          <a:bodyPr lIns="0" tIns="0" rIns="0" bIns="0"/>
          <a:lstStyle>
            <a:lvl1pPr>
              <a:defRPr sz="1050" b="0" i="0">
                <a:solidFill>
                  <a:schemeClr val="tx1"/>
                </a:solidFill>
                <a:latin typeface="Calibri"/>
                <a:cs typeface="Calibri"/>
              </a:defRPr>
            </a:lvl1pPr>
          </a:lstStyle>
          <a:p>
            <a:pPr marL="38100">
              <a:lnSpc>
                <a:spcPts val="112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6/10/2024</a:t>
            </a:fld>
            <a:endParaRPr lang="en-US"/>
          </a:p>
        </p:txBody>
      </p:sp>
      <p:sp>
        <p:nvSpPr>
          <p:cNvPr id="6" name="Holder 6"/>
          <p:cNvSpPr>
            <a:spLocks noGrp="1"/>
          </p:cNvSpPr>
          <p:nvPr>
            <p:ph type="sldNum" sz="quarter" idx="7"/>
          </p:nvPr>
        </p:nvSpPr>
        <p:spPr/>
        <p:txBody>
          <a:bodyPr lIns="0" tIns="0" rIns="0" bIns="0"/>
          <a:lstStyle>
            <a:lvl1pPr>
              <a:defRPr sz="1050" b="0" i="0">
                <a:solidFill>
                  <a:schemeClr val="tx1"/>
                </a:solidFill>
                <a:latin typeface="Calibri"/>
                <a:cs typeface="Calibri"/>
              </a:defRPr>
            </a:lvl1pPr>
          </a:lstStyle>
          <a:p>
            <a:pPr marL="38100">
              <a:lnSpc>
                <a:spcPts val="112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Calibri"/>
                <a:cs typeface="Calibri"/>
              </a:defRPr>
            </a:lvl1pPr>
          </a:lstStyle>
          <a:p>
            <a:endParaRPr/>
          </a:p>
        </p:txBody>
      </p:sp>
      <p:sp>
        <p:nvSpPr>
          <p:cNvPr id="3" name="Holder 3"/>
          <p:cNvSpPr>
            <a:spLocks noGrp="1"/>
          </p:cNvSpPr>
          <p:nvPr>
            <p:ph sz="half" idx="2"/>
          </p:nvPr>
        </p:nvSpPr>
        <p:spPr>
          <a:xfrm>
            <a:off x="379730" y="2460942"/>
            <a:ext cx="3303651" cy="706183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911219" y="2460942"/>
            <a:ext cx="3303651" cy="706183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6/10/2024</a:t>
            </a:fld>
            <a:endParaRPr lang="en-US"/>
          </a:p>
        </p:txBody>
      </p:sp>
      <p:sp>
        <p:nvSpPr>
          <p:cNvPr id="7" name="Holder 7"/>
          <p:cNvSpPr>
            <a:spLocks noGrp="1"/>
          </p:cNvSpPr>
          <p:nvPr>
            <p:ph type="sldNum" sz="quarter" idx="7"/>
          </p:nvPr>
        </p:nvSpPr>
        <p:spPr/>
        <p:txBody>
          <a:bodyPr lIns="0" tIns="0" rIns="0" bIns="0"/>
          <a:lstStyle>
            <a:lvl1pPr>
              <a:defRPr sz="1050" b="0" i="0">
                <a:solidFill>
                  <a:schemeClr val="tx1"/>
                </a:solidFill>
                <a:latin typeface="Calibri"/>
                <a:cs typeface="Calibri"/>
              </a:defRPr>
            </a:lvl1pPr>
          </a:lstStyle>
          <a:p>
            <a:pPr marL="38100">
              <a:lnSpc>
                <a:spcPts val="112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6/10/2024</a:t>
            </a:fld>
            <a:endParaRPr lang="en-US"/>
          </a:p>
        </p:txBody>
      </p:sp>
      <p:sp>
        <p:nvSpPr>
          <p:cNvPr id="5" name="Holder 5"/>
          <p:cNvSpPr>
            <a:spLocks noGrp="1"/>
          </p:cNvSpPr>
          <p:nvPr>
            <p:ph type="sldNum" sz="quarter" idx="7"/>
          </p:nvPr>
        </p:nvSpPr>
        <p:spPr/>
        <p:txBody>
          <a:bodyPr lIns="0" tIns="0" rIns="0" bIns="0"/>
          <a:lstStyle>
            <a:lvl1pPr>
              <a:defRPr sz="1050" b="0" i="0">
                <a:solidFill>
                  <a:schemeClr val="tx1"/>
                </a:solidFill>
                <a:latin typeface="Calibri"/>
                <a:cs typeface="Calibri"/>
              </a:defRPr>
            </a:lvl1pPr>
          </a:lstStyle>
          <a:p>
            <a:pPr marL="38100">
              <a:lnSpc>
                <a:spcPts val="112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6/10/2024</a:t>
            </a:fld>
            <a:endParaRPr lang="en-US"/>
          </a:p>
        </p:txBody>
      </p:sp>
      <p:sp>
        <p:nvSpPr>
          <p:cNvPr id="4" name="Holder 4"/>
          <p:cNvSpPr>
            <a:spLocks noGrp="1"/>
          </p:cNvSpPr>
          <p:nvPr>
            <p:ph type="sldNum" sz="quarter" idx="7"/>
          </p:nvPr>
        </p:nvSpPr>
        <p:spPr/>
        <p:txBody>
          <a:bodyPr lIns="0" tIns="0" rIns="0" bIns="0"/>
          <a:lstStyle>
            <a:lvl1pPr>
              <a:defRPr sz="1050" b="0" i="0">
                <a:solidFill>
                  <a:schemeClr val="tx1"/>
                </a:solidFill>
                <a:latin typeface="Calibri"/>
                <a:cs typeface="Calibri"/>
              </a:defRPr>
            </a:lvl1pPr>
          </a:lstStyle>
          <a:p>
            <a:pPr marL="38100">
              <a:lnSpc>
                <a:spcPts val="112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77242" y="531639"/>
            <a:ext cx="6835140" cy="9635490"/>
          </a:xfrm>
          <a:custGeom>
            <a:avLst/>
            <a:gdLst/>
            <a:ahLst/>
            <a:cxnLst/>
            <a:rect l="l" t="t" r="r" b="b"/>
            <a:pathLst>
              <a:path w="6835140" h="9635490">
                <a:moveTo>
                  <a:pt x="0" y="9635065"/>
                </a:moveTo>
                <a:lnTo>
                  <a:pt x="6835136" y="9635065"/>
                </a:lnTo>
                <a:lnTo>
                  <a:pt x="6835136" y="0"/>
                </a:lnTo>
                <a:lnTo>
                  <a:pt x="0" y="0"/>
                </a:lnTo>
                <a:lnTo>
                  <a:pt x="0" y="9635065"/>
                </a:lnTo>
                <a:close/>
              </a:path>
            </a:pathLst>
          </a:custGeom>
          <a:ln w="34184">
            <a:solidFill>
              <a:srgbClr val="000000"/>
            </a:solidFill>
          </a:ln>
        </p:spPr>
        <p:txBody>
          <a:bodyPr wrap="square" lIns="0" tIns="0" rIns="0" bIns="0" rtlCol="0"/>
          <a:lstStyle/>
          <a:p>
            <a:endParaRPr/>
          </a:p>
        </p:txBody>
      </p:sp>
      <p:sp>
        <p:nvSpPr>
          <p:cNvPr id="2" name="Holder 2"/>
          <p:cNvSpPr>
            <a:spLocks noGrp="1"/>
          </p:cNvSpPr>
          <p:nvPr>
            <p:ph type="title"/>
          </p:nvPr>
        </p:nvSpPr>
        <p:spPr>
          <a:xfrm>
            <a:off x="1188041" y="2107385"/>
            <a:ext cx="1271270" cy="365760"/>
          </a:xfrm>
          <a:prstGeom prst="rect">
            <a:avLst/>
          </a:prstGeom>
        </p:spPr>
        <p:txBody>
          <a:bodyPr wrap="square" lIns="0" tIns="0" rIns="0" bIns="0">
            <a:spAutoFit/>
          </a:bodyPr>
          <a:lstStyle>
            <a:lvl1pPr>
              <a:defRPr sz="2200" b="1" i="0">
                <a:solidFill>
                  <a:schemeClr val="tx1"/>
                </a:solidFill>
                <a:latin typeface="Calibri"/>
                <a:cs typeface="Calibri"/>
              </a:defRPr>
            </a:lvl1pPr>
          </a:lstStyle>
          <a:p>
            <a:endParaRPr/>
          </a:p>
        </p:txBody>
      </p:sp>
      <p:sp>
        <p:nvSpPr>
          <p:cNvPr id="3" name="Holder 3"/>
          <p:cNvSpPr>
            <a:spLocks noGrp="1"/>
          </p:cNvSpPr>
          <p:nvPr>
            <p:ph type="body" idx="1"/>
          </p:nvPr>
        </p:nvSpPr>
        <p:spPr>
          <a:xfrm>
            <a:off x="379730" y="2460942"/>
            <a:ext cx="6835140" cy="706183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82164" y="9950768"/>
            <a:ext cx="2430272" cy="53498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9730" y="9950768"/>
            <a:ext cx="1746758" cy="53498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6/10/2024</a:t>
            </a:fld>
            <a:endParaRPr lang="en-US"/>
          </a:p>
        </p:txBody>
      </p:sp>
      <p:sp>
        <p:nvSpPr>
          <p:cNvPr id="6" name="Holder 6"/>
          <p:cNvSpPr>
            <a:spLocks noGrp="1"/>
          </p:cNvSpPr>
          <p:nvPr>
            <p:ph type="sldNum" sz="quarter" idx="7"/>
          </p:nvPr>
        </p:nvSpPr>
        <p:spPr>
          <a:xfrm>
            <a:off x="3689721" y="9569796"/>
            <a:ext cx="222885" cy="162559"/>
          </a:xfrm>
          <a:prstGeom prst="rect">
            <a:avLst/>
          </a:prstGeom>
        </p:spPr>
        <p:txBody>
          <a:bodyPr wrap="square" lIns="0" tIns="0" rIns="0" bIns="0">
            <a:spAutoFit/>
          </a:bodyPr>
          <a:lstStyle>
            <a:lvl1pPr>
              <a:defRPr sz="1050" b="0" i="0">
                <a:solidFill>
                  <a:schemeClr val="tx1"/>
                </a:solidFill>
                <a:latin typeface="Calibri"/>
                <a:cs typeface="Calibri"/>
              </a:defRPr>
            </a:lvl1pPr>
          </a:lstStyle>
          <a:p>
            <a:pPr marL="38100">
              <a:lnSpc>
                <a:spcPts val="112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00741" y="1355266"/>
            <a:ext cx="5188162" cy="1224046"/>
          </a:xfrm>
          <a:prstGeom prst="rect">
            <a:avLst/>
          </a:prstGeom>
        </p:spPr>
      </p:pic>
      <p:sp>
        <p:nvSpPr>
          <p:cNvPr id="3" name="object 3"/>
          <p:cNvSpPr txBox="1"/>
          <p:nvPr/>
        </p:nvSpPr>
        <p:spPr>
          <a:xfrm>
            <a:off x="444500" y="2933901"/>
            <a:ext cx="6781800" cy="3344634"/>
          </a:xfrm>
          <a:prstGeom prst="rect">
            <a:avLst/>
          </a:prstGeom>
        </p:spPr>
        <p:txBody>
          <a:bodyPr vert="horz" wrap="square" lIns="0" tIns="12700" rIns="0" bIns="0" rtlCol="0">
            <a:spAutoFit/>
          </a:bodyPr>
          <a:lstStyle/>
          <a:p>
            <a:pPr marL="76200" algn="ctr">
              <a:lnSpc>
                <a:spcPts val="1580"/>
              </a:lnSpc>
              <a:spcBef>
                <a:spcPts val="100"/>
              </a:spcBef>
            </a:pPr>
            <a:r>
              <a:rPr sz="1550" b="1" spc="100" dirty="0">
                <a:latin typeface="Calibri"/>
                <a:cs typeface="Calibri"/>
              </a:rPr>
              <a:t>School</a:t>
            </a:r>
            <a:r>
              <a:rPr sz="1550" b="1" spc="254" dirty="0">
                <a:latin typeface="Calibri"/>
                <a:cs typeface="Calibri"/>
              </a:rPr>
              <a:t> </a:t>
            </a:r>
            <a:r>
              <a:rPr sz="1550" b="1" spc="-35" dirty="0">
                <a:latin typeface="Calibri"/>
                <a:cs typeface="Calibri"/>
              </a:rPr>
              <a:t>of</a:t>
            </a:r>
            <a:endParaRPr sz="1550" dirty="0">
              <a:latin typeface="Calibri"/>
              <a:cs typeface="Calibri"/>
            </a:endParaRPr>
          </a:p>
          <a:p>
            <a:pPr algn="ctr">
              <a:lnSpc>
                <a:spcPts val="1580"/>
              </a:lnSpc>
            </a:pPr>
            <a:r>
              <a:rPr sz="1550" b="1" spc="125" dirty="0">
                <a:latin typeface="Calibri"/>
                <a:cs typeface="Calibri"/>
              </a:rPr>
              <a:t>Electronics</a:t>
            </a:r>
            <a:r>
              <a:rPr sz="1550" b="1" spc="235" dirty="0">
                <a:latin typeface="Calibri"/>
                <a:cs typeface="Calibri"/>
              </a:rPr>
              <a:t> </a:t>
            </a:r>
            <a:r>
              <a:rPr sz="1550" b="1" spc="110" dirty="0">
                <a:latin typeface="Calibri"/>
                <a:cs typeface="Calibri"/>
              </a:rPr>
              <a:t>and</a:t>
            </a:r>
            <a:r>
              <a:rPr sz="1550" b="1" spc="240" dirty="0">
                <a:latin typeface="Calibri"/>
                <a:cs typeface="Calibri"/>
              </a:rPr>
              <a:t> </a:t>
            </a:r>
            <a:r>
              <a:rPr sz="1550" b="1" spc="135" dirty="0">
                <a:latin typeface="Calibri"/>
                <a:cs typeface="Calibri"/>
              </a:rPr>
              <a:t>Communication</a:t>
            </a:r>
            <a:r>
              <a:rPr sz="1550" b="1" spc="240" dirty="0">
                <a:latin typeface="Calibri"/>
                <a:cs typeface="Calibri"/>
              </a:rPr>
              <a:t> </a:t>
            </a:r>
            <a:r>
              <a:rPr sz="1550" b="1" spc="120" dirty="0">
                <a:latin typeface="Calibri"/>
                <a:cs typeface="Calibri"/>
              </a:rPr>
              <a:t>Engineering</a:t>
            </a:r>
            <a:endParaRPr sz="1550" dirty="0">
              <a:latin typeface="Calibri"/>
              <a:cs typeface="Calibri"/>
            </a:endParaRPr>
          </a:p>
          <a:p>
            <a:pPr>
              <a:lnSpc>
                <a:spcPct val="100000"/>
              </a:lnSpc>
            </a:pPr>
            <a:endParaRPr sz="1550" dirty="0">
              <a:latin typeface="Calibri"/>
              <a:cs typeface="Calibri"/>
            </a:endParaRPr>
          </a:p>
          <a:p>
            <a:pPr>
              <a:lnSpc>
                <a:spcPct val="100000"/>
              </a:lnSpc>
              <a:spcBef>
                <a:spcPts val="725"/>
              </a:spcBef>
            </a:pPr>
            <a:endParaRPr sz="1550" dirty="0">
              <a:latin typeface="Calibri"/>
              <a:cs typeface="Calibri"/>
            </a:endParaRPr>
          </a:p>
          <a:p>
            <a:pPr marL="1171575" marR="1161415" algn="ctr">
              <a:lnSpc>
                <a:spcPct val="138600"/>
              </a:lnSpc>
            </a:pPr>
            <a:r>
              <a:rPr sz="2400" b="1" spc="160" dirty="0">
                <a:latin typeface="Calibri"/>
                <a:cs typeface="Calibri"/>
              </a:rPr>
              <a:t>Mi</a:t>
            </a:r>
            <a:r>
              <a:rPr lang="en-IN" sz="2400" b="1" spc="160" dirty="0">
                <a:latin typeface="Calibri"/>
                <a:cs typeface="Calibri"/>
              </a:rPr>
              <a:t>nor</a:t>
            </a:r>
            <a:r>
              <a:rPr sz="2400" b="1" spc="229" dirty="0">
                <a:latin typeface="Calibri"/>
                <a:cs typeface="Calibri"/>
              </a:rPr>
              <a:t> </a:t>
            </a:r>
            <a:r>
              <a:rPr sz="2400" b="1" spc="150" dirty="0">
                <a:latin typeface="Calibri"/>
                <a:cs typeface="Calibri"/>
              </a:rPr>
              <a:t>Project</a:t>
            </a:r>
            <a:r>
              <a:rPr sz="2400" b="1" spc="235" dirty="0">
                <a:latin typeface="Calibri"/>
                <a:cs typeface="Calibri"/>
              </a:rPr>
              <a:t> </a:t>
            </a:r>
            <a:r>
              <a:rPr sz="2400" b="1" spc="145" dirty="0">
                <a:latin typeface="Calibri"/>
                <a:cs typeface="Calibri"/>
              </a:rPr>
              <a:t>Report </a:t>
            </a:r>
            <a:r>
              <a:rPr sz="2400" b="1" spc="50" dirty="0">
                <a:latin typeface="Calibri"/>
                <a:cs typeface="Calibri"/>
              </a:rPr>
              <a:t>on</a:t>
            </a:r>
            <a:endParaRPr lang="en-US" sz="2400" b="1" spc="50" dirty="0">
              <a:latin typeface="Calibri"/>
              <a:cs typeface="Calibri"/>
            </a:endParaRPr>
          </a:p>
          <a:p>
            <a:pPr marL="1171575" marR="1161415" algn="ctr">
              <a:lnSpc>
                <a:spcPct val="138600"/>
              </a:lnSpc>
            </a:pPr>
            <a:r>
              <a:rPr lang="en-IN" sz="2400" dirty="0">
                <a:effectLst/>
                <a:latin typeface="Calibri" panose="020F0502020204030204" pitchFamily="34" charset="0"/>
                <a:ea typeface="Calibri" panose="020F0502020204030204" pitchFamily="34" charset="0"/>
                <a:cs typeface="Times New Roman" panose="02020603050405020304" pitchFamily="18" charset="0"/>
              </a:rPr>
              <a:t>Real-Time Traffic Signal and Arrow Recognition for Autonomous Vehicles</a:t>
            </a:r>
            <a:endParaRPr lang="en-US" sz="2400" b="1" spc="50" dirty="0">
              <a:latin typeface="Calibri"/>
              <a:cs typeface="Calibri"/>
            </a:endParaRPr>
          </a:p>
          <a:p>
            <a:pPr marL="1171575" marR="1161415" algn="ctr">
              <a:lnSpc>
                <a:spcPct val="138600"/>
              </a:lnSpc>
            </a:pPr>
            <a:endParaRPr lang="en-US" sz="1550" b="1" spc="50" dirty="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1</a:t>
            </a:fld>
            <a:endParaRPr spc="-25" dirty="0"/>
          </a:p>
        </p:txBody>
      </p:sp>
      <p:graphicFrame>
        <p:nvGraphicFramePr>
          <p:cNvPr id="4" name="object 4"/>
          <p:cNvGraphicFramePr>
            <a:graphicFrameLocks noGrp="1"/>
          </p:cNvGraphicFramePr>
          <p:nvPr>
            <p:extLst>
              <p:ext uri="{D42A27DB-BD31-4B8C-83A1-F6EECF244321}">
                <p14:modId xmlns:p14="http://schemas.microsoft.com/office/powerpoint/2010/main" val="2873750409"/>
              </p:ext>
            </p:extLst>
          </p:nvPr>
        </p:nvGraphicFramePr>
        <p:xfrm>
          <a:off x="1168990" y="6111875"/>
          <a:ext cx="5066710" cy="1524000"/>
        </p:xfrm>
        <a:graphic>
          <a:graphicData uri="http://schemas.openxmlformats.org/drawingml/2006/table">
            <a:tbl>
              <a:tblPr firstRow="1" bandRow="1">
                <a:tableStyleId>{2D5ABB26-0587-4C30-8999-92F81FD0307C}</a:tableStyleId>
              </a:tblPr>
              <a:tblGrid>
                <a:gridCol w="686213">
                  <a:extLst>
                    <a:ext uri="{9D8B030D-6E8A-4147-A177-3AD203B41FA5}">
                      <a16:colId xmlns:a16="http://schemas.microsoft.com/office/drawing/2014/main" val="20000"/>
                    </a:ext>
                  </a:extLst>
                </a:gridCol>
                <a:gridCol w="2816876">
                  <a:extLst>
                    <a:ext uri="{9D8B030D-6E8A-4147-A177-3AD203B41FA5}">
                      <a16:colId xmlns:a16="http://schemas.microsoft.com/office/drawing/2014/main" val="20001"/>
                    </a:ext>
                  </a:extLst>
                </a:gridCol>
                <a:gridCol w="1563621">
                  <a:extLst>
                    <a:ext uri="{9D8B030D-6E8A-4147-A177-3AD203B41FA5}">
                      <a16:colId xmlns:a16="http://schemas.microsoft.com/office/drawing/2014/main" val="20002"/>
                    </a:ext>
                  </a:extLst>
                </a:gridCol>
              </a:tblGrid>
              <a:tr h="233411">
                <a:tc>
                  <a:txBody>
                    <a:bodyPr/>
                    <a:lstStyle/>
                    <a:p>
                      <a:pPr marR="60325" algn="r">
                        <a:lnSpc>
                          <a:spcPts val="1019"/>
                        </a:lnSpc>
                      </a:pPr>
                      <a:r>
                        <a:rPr sz="1050" b="1" spc="125" dirty="0">
                          <a:latin typeface="Calibri"/>
                          <a:cs typeface="Calibri"/>
                        </a:rPr>
                        <a:t>By:</a:t>
                      </a:r>
                      <a:endParaRPr sz="1050">
                        <a:latin typeface="Calibri"/>
                        <a:cs typeface="Calibri"/>
                      </a:endParaRPr>
                    </a:p>
                  </a:txBody>
                  <a:tcPr marL="0" marR="0" marT="0" marB="0"/>
                </a:tc>
                <a:tc gridSpan="2">
                  <a:txBody>
                    <a:bodyPr/>
                    <a:lstStyle/>
                    <a:p>
                      <a:pPr>
                        <a:lnSpc>
                          <a:spcPct val="100000"/>
                        </a:lnSpc>
                      </a:pPr>
                      <a:endParaRPr sz="1300">
                        <a:latin typeface="Times New Roman"/>
                        <a:cs typeface="Times New Roman"/>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46023">
                <a:tc>
                  <a:txBody>
                    <a:bodyPr/>
                    <a:lstStyle/>
                    <a:p>
                      <a:pPr marR="25400" algn="r">
                        <a:lnSpc>
                          <a:spcPct val="100000"/>
                        </a:lnSpc>
                        <a:spcBef>
                          <a:spcPts val="305"/>
                        </a:spcBef>
                      </a:pPr>
                      <a:r>
                        <a:rPr sz="1300" spc="-25" dirty="0">
                          <a:latin typeface="Calibri"/>
                          <a:cs typeface="Calibri"/>
                        </a:rPr>
                        <a:t>1.</a:t>
                      </a:r>
                      <a:endParaRPr sz="1300">
                        <a:latin typeface="Calibri"/>
                        <a:cs typeface="Calibri"/>
                      </a:endParaRPr>
                    </a:p>
                  </a:txBody>
                  <a:tcPr marL="0" marR="0" marT="38735" marB="0"/>
                </a:tc>
                <a:tc>
                  <a:txBody>
                    <a:bodyPr/>
                    <a:lstStyle/>
                    <a:p>
                      <a:pPr marL="33020">
                        <a:lnSpc>
                          <a:spcPct val="100000"/>
                        </a:lnSpc>
                        <a:spcBef>
                          <a:spcPts val="305"/>
                        </a:spcBef>
                      </a:pPr>
                      <a:r>
                        <a:rPr lang="en-US" sz="1300" b="1" spc="105" dirty="0" err="1">
                          <a:latin typeface="Calibri"/>
                          <a:cs typeface="Calibri"/>
                        </a:rPr>
                        <a:t>Chandan.Raikar</a:t>
                      </a:r>
                      <a:endParaRPr sz="1300" dirty="0">
                        <a:latin typeface="Calibri"/>
                        <a:cs typeface="Calibri"/>
                      </a:endParaRPr>
                    </a:p>
                  </a:txBody>
                  <a:tcPr marL="0" marR="0" marT="38735" marB="0"/>
                </a:tc>
                <a:tc>
                  <a:txBody>
                    <a:bodyPr/>
                    <a:lstStyle/>
                    <a:p>
                      <a:pPr marR="24130" algn="r">
                        <a:lnSpc>
                          <a:spcPct val="100000"/>
                        </a:lnSpc>
                        <a:spcBef>
                          <a:spcPts val="305"/>
                        </a:spcBef>
                      </a:pPr>
                      <a:r>
                        <a:rPr sz="1300" spc="55" dirty="0">
                          <a:latin typeface="Calibri"/>
                          <a:cs typeface="Calibri"/>
                        </a:rPr>
                        <a:t>USN:</a:t>
                      </a:r>
                      <a:r>
                        <a:rPr lang="en-US" sz="1300" spc="55" dirty="0">
                          <a:latin typeface="Calibri"/>
                          <a:cs typeface="Calibri"/>
                        </a:rPr>
                        <a:t>01FE21BEC038</a:t>
                      </a:r>
                      <a:endParaRPr sz="1300" dirty="0">
                        <a:latin typeface="Calibri"/>
                        <a:cs typeface="Calibri"/>
                      </a:endParaRPr>
                    </a:p>
                  </a:txBody>
                  <a:tcPr marL="0" marR="0" marT="38735" marB="0"/>
                </a:tc>
                <a:extLst>
                  <a:ext uri="{0D108BD9-81ED-4DB2-BD59-A6C34878D82A}">
                    <a16:rowId xmlns:a16="http://schemas.microsoft.com/office/drawing/2014/main" val="10001"/>
                  </a:ext>
                </a:extLst>
              </a:tr>
              <a:tr h="342610">
                <a:tc>
                  <a:txBody>
                    <a:bodyPr/>
                    <a:lstStyle/>
                    <a:p>
                      <a:pPr marR="25400" algn="r">
                        <a:lnSpc>
                          <a:spcPct val="100000"/>
                        </a:lnSpc>
                        <a:spcBef>
                          <a:spcPts val="275"/>
                        </a:spcBef>
                      </a:pPr>
                      <a:r>
                        <a:rPr sz="1300" spc="-25" dirty="0">
                          <a:latin typeface="Calibri"/>
                          <a:cs typeface="Calibri"/>
                        </a:rPr>
                        <a:t>2.</a:t>
                      </a:r>
                      <a:endParaRPr sz="1300">
                        <a:latin typeface="Calibri"/>
                        <a:cs typeface="Calibri"/>
                      </a:endParaRPr>
                    </a:p>
                  </a:txBody>
                  <a:tcPr marL="0" marR="0" marT="34925" marB="0"/>
                </a:tc>
                <a:tc>
                  <a:txBody>
                    <a:bodyPr/>
                    <a:lstStyle/>
                    <a:p>
                      <a:pPr marL="33020">
                        <a:lnSpc>
                          <a:spcPct val="100000"/>
                        </a:lnSpc>
                        <a:spcBef>
                          <a:spcPts val="275"/>
                        </a:spcBef>
                      </a:pPr>
                      <a:r>
                        <a:rPr lang="en-US" sz="1300" b="1" spc="105" dirty="0" err="1">
                          <a:latin typeface="Calibri"/>
                          <a:cs typeface="Calibri"/>
                        </a:rPr>
                        <a:t>Sanjana.A</a:t>
                      </a:r>
                      <a:endParaRPr sz="1300" dirty="0">
                        <a:latin typeface="Calibri"/>
                        <a:cs typeface="Calibri"/>
                      </a:endParaRPr>
                    </a:p>
                  </a:txBody>
                  <a:tcPr marL="0" marR="0" marT="34925" marB="0"/>
                </a:tc>
                <a:tc>
                  <a:txBody>
                    <a:bodyPr/>
                    <a:lstStyle/>
                    <a:p>
                      <a:pPr marR="24130" algn="r">
                        <a:lnSpc>
                          <a:spcPct val="100000"/>
                        </a:lnSpc>
                        <a:spcBef>
                          <a:spcPts val="275"/>
                        </a:spcBef>
                      </a:pPr>
                      <a:r>
                        <a:rPr sz="1300" spc="55" dirty="0">
                          <a:latin typeface="Calibri"/>
                          <a:cs typeface="Calibri"/>
                        </a:rPr>
                        <a:t>USN:</a:t>
                      </a:r>
                      <a:r>
                        <a:rPr lang="en-US" sz="1300" spc="55" dirty="0">
                          <a:latin typeface="Calibri"/>
                          <a:cs typeface="Calibri"/>
                        </a:rPr>
                        <a:t>01FE21BEC363</a:t>
                      </a:r>
                      <a:endParaRPr sz="1300" dirty="0">
                        <a:latin typeface="Calibri"/>
                        <a:cs typeface="Calibri"/>
                      </a:endParaRPr>
                    </a:p>
                  </a:txBody>
                  <a:tcPr marL="0" marR="0" marT="34925" marB="0"/>
                </a:tc>
                <a:extLst>
                  <a:ext uri="{0D108BD9-81ED-4DB2-BD59-A6C34878D82A}">
                    <a16:rowId xmlns:a16="http://schemas.microsoft.com/office/drawing/2014/main" val="10002"/>
                  </a:ext>
                </a:extLst>
              </a:tr>
              <a:tr h="342610">
                <a:tc>
                  <a:txBody>
                    <a:bodyPr/>
                    <a:lstStyle/>
                    <a:p>
                      <a:pPr marR="25400" algn="r">
                        <a:lnSpc>
                          <a:spcPct val="100000"/>
                        </a:lnSpc>
                        <a:spcBef>
                          <a:spcPts val="275"/>
                        </a:spcBef>
                      </a:pPr>
                      <a:r>
                        <a:rPr sz="1300" spc="-25" dirty="0">
                          <a:latin typeface="Calibri"/>
                          <a:cs typeface="Calibri"/>
                        </a:rPr>
                        <a:t>3.</a:t>
                      </a:r>
                      <a:endParaRPr sz="1300">
                        <a:latin typeface="Calibri"/>
                        <a:cs typeface="Calibri"/>
                      </a:endParaRPr>
                    </a:p>
                  </a:txBody>
                  <a:tcPr marL="0" marR="0" marT="34925" marB="0"/>
                </a:tc>
                <a:tc>
                  <a:txBody>
                    <a:bodyPr/>
                    <a:lstStyle/>
                    <a:p>
                      <a:pPr marL="33020">
                        <a:lnSpc>
                          <a:spcPct val="100000"/>
                        </a:lnSpc>
                        <a:spcBef>
                          <a:spcPts val="275"/>
                        </a:spcBef>
                      </a:pPr>
                      <a:r>
                        <a:rPr lang="en-US" sz="1300" b="1" spc="105" dirty="0" err="1">
                          <a:latin typeface="Calibri"/>
                          <a:cs typeface="Calibri"/>
                        </a:rPr>
                        <a:t>Divya.R.Salmani</a:t>
                      </a:r>
                      <a:endParaRPr sz="1300" dirty="0">
                        <a:latin typeface="Calibri"/>
                        <a:cs typeface="Calibri"/>
                      </a:endParaRPr>
                    </a:p>
                  </a:txBody>
                  <a:tcPr marL="0" marR="0" marT="34925" marB="0"/>
                </a:tc>
                <a:tc>
                  <a:txBody>
                    <a:bodyPr/>
                    <a:lstStyle/>
                    <a:p>
                      <a:pPr marR="24130" algn="r">
                        <a:lnSpc>
                          <a:spcPct val="100000"/>
                        </a:lnSpc>
                        <a:spcBef>
                          <a:spcPts val="275"/>
                        </a:spcBef>
                      </a:pPr>
                      <a:r>
                        <a:rPr sz="1300" spc="55" dirty="0">
                          <a:latin typeface="Calibri"/>
                          <a:cs typeface="Calibri"/>
                        </a:rPr>
                        <a:t>USN:</a:t>
                      </a:r>
                      <a:r>
                        <a:rPr lang="en-US" sz="1300" spc="55" dirty="0">
                          <a:latin typeface="Calibri"/>
                          <a:cs typeface="Calibri"/>
                        </a:rPr>
                        <a:t>01FE21BEC013</a:t>
                      </a:r>
                      <a:endParaRPr sz="1300" dirty="0">
                        <a:latin typeface="Calibri"/>
                        <a:cs typeface="Calibri"/>
                      </a:endParaRPr>
                    </a:p>
                  </a:txBody>
                  <a:tcPr marL="0" marR="0" marT="34925" marB="0"/>
                </a:tc>
                <a:extLst>
                  <a:ext uri="{0D108BD9-81ED-4DB2-BD59-A6C34878D82A}">
                    <a16:rowId xmlns:a16="http://schemas.microsoft.com/office/drawing/2014/main" val="10003"/>
                  </a:ext>
                </a:extLst>
              </a:tr>
              <a:tr h="259346">
                <a:tc>
                  <a:txBody>
                    <a:bodyPr/>
                    <a:lstStyle/>
                    <a:p>
                      <a:pPr marR="25400" algn="r">
                        <a:lnSpc>
                          <a:spcPts val="1525"/>
                        </a:lnSpc>
                        <a:spcBef>
                          <a:spcPts val="275"/>
                        </a:spcBef>
                      </a:pPr>
                      <a:r>
                        <a:rPr sz="1300" spc="-25" dirty="0">
                          <a:latin typeface="Calibri"/>
                          <a:cs typeface="Calibri"/>
                        </a:rPr>
                        <a:t>4.</a:t>
                      </a:r>
                      <a:endParaRPr sz="1300">
                        <a:latin typeface="Calibri"/>
                        <a:cs typeface="Calibri"/>
                      </a:endParaRPr>
                    </a:p>
                  </a:txBody>
                  <a:tcPr marL="0" marR="0" marT="34925" marB="0"/>
                </a:tc>
                <a:tc>
                  <a:txBody>
                    <a:bodyPr/>
                    <a:lstStyle/>
                    <a:p>
                      <a:pPr marL="33020">
                        <a:lnSpc>
                          <a:spcPts val="1525"/>
                        </a:lnSpc>
                        <a:spcBef>
                          <a:spcPts val="275"/>
                        </a:spcBef>
                      </a:pPr>
                      <a:r>
                        <a:rPr lang="en-US" sz="1300" b="1" spc="105" dirty="0">
                          <a:latin typeface="Calibri"/>
                          <a:cs typeface="Calibri"/>
                        </a:rPr>
                        <a:t>Sanjana</a:t>
                      </a:r>
                      <a:endParaRPr sz="1300" dirty="0">
                        <a:latin typeface="Calibri"/>
                        <a:cs typeface="Calibri"/>
                      </a:endParaRPr>
                    </a:p>
                  </a:txBody>
                  <a:tcPr marL="0" marR="0" marT="34925" marB="0"/>
                </a:tc>
                <a:tc>
                  <a:txBody>
                    <a:bodyPr/>
                    <a:lstStyle/>
                    <a:p>
                      <a:pPr marR="24130" algn="r">
                        <a:lnSpc>
                          <a:spcPts val="1525"/>
                        </a:lnSpc>
                        <a:spcBef>
                          <a:spcPts val="275"/>
                        </a:spcBef>
                      </a:pPr>
                      <a:r>
                        <a:rPr sz="1300" spc="55" dirty="0">
                          <a:latin typeface="Calibri"/>
                          <a:cs typeface="Calibri"/>
                        </a:rPr>
                        <a:t>USN:</a:t>
                      </a:r>
                      <a:r>
                        <a:rPr lang="en-US" sz="1300" spc="55" dirty="0">
                          <a:latin typeface="Calibri"/>
                          <a:cs typeface="Calibri"/>
                        </a:rPr>
                        <a:t>01FE21BEC261</a:t>
                      </a:r>
                      <a:endParaRPr sz="1300" dirty="0">
                        <a:latin typeface="Calibri"/>
                        <a:cs typeface="Calibri"/>
                      </a:endParaRPr>
                    </a:p>
                  </a:txBody>
                  <a:tcPr marL="0" marR="0" marT="34925" marB="0"/>
                </a:tc>
                <a:extLst>
                  <a:ext uri="{0D108BD9-81ED-4DB2-BD59-A6C34878D82A}">
                    <a16:rowId xmlns:a16="http://schemas.microsoft.com/office/drawing/2014/main" val="10004"/>
                  </a:ext>
                </a:extLst>
              </a:tr>
            </a:tbl>
          </a:graphicData>
        </a:graphic>
      </p:graphicFrame>
      <p:sp>
        <p:nvSpPr>
          <p:cNvPr id="5" name="object 5"/>
          <p:cNvSpPr txBox="1"/>
          <p:nvPr/>
        </p:nvSpPr>
        <p:spPr>
          <a:xfrm>
            <a:off x="1188041" y="8016875"/>
            <a:ext cx="5428659" cy="1061829"/>
          </a:xfrm>
          <a:prstGeom prst="rect">
            <a:avLst/>
          </a:prstGeom>
        </p:spPr>
        <p:txBody>
          <a:bodyPr vert="horz" wrap="square" lIns="0" tIns="12700" rIns="0" bIns="0" rtlCol="0">
            <a:spAutoFit/>
          </a:bodyPr>
          <a:lstStyle/>
          <a:p>
            <a:pPr marL="12700">
              <a:lnSpc>
                <a:spcPct val="100000"/>
              </a:lnSpc>
              <a:spcBef>
                <a:spcPts val="100"/>
              </a:spcBef>
            </a:pPr>
            <a:r>
              <a:rPr sz="1550" b="1" spc="100" dirty="0">
                <a:latin typeface="Calibri"/>
                <a:cs typeface="Calibri"/>
              </a:rPr>
              <a:t>Semester:</a:t>
            </a:r>
            <a:r>
              <a:rPr sz="1550" b="1" spc="440" dirty="0">
                <a:latin typeface="Calibri"/>
                <a:cs typeface="Calibri"/>
              </a:rPr>
              <a:t> </a:t>
            </a:r>
            <a:r>
              <a:rPr lang="en-IN" sz="1600" b="0" i="0" dirty="0">
                <a:solidFill>
                  <a:srgbClr val="202124"/>
                </a:solidFill>
                <a:effectLst/>
                <a:highlight>
                  <a:srgbClr val="FFFFFF"/>
                </a:highlight>
                <a:latin typeface="Google Sans"/>
              </a:rPr>
              <a:t>VI</a:t>
            </a:r>
            <a:r>
              <a:rPr sz="1550" b="1" spc="240" dirty="0">
                <a:latin typeface="Calibri"/>
                <a:cs typeface="Calibri"/>
              </a:rPr>
              <a:t>,</a:t>
            </a:r>
            <a:r>
              <a:rPr sz="1550" b="1" spc="245" dirty="0">
                <a:latin typeface="Calibri"/>
                <a:cs typeface="Calibri"/>
              </a:rPr>
              <a:t> </a:t>
            </a:r>
            <a:r>
              <a:rPr sz="1550" b="1" spc="75" dirty="0">
                <a:latin typeface="Calibri"/>
                <a:cs typeface="Calibri"/>
              </a:rPr>
              <a:t>2023-</a:t>
            </a:r>
            <a:r>
              <a:rPr sz="1550" b="1" spc="65" dirty="0">
                <a:latin typeface="Calibri"/>
                <a:cs typeface="Calibri"/>
              </a:rPr>
              <a:t>2024</a:t>
            </a:r>
            <a:endParaRPr sz="1550" dirty="0">
              <a:latin typeface="Calibri"/>
              <a:cs typeface="Calibri"/>
            </a:endParaRPr>
          </a:p>
          <a:p>
            <a:pPr marR="5715" algn="r">
              <a:lnSpc>
                <a:spcPct val="100000"/>
              </a:lnSpc>
              <a:spcBef>
                <a:spcPts val="1280"/>
              </a:spcBef>
            </a:pPr>
            <a:r>
              <a:rPr sz="1550" dirty="0">
                <a:latin typeface="Calibri"/>
                <a:cs typeface="Calibri"/>
              </a:rPr>
              <a:t>Under</a:t>
            </a:r>
            <a:r>
              <a:rPr sz="1550" spc="-15" dirty="0">
                <a:latin typeface="Calibri"/>
                <a:cs typeface="Calibri"/>
              </a:rPr>
              <a:t> </a:t>
            </a:r>
            <a:r>
              <a:rPr sz="1550" dirty="0">
                <a:latin typeface="Calibri"/>
                <a:cs typeface="Calibri"/>
              </a:rPr>
              <a:t>the</a:t>
            </a:r>
            <a:r>
              <a:rPr sz="1550" spc="-15" dirty="0">
                <a:latin typeface="Calibri"/>
                <a:cs typeface="Calibri"/>
              </a:rPr>
              <a:t> </a:t>
            </a:r>
            <a:r>
              <a:rPr sz="1550" dirty="0">
                <a:latin typeface="Calibri"/>
                <a:cs typeface="Calibri"/>
              </a:rPr>
              <a:t>Guidance</a:t>
            </a:r>
            <a:r>
              <a:rPr sz="1550" spc="-10" dirty="0">
                <a:latin typeface="Calibri"/>
                <a:cs typeface="Calibri"/>
              </a:rPr>
              <a:t> </a:t>
            </a:r>
            <a:r>
              <a:rPr sz="1550" spc="-25" dirty="0">
                <a:latin typeface="Calibri"/>
                <a:cs typeface="Calibri"/>
              </a:rPr>
              <a:t>of</a:t>
            </a:r>
            <a:endParaRPr lang="en-US" sz="1550" dirty="0">
              <a:latin typeface="Calibri"/>
              <a:cs typeface="Calibri"/>
            </a:endParaRPr>
          </a:p>
          <a:p>
            <a:pPr marR="5715" algn="r">
              <a:lnSpc>
                <a:spcPct val="100000"/>
              </a:lnSpc>
              <a:spcBef>
                <a:spcPts val="1280"/>
              </a:spcBef>
            </a:pPr>
            <a:r>
              <a:rPr lang="en-US" sz="1550" b="1" spc="165" dirty="0" err="1">
                <a:latin typeface="Calibri"/>
                <a:cs typeface="Calibri"/>
              </a:rPr>
              <a:t>Rajeshwari.K</a:t>
            </a:r>
            <a:endParaRPr sz="155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27903" y="1342559"/>
            <a:ext cx="1934210" cy="720725"/>
          </a:xfrm>
          <a:prstGeom prst="rect">
            <a:avLst/>
          </a:prstGeom>
        </p:spPr>
        <p:txBody>
          <a:bodyPr vert="horz" wrap="square" lIns="0" tIns="15875" rIns="0" bIns="0" rtlCol="0">
            <a:spAutoFit/>
          </a:bodyPr>
          <a:lstStyle/>
          <a:p>
            <a:pPr marL="330200">
              <a:lnSpc>
                <a:spcPct val="100000"/>
              </a:lnSpc>
              <a:spcBef>
                <a:spcPts val="125"/>
              </a:spcBef>
            </a:pPr>
            <a:r>
              <a:rPr sz="1050" b="1" spc="204" dirty="0">
                <a:solidFill>
                  <a:srgbClr val="BF7F3F"/>
                </a:solidFill>
                <a:latin typeface="Calibri"/>
                <a:cs typeface="Calibri"/>
              </a:rPr>
              <a:t>K.L.E</a:t>
            </a:r>
            <a:r>
              <a:rPr sz="1050" b="1" spc="175" dirty="0">
                <a:solidFill>
                  <a:srgbClr val="BF7F3F"/>
                </a:solidFill>
                <a:latin typeface="Calibri"/>
                <a:cs typeface="Calibri"/>
              </a:rPr>
              <a:t> </a:t>
            </a:r>
            <a:r>
              <a:rPr sz="1050" b="1" spc="210" dirty="0">
                <a:solidFill>
                  <a:srgbClr val="BF7F3F"/>
                </a:solidFill>
                <a:latin typeface="Calibri"/>
                <a:cs typeface="Calibri"/>
              </a:rPr>
              <a:t>SOCIETY’S</a:t>
            </a:r>
            <a:endParaRPr sz="1050">
              <a:latin typeface="Calibri"/>
              <a:cs typeface="Calibri"/>
            </a:endParaRPr>
          </a:p>
          <a:p>
            <a:pPr algn="ctr">
              <a:lnSpc>
                <a:spcPct val="100000"/>
              </a:lnSpc>
              <a:spcBef>
                <a:spcPts val="60"/>
              </a:spcBef>
            </a:pPr>
            <a:r>
              <a:rPr sz="950" b="1" spc="305" dirty="0">
                <a:solidFill>
                  <a:srgbClr val="BF7F3F"/>
                </a:solidFill>
                <a:latin typeface="Calibri"/>
                <a:cs typeface="Calibri"/>
              </a:rPr>
              <a:t>KLE</a:t>
            </a:r>
            <a:r>
              <a:rPr sz="950" b="1" spc="180" dirty="0">
                <a:solidFill>
                  <a:srgbClr val="BF7F3F"/>
                </a:solidFill>
                <a:latin typeface="Calibri"/>
                <a:cs typeface="Calibri"/>
              </a:rPr>
              <a:t> </a:t>
            </a:r>
            <a:r>
              <a:rPr sz="950" b="1" spc="85" dirty="0">
                <a:solidFill>
                  <a:srgbClr val="BF7F3F"/>
                </a:solidFill>
                <a:latin typeface="Calibri"/>
                <a:cs typeface="Calibri"/>
              </a:rPr>
              <a:t>Technological</a:t>
            </a:r>
            <a:r>
              <a:rPr sz="950" b="1" spc="185" dirty="0">
                <a:solidFill>
                  <a:srgbClr val="BF7F3F"/>
                </a:solidFill>
                <a:latin typeface="Calibri"/>
                <a:cs typeface="Calibri"/>
              </a:rPr>
              <a:t> </a:t>
            </a:r>
            <a:r>
              <a:rPr sz="950" b="1" spc="80" dirty="0">
                <a:solidFill>
                  <a:srgbClr val="BF7F3F"/>
                </a:solidFill>
                <a:latin typeface="Calibri"/>
                <a:cs typeface="Calibri"/>
              </a:rPr>
              <a:t>University,</a:t>
            </a:r>
            <a:endParaRPr sz="950">
              <a:latin typeface="Calibri"/>
              <a:cs typeface="Calibri"/>
            </a:endParaRPr>
          </a:p>
          <a:p>
            <a:pPr algn="ctr">
              <a:lnSpc>
                <a:spcPct val="100000"/>
              </a:lnSpc>
              <a:spcBef>
                <a:spcPts val="60"/>
              </a:spcBef>
            </a:pPr>
            <a:r>
              <a:rPr sz="1050" b="1" spc="165" dirty="0">
                <a:solidFill>
                  <a:srgbClr val="BF7F3F"/>
                </a:solidFill>
                <a:latin typeface="Calibri"/>
                <a:cs typeface="Calibri"/>
              </a:rPr>
              <a:t>HUBBALLI-</a:t>
            </a:r>
            <a:r>
              <a:rPr sz="1050" b="1" spc="160" dirty="0">
                <a:solidFill>
                  <a:srgbClr val="BF7F3F"/>
                </a:solidFill>
                <a:latin typeface="Calibri"/>
                <a:cs typeface="Calibri"/>
              </a:rPr>
              <a:t>580031</a:t>
            </a:r>
            <a:endParaRPr sz="1050">
              <a:latin typeface="Calibri"/>
              <a:cs typeface="Calibri"/>
            </a:endParaRPr>
          </a:p>
          <a:p>
            <a:pPr algn="ctr">
              <a:lnSpc>
                <a:spcPct val="100000"/>
              </a:lnSpc>
              <a:spcBef>
                <a:spcPts val="105"/>
              </a:spcBef>
            </a:pPr>
            <a:r>
              <a:rPr sz="1300" b="1" spc="60" dirty="0">
                <a:solidFill>
                  <a:srgbClr val="BF7F3F"/>
                </a:solidFill>
                <a:latin typeface="Calibri"/>
                <a:cs typeface="Calibri"/>
              </a:rPr>
              <a:t>2022-</a:t>
            </a:r>
            <a:r>
              <a:rPr sz="1300" b="1" spc="45" dirty="0">
                <a:solidFill>
                  <a:srgbClr val="BF7F3F"/>
                </a:solidFill>
                <a:latin typeface="Calibri"/>
                <a:cs typeface="Calibri"/>
              </a:rPr>
              <a:t>2023</a:t>
            </a:r>
            <a:endParaRPr sz="1300">
              <a:latin typeface="Calibri"/>
              <a:cs typeface="Calibri"/>
            </a:endParaRPr>
          </a:p>
        </p:txBody>
      </p:sp>
      <p:pic>
        <p:nvPicPr>
          <p:cNvPr id="3" name="object 3"/>
          <p:cNvPicPr/>
          <p:nvPr/>
        </p:nvPicPr>
        <p:blipFill>
          <a:blip r:embed="rId2" cstate="print"/>
          <a:stretch>
            <a:fillRect/>
          </a:stretch>
        </p:blipFill>
        <p:spPr>
          <a:xfrm>
            <a:off x="3383015" y="2233820"/>
            <a:ext cx="823472" cy="791108"/>
          </a:xfrm>
          <a:prstGeom prst="rect">
            <a:avLst/>
          </a:prstGeom>
        </p:spPr>
      </p:pic>
      <p:sp>
        <p:nvSpPr>
          <p:cNvPr id="4" name="object 4"/>
          <p:cNvSpPr txBox="1"/>
          <p:nvPr/>
        </p:nvSpPr>
        <p:spPr>
          <a:xfrm>
            <a:off x="520700" y="3024929"/>
            <a:ext cx="6629400" cy="2486578"/>
          </a:xfrm>
          <a:prstGeom prst="rect">
            <a:avLst/>
          </a:prstGeom>
        </p:spPr>
        <p:txBody>
          <a:bodyPr vert="horz" wrap="square" lIns="0" tIns="44450" rIns="0" bIns="0" rtlCol="0">
            <a:spAutoFit/>
          </a:bodyPr>
          <a:lstStyle/>
          <a:p>
            <a:pPr marL="539750" marR="531495" algn="ctr">
              <a:lnSpc>
                <a:spcPts val="1300"/>
              </a:lnSpc>
              <a:spcBef>
                <a:spcPts val="350"/>
              </a:spcBef>
            </a:pPr>
            <a:r>
              <a:rPr sz="1300" spc="150" dirty="0">
                <a:latin typeface="Calibri"/>
                <a:cs typeface="Calibri"/>
              </a:rPr>
              <a:t>SCHOOL</a:t>
            </a:r>
            <a:r>
              <a:rPr sz="1300" spc="135" dirty="0">
                <a:latin typeface="Calibri"/>
                <a:cs typeface="Calibri"/>
              </a:rPr>
              <a:t> </a:t>
            </a:r>
            <a:r>
              <a:rPr sz="1300" spc="165" dirty="0">
                <a:latin typeface="Calibri"/>
                <a:cs typeface="Calibri"/>
              </a:rPr>
              <a:t>OF</a:t>
            </a:r>
            <a:r>
              <a:rPr sz="1300" spc="140" dirty="0">
                <a:latin typeface="Calibri"/>
                <a:cs typeface="Calibri"/>
              </a:rPr>
              <a:t> </a:t>
            </a:r>
            <a:r>
              <a:rPr sz="1300" spc="180" dirty="0">
                <a:latin typeface="Calibri"/>
                <a:cs typeface="Calibri"/>
              </a:rPr>
              <a:t>ELECTRONICS</a:t>
            </a:r>
            <a:r>
              <a:rPr sz="1300" spc="140" dirty="0">
                <a:latin typeface="Calibri"/>
                <a:cs typeface="Calibri"/>
              </a:rPr>
              <a:t> </a:t>
            </a:r>
            <a:r>
              <a:rPr sz="1300" spc="150" dirty="0">
                <a:latin typeface="Calibri"/>
                <a:cs typeface="Calibri"/>
              </a:rPr>
              <a:t>AND</a:t>
            </a:r>
            <a:r>
              <a:rPr sz="1300" spc="140" dirty="0">
                <a:latin typeface="Calibri"/>
                <a:cs typeface="Calibri"/>
              </a:rPr>
              <a:t> </a:t>
            </a:r>
            <a:r>
              <a:rPr sz="1300" spc="114" dirty="0">
                <a:latin typeface="Calibri"/>
                <a:cs typeface="Calibri"/>
              </a:rPr>
              <a:t>COMMUNICATION </a:t>
            </a:r>
            <a:r>
              <a:rPr sz="1300" spc="150" dirty="0">
                <a:latin typeface="Calibri"/>
                <a:cs typeface="Calibri"/>
              </a:rPr>
              <a:t>ENGINEERING</a:t>
            </a:r>
            <a:endParaRPr sz="1300" dirty="0">
              <a:latin typeface="Calibri"/>
              <a:cs typeface="Calibri"/>
            </a:endParaRPr>
          </a:p>
          <a:p>
            <a:pPr algn="ctr">
              <a:lnSpc>
                <a:spcPct val="100000"/>
              </a:lnSpc>
              <a:spcBef>
                <a:spcPts val="795"/>
              </a:spcBef>
            </a:pPr>
            <a:r>
              <a:rPr sz="1550" b="1" spc="340" dirty="0">
                <a:solidFill>
                  <a:srgbClr val="7F007F"/>
                </a:solidFill>
                <a:latin typeface="Calibri"/>
                <a:cs typeface="Calibri"/>
              </a:rPr>
              <a:t>CERTIFICATE</a:t>
            </a:r>
            <a:endParaRPr sz="1550" dirty="0">
              <a:latin typeface="Calibri"/>
              <a:cs typeface="Calibri"/>
            </a:endParaRPr>
          </a:p>
          <a:p>
            <a:pPr>
              <a:lnSpc>
                <a:spcPct val="100000"/>
              </a:lnSpc>
              <a:spcBef>
                <a:spcPts val="204"/>
              </a:spcBef>
            </a:pPr>
            <a:r>
              <a:rPr lang="en-US" sz="1550" dirty="0">
                <a:latin typeface="Calibri"/>
                <a:cs typeface="Calibri"/>
              </a:rPr>
              <a:t>This is to certify that project entitled "Real-Time Traffic Signal and Arrow Recognition for Autonomous Vehicles" is a </a:t>
            </a:r>
            <a:r>
              <a:rPr lang="en-US" sz="1550" dirty="0" err="1">
                <a:latin typeface="Calibri"/>
                <a:cs typeface="Calibri"/>
              </a:rPr>
              <a:t>bonafide</a:t>
            </a:r>
            <a:r>
              <a:rPr lang="en-US" sz="1550" dirty="0">
                <a:latin typeface="Calibri"/>
                <a:cs typeface="Calibri"/>
              </a:rPr>
              <a:t>  work carried out by the student team  of "</a:t>
            </a:r>
            <a:r>
              <a:rPr lang="en-US" sz="1550" b="1" dirty="0" err="1">
                <a:latin typeface="Calibri"/>
                <a:cs typeface="Calibri"/>
              </a:rPr>
              <a:t>Chandan.Raikar</a:t>
            </a:r>
            <a:r>
              <a:rPr lang="en-US" sz="1550" b="1" dirty="0">
                <a:latin typeface="Calibri"/>
                <a:cs typeface="Calibri"/>
              </a:rPr>
              <a:t>(01FE21BEC038),  </a:t>
            </a:r>
            <a:r>
              <a:rPr lang="en-US" sz="1550" b="1" dirty="0" err="1">
                <a:latin typeface="Calibri"/>
                <a:cs typeface="Calibri"/>
              </a:rPr>
              <a:t>Sanjana.A</a:t>
            </a:r>
            <a:r>
              <a:rPr lang="en-US" sz="1550" b="1" dirty="0">
                <a:latin typeface="Calibri"/>
                <a:cs typeface="Calibri"/>
              </a:rPr>
              <a:t> (01FE21BEC363), </a:t>
            </a:r>
            <a:r>
              <a:rPr lang="en-US" sz="1550" b="1" dirty="0" err="1">
                <a:latin typeface="Calibri"/>
                <a:cs typeface="Calibri"/>
              </a:rPr>
              <a:t>Divya.R.Salmani</a:t>
            </a:r>
            <a:r>
              <a:rPr lang="en-US" sz="1550" b="1" dirty="0">
                <a:latin typeface="Calibri"/>
                <a:cs typeface="Calibri"/>
              </a:rPr>
              <a:t>(01FE21BEC013),Sanjana(01FE21BEC261</a:t>
            </a:r>
            <a:r>
              <a:rPr lang="en-US" sz="1550" dirty="0">
                <a:latin typeface="Calibri"/>
                <a:cs typeface="Calibri"/>
              </a:rPr>
              <a:t>)”.The project report has been approved as it satisfies the requirements with respect to the mini project work prescribed by the university curriculum for BE (</a:t>
            </a:r>
            <a:r>
              <a:rPr lang="en-IN" sz="1600" b="0" i="0" dirty="0">
                <a:solidFill>
                  <a:srgbClr val="202124"/>
                </a:solidFill>
                <a:effectLst/>
                <a:highlight>
                  <a:srgbClr val="FFFFFF"/>
                </a:highlight>
                <a:latin typeface="Google Sans"/>
              </a:rPr>
              <a:t>VI</a:t>
            </a:r>
            <a:r>
              <a:rPr lang="en-US" sz="1550" dirty="0">
                <a:latin typeface="Calibri"/>
                <a:cs typeface="Calibri"/>
              </a:rPr>
              <a:t> Semester) in School of Electronics and Communication Engineering of KLE Technological University for the academic year 2023- 2024.</a:t>
            </a:r>
            <a:endParaRPr sz="1550" dirty="0">
              <a:latin typeface="Calibri"/>
              <a:cs typeface="Calibri"/>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2</a:t>
            </a:fld>
            <a:endParaRPr spc="-25" dirty="0"/>
          </a:p>
        </p:txBody>
      </p:sp>
      <p:graphicFrame>
        <p:nvGraphicFramePr>
          <p:cNvPr id="5" name="object 5"/>
          <p:cNvGraphicFramePr>
            <a:graphicFrameLocks noGrp="1"/>
          </p:cNvGraphicFramePr>
          <p:nvPr>
            <p:extLst>
              <p:ext uri="{D42A27DB-BD31-4B8C-83A1-F6EECF244321}">
                <p14:modId xmlns:p14="http://schemas.microsoft.com/office/powerpoint/2010/main" val="1924293857"/>
              </p:ext>
            </p:extLst>
          </p:nvPr>
        </p:nvGraphicFramePr>
        <p:xfrm>
          <a:off x="749300" y="6114941"/>
          <a:ext cx="5791200" cy="961645"/>
        </p:xfrm>
        <a:graphic>
          <a:graphicData uri="http://schemas.openxmlformats.org/drawingml/2006/table">
            <a:tbl>
              <a:tblPr firstRow="1" bandRow="1">
                <a:tableStyleId>{2D5ABB26-0587-4C30-8999-92F81FD0307C}</a:tableStyleId>
              </a:tblPr>
              <a:tblGrid>
                <a:gridCol w="1445433">
                  <a:extLst>
                    <a:ext uri="{9D8B030D-6E8A-4147-A177-3AD203B41FA5}">
                      <a16:colId xmlns:a16="http://schemas.microsoft.com/office/drawing/2014/main" val="20000"/>
                    </a:ext>
                  </a:extLst>
                </a:gridCol>
                <a:gridCol w="2633093">
                  <a:extLst>
                    <a:ext uri="{9D8B030D-6E8A-4147-A177-3AD203B41FA5}">
                      <a16:colId xmlns:a16="http://schemas.microsoft.com/office/drawing/2014/main" val="20001"/>
                    </a:ext>
                  </a:extLst>
                </a:gridCol>
                <a:gridCol w="1712674">
                  <a:extLst>
                    <a:ext uri="{9D8B030D-6E8A-4147-A177-3AD203B41FA5}">
                      <a16:colId xmlns:a16="http://schemas.microsoft.com/office/drawing/2014/main" val="20002"/>
                    </a:ext>
                  </a:extLst>
                </a:gridCol>
              </a:tblGrid>
              <a:tr h="482582">
                <a:tc>
                  <a:txBody>
                    <a:bodyPr/>
                    <a:lstStyle/>
                    <a:p>
                      <a:pPr marR="411480" algn="ctr">
                        <a:lnSpc>
                          <a:spcPts val="925"/>
                        </a:lnSpc>
                      </a:pPr>
                      <a:endParaRPr lang="en-US" sz="1100" b="1" spc="135" dirty="0">
                        <a:latin typeface="Calibri"/>
                        <a:cs typeface="Calibri"/>
                      </a:endParaRPr>
                    </a:p>
                    <a:p>
                      <a:pPr marR="411480" algn="ctr">
                        <a:lnSpc>
                          <a:spcPts val="925"/>
                        </a:lnSpc>
                      </a:pPr>
                      <a:r>
                        <a:rPr lang="en-US" sz="1100" b="1" spc="135" dirty="0" err="1">
                          <a:latin typeface="Calibri"/>
                          <a:cs typeface="Calibri"/>
                        </a:rPr>
                        <a:t>Rajeshwari.K</a:t>
                      </a:r>
                      <a:endParaRPr sz="1100" dirty="0">
                        <a:latin typeface="Calibri"/>
                        <a:cs typeface="Calibri"/>
                      </a:endParaRPr>
                    </a:p>
                  </a:txBody>
                  <a:tcPr marL="0" marR="0" marT="0" marB="0"/>
                </a:tc>
                <a:tc>
                  <a:txBody>
                    <a:bodyPr/>
                    <a:lstStyle/>
                    <a:p>
                      <a:pPr marL="450850">
                        <a:lnSpc>
                          <a:spcPts val="925"/>
                        </a:lnSpc>
                      </a:pPr>
                      <a:endParaRPr lang="en-US" sz="1100" b="1" spc="95" dirty="0">
                        <a:latin typeface="Calibri"/>
                        <a:cs typeface="Calibri"/>
                      </a:endParaRPr>
                    </a:p>
                    <a:p>
                      <a:pPr marL="450850">
                        <a:lnSpc>
                          <a:spcPts val="925"/>
                        </a:lnSpc>
                      </a:pPr>
                      <a:r>
                        <a:rPr sz="1100" b="1" spc="95" dirty="0" err="1">
                          <a:latin typeface="Calibri"/>
                          <a:cs typeface="Calibri"/>
                        </a:rPr>
                        <a:t>Suneeta</a:t>
                      </a:r>
                      <a:r>
                        <a:rPr lang="en-US" sz="1100" b="1" spc="150" dirty="0" err="1">
                          <a:latin typeface="Calibri"/>
                          <a:cs typeface="Calibri"/>
                        </a:rPr>
                        <a:t>.</a:t>
                      </a:r>
                      <a:r>
                        <a:rPr sz="1100" b="1" spc="285" dirty="0" err="1">
                          <a:latin typeface="Calibri"/>
                          <a:cs typeface="Calibri"/>
                        </a:rPr>
                        <a:t>V</a:t>
                      </a:r>
                      <a:r>
                        <a:rPr lang="en-US" sz="1100" b="1" spc="150" dirty="0" err="1">
                          <a:latin typeface="Calibri"/>
                          <a:cs typeface="Calibri"/>
                        </a:rPr>
                        <a:t>.</a:t>
                      </a:r>
                      <a:r>
                        <a:rPr sz="1100" b="1" spc="105" dirty="0" err="1">
                          <a:latin typeface="Calibri"/>
                          <a:cs typeface="Calibri"/>
                        </a:rPr>
                        <a:t>Budihal</a:t>
                      </a:r>
                      <a:endParaRPr sz="1100" dirty="0">
                        <a:latin typeface="Calibri"/>
                        <a:cs typeface="Calibri"/>
                      </a:endParaRPr>
                    </a:p>
                  </a:txBody>
                  <a:tcPr marL="0" marR="0" marT="0" marB="0"/>
                </a:tc>
                <a:tc>
                  <a:txBody>
                    <a:bodyPr/>
                    <a:lstStyle/>
                    <a:p>
                      <a:pPr marL="596900">
                        <a:lnSpc>
                          <a:spcPts val="925"/>
                        </a:lnSpc>
                      </a:pPr>
                      <a:endParaRPr lang="en-US" sz="1100" b="1" spc="160" dirty="0">
                        <a:latin typeface="Calibri"/>
                        <a:cs typeface="Calibri"/>
                      </a:endParaRPr>
                    </a:p>
                    <a:p>
                      <a:pPr marL="596900">
                        <a:lnSpc>
                          <a:spcPts val="925"/>
                        </a:lnSpc>
                      </a:pPr>
                      <a:r>
                        <a:rPr sz="1100" b="1" spc="160" dirty="0">
                          <a:latin typeface="Calibri"/>
                          <a:cs typeface="Calibri"/>
                        </a:rPr>
                        <a:t>B.</a:t>
                      </a:r>
                      <a:r>
                        <a:rPr sz="1100" b="1" spc="114" dirty="0">
                          <a:latin typeface="Calibri"/>
                          <a:cs typeface="Calibri"/>
                        </a:rPr>
                        <a:t>S.</a:t>
                      </a:r>
                      <a:r>
                        <a:rPr sz="1100" b="1" spc="150" dirty="0">
                          <a:latin typeface="Calibri"/>
                          <a:cs typeface="Calibri"/>
                        </a:rPr>
                        <a:t> </a:t>
                      </a:r>
                      <a:r>
                        <a:rPr sz="1100" b="1" spc="125" dirty="0">
                          <a:latin typeface="Calibri"/>
                          <a:cs typeface="Calibri"/>
                        </a:rPr>
                        <a:t>Anami</a:t>
                      </a:r>
                      <a:endParaRPr sz="1100" dirty="0">
                        <a:latin typeface="Calibri"/>
                        <a:cs typeface="Calibri"/>
                      </a:endParaRPr>
                    </a:p>
                  </a:txBody>
                  <a:tcPr marL="0" marR="0" marT="0" marB="0"/>
                </a:tc>
                <a:extLst>
                  <a:ext uri="{0D108BD9-81ED-4DB2-BD59-A6C34878D82A}">
                    <a16:rowId xmlns:a16="http://schemas.microsoft.com/office/drawing/2014/main" val="10000"/>
                  </a:ext>
                </a:extLst>
              </a:tr>
              <a:tr h="479063">
                <a:tc>
                  <a:txBody>
                    <a:bodyPr/>
                    <a:lstStyle/>
                    <a:p>
                      <a:pPr marR="475615" algn="ctr">
                        <a:lnSpc>
                          <a:spcPts val="1000"/>
                        </a:lnSpc>
                      </a:pPr>
                      <a:r>
                        <a:rPr sz="1100" b="1" spc="114" dirty="0">
                          <a:latin typeface="Calibri"/>
                          <a:cs typeface="Calibri"/>
                        </a:rPr>
                        <a:t>Guide</a:t>
                      </a:r>
                      <a:endParaRPr sz="1100" dirty="0">
                        <a:latin typeface="Calibri"/>
                        <a:cs typeface="Calibri"/>
                      </a:endParaRPr>
                    </a:p>
                  </a:txBody>
                  <a:tcPr marL="0" marR="0" marT="0" marB="0"/>
                </a:tc>
                <a:tc>
                  <a:txBody>
                    <a:bodyPr/>
                    <a:lstStyle/>
                    <a:p>
                      <a:pPr marL="534670">
                        <a:lnSpc>
                          <a:spcPts val="1000"/>
                        </a:lnSpc>
                      </a:pPr>
                      <a:r>
                        <a:rPr sz="1100" b="1" spc="120" dirty="0">
                          <a:latin typeface="Calibri"/>
                          <a:cs typeface="Calibri"/>
                        </a:rPr>
                        <a:t>Head</a:t>
                      </a:r>
                      <a:r>
                        <a:rPr sz="1100" b="1" spc="204" dirty="0">
                          <a:latin typeface="Calibri"/>
                          <a:cs typeface="Calibri"/>
                        </a:rPr>
                        <a:t> </a:t>
                      </a:r>
                      <a:r>
                        <a:rPr sz="1100" b="1" dirty="0">
                          <a:latin typeface="Calibri"/>
                          <a:cs typeface="Calibri"/>
                        </a:rPr>
                        <a:t>of</a:t>
                      </a:r>
                      <a:r>
                        <a:rPr sz="1100" b="1" spc="204" dirty="0">
                          <a:latin typeface="Calibri"/>
                          <a:cs typeface="Calibri"/>
                        </a:rPr>
                        <a:t> </a:t>
                      </a:r>
                      <a:r>
                        <a:rPr sz="1100" b="1" spc="80" dirty="0">
                          <a:latin typeface="Calibri"/>
                          <a:cs typeface="Calibri"/>
                        </a:rPr>
                        <a:t>School</a:t>
                      </a:r>
                      <a:endParaRPr sz="1100" dirty="0">
                        <a:latin typeface="Calibri"/>
                        <a:cs typeface="Calibri"/>
                      </a:endParaRPr>
                    </a:p>
                  </a:txBody>
                  <a:tcPr marL="0" marR="0" marT="0" marB="0"/>
                </a:tc>
                <a:tc>
                  <a:txBody>
                    <a:bodyPr/>
                    <a:lstStyle/>
                    <a:p>
                      <a:pPr marL="563880">
                        <a:lnSpc>
                          <a:spcPts val="1000"/>
                        </a:lnSpc>
                      </a:pPr>
                      <a:r>
                        <a:rPr sz="1100" b="1" spc="100" dirty="0">
                          <a:latin typeface="Calibri"/>
                          <a:cs typeface="Calibri"/>
                        </a:rPr>
                        <a:t>Registrar</a:t>
                      </a:r>
                      <a:endParaRPr sz="1100" dirty="0">
                        <a:latin typeface="Calibri"/>
                        <a:cs typeface="Calibri"/>
                      </a:endParaRPr>
                    </a:p>
                  </a:txBody>
                  <a:tcPr marL="0" marR="0" marT="0" marB="0"/>
                </a:tc>
                <a:extLst>
                  <a:ext uri="{0D108BD9-81ED-4DB2-BD59-A6C34878D82A}">
                    <a16:rowId xmlns:a16="http://schemas.microsoft.com/office/drawing/2014/main" val="10001"/>
                  </a:ext>
                </a:extLst>
              </a:tr>
            </a:tbl>
          </a:graphicData>
        </a:graphic>
      </p:graphicFrame>
      <p:sp>
        <p:nvSpPr>
          <p:cNvPr id="6" name="object 6"/>
          <p:cNvSpPr txBox="1"/>
          <p:nvPr/>
        </p:nvSpPr>
        <p:spPr>
          <a:xfrm>
            <a:off x="1188041" y="7182372"/>
            <a:ext cx="939165" cy="175260"/>
          </a:xfrm>
          <a:prstGeom prst="rect">
            <a:avLst/>
          </a:prstGeom>
        </p:spPr>
        <p:txBody>
          <a:bodyPr vert="horz" wrap="square" lIns="0" tIns="16510" rIns="0" bIns="0" rtlCol="0">
            <a:spAutoFit/>
          </a:bodyPr>
          <a:lstStyle/>
          <a:p>
            <a:pPr marL="12700">
              <a:lnSpc>
                <a:spcPct val="100000"/>
              </a:lnSpc>
              <a:spcBef>
                <a:spcPts val="130"/>
              </a:spcBef>
            </a:pPr>
            <a:r>
              <a:rPr sz="950" b="1" spc="120" dirty="0">
                <a:latin typeface="Calibri"/>
                <a:cs typeface="Calibri"/>
              </a:rPr>
              <a:t>External</a:t>
            </a:r>
            <a:r>
              <a:rPr sz="950" b="1" spc="170" dirty="0">
                <a:latin typeface="Calibri"/>
                <a:cs typeface="Calibri"/>
              </a:rPr>
              <a:t> </a:t>
            </a:r>
            <a:r>
              <a:rPr sz="950" b="1" spc="100" dirty="0">
                <a:latin typeface="Calibri"/>
                <a:cs typeface="Calibri"/>
              </a:rPr>
              <a:t>Viva:</a:t>
            </a:r>
            <a:endParaRPr sz="950">
              <a:latin typeface="Calibri"/>
              <a:cs typeface="Calibri"/>
            </a:endParaRPr>
          </a:p>
        </p:txBody>
      </p:sp>
      <p:sp>
        <p:nvSpPr>
          <p:cNvPr id="7" name="object 7"/>
          <p:cNvSpPr txBox="1"/>
          <p:nvPr/>
        </p:nvSpPr>
        <p:spPr>
          <a:xfrm>
            <a:off x="1188041" y="7485477"/>
            <a:ext cx="1264920" cy="175260"/>
          </a:xfrm>
          <a:prstGeom prst="rect">
            <a:avLst/>
          </a:prstGeom>
        </p:spPr>
        <p:txBody>
          <a:bodyPr vert="horz" wrap="square" lIns="0" tIns="16510" rIns="0" bIns="0" rtlCol="0">
            <a:spAutoFit/>
          </a:bodyPr>
          <a:lstStyle/>
          <a:p>
            <a:pPr marL="12700">
              <a:lnSpc>
                <a:spcPct val="100000"/>
              </a:lnSpc>
              <a:spcBef>
                <a:spcPts val="130"/>
              </a:spcBef>
            </a:pPr>
            <a:r>
              <a:rPr sz="950" b="1" spc="135" dirty="0">
                <a:latin typeface="Calibri"/>
                <a:cs typeface="Calibri"/>
              </a:rPr>
              <a:t>Name</a:t>
            </a:r>
            <a:r>
              <a:rPr sz="950" b="1" spc="195" dirty="0">
                <a:latin typeface="Calibri"/>
                <a:cs typeface="Calibri"/>
              </a:rPr>
              <a:t> </a:t>
            </a:r>
            <a:r>
              <a:rPr sz="950" b="1" dirty="0">
                <a:latin typeface="Calibri"/>
                <a:cs typeface="Calibri"/>
              </a:rPr>
              <a:t>of</a:t>
            </a:r>
            <a:r>
              <a:rPr sz="950" b="1" spc="200" dirty="0">
                <a:latin typeface="Calibri"/>
                <a:cs typeface="Calibri"/>
              </a:rPr>
              <a:t> </a:t>
            </a:r>
            <a:r>
              <a:rPr sz="950" b="1" spc="110" dirty="0">
                <a:latin typeface="Calibri"/>
                <a:cs typeface="Calibri"/>
              </a:rPr>
              <a:t>Examiners</a:t>
            </a:r>
            <a:endParaRPr sz="950">
              <a:latin typeface="Calibri"/>
              <a:cs typeface="Calibri"/>
            </a:endParaRPr>
          </a:p>
        </p:txBody>
      </p:sp>
      <p:sp>
        <p:nvSpPr>
          <p:cNvPr id="8" name="object 8"/>
          <p:cNvSpPr txBox="1"/>
          <p:nvPr/>
        </p:nvSpPr>
        <p:spPr>
          <a:xfrm>
            <a:off x="5104109" y="7485477"/>
            <a:ext cx="1272540" cy="175260"/>
          </a:xfrm>
          <a:prstGeom prst="rect">
            <a:avLst/>
          </a:prstGeom>
        </p:spPr>
        <p:txBody>
          <a:bodyPr vert="horz" wrap="square" lIns="0" tIns="16510" rIns="0" bIns="0" rtlCol="0">
            <a:spAutoFit/>
          </a:bodyPr>
          <a:lstStyle/>
          <a:p>
            <a:pPr marL="12700">
              <a:lnSpc>
                <a:spcPct val="100000"/>
              </a:lnSpc>
              <a:spcBef>
                <a:spcPts val="130"/>
              </a:spcBef>
            </a:pPr>
            <a:r>
              <a:rPr sz="950" b="1" spc="100" dirty="0">
                <a:latin typeface="Calibri"/>
                <a:cs typeface="Calibri"/>
              </a:rPr>
              <a:t>Signature</a:t>
            </a:r>
            <a:r>
              <a:rPr sz="950" b="1" spc="180" dirty="0">
                <a:latin typeface="Calibri"/>
                <a:cs typeface="Calibri"/>
              </a:rPr>
              <a:t> </a:t>
            </a:r>
            <a:r>
              <a:rPr sz="950" b="1" spc="95" dirty="0">
                <a:latin typeface="Calibri"/>
                <a:cs typeface="Calibri"/>
              </a:rPr>
              <a:t>with</a:t>
            </a:r>
            <a:r>
              <a:rPr sz="950" b="1" spc="185" dirty="0">
                <a:latin typeface="Calibri"/>
                <a:cs typeface="Calibri"/>
              </a:rPr>
              <a:t> </a:t>
            </a:r>
            <a:r>
              <a:rPr sz="950" b="1" spc="60" dirty="0">
                <a:latin typeface="Calibri"/>
                <a:cs typeface="Calibri"/>
              </a:rPr>
              <a:t>date</a:t>
            </a:r>
            <a:endParaRPr sz="950">
              <a:latin typeface="Calibri"/>
              <a:cs typeface="Calibri"/>
            </a:endParaRPr>
          </a:p>
        </p:txBody>
      </p:sp>
      <p:sp>
        <p:nvSpPr>
          <p:cNvPr id="9" name="object 9"/>
          <p:cNvSpPr txBox="1"/>
          <p:nvPr/>
        </p:nvSpPr>
        <p:spPr>
          <a:xfrm>
            <a:off x="1358769" y="7742992"/>
            <a:ext cx="122555" cy="433070"/>
          </a:xfrm>
          <a:prstGeom prst="rect">
            <a:avLst/>
          </a:prstGeom>
        </p:spPr>
        <p:txBody>
          <a:bodyPr vert="horz" wrap="square" lIns="0" tIns="16510" rIns="0" bIns="0" rtlCol="0">
            <a:spAutoFit/>
          </a:bodyPr>
          <a:lstStyle/>
          <a:p>
            <a:pPr marL="12700">
              <a:lnSpc>
                <a:spcPct val="100000"/>
              </a:lnSpc>
              <a:spcBef>
                <a:spcPts val="130"/>
              </a:spcBef>
            </a:pPr>
            <a:r>
              <a:rPr sz="950" spc="-25" dirty="0">
                <a:latin typeface="Calibri"/>
                <a:cs typeface="Calibri"/>
              </a:rPr>
              <a:t>1.</a:t>
            </a:r>
            <a:endParaRPr sz="950">
              <a:latin typeface="Calibri"/>
              <a:cs typeface="Calibri"/>
            </a:endParaRPr>
          </a:p>
          <a:p>
            <a:pPr marL="12700">
              <a:lnSpc>
                <a:spcPct val="100000"/>
              </a:lnSpc>
              <a:spcBef>
                <a:spcPts val="890"/>
              </a:spcBef>
            </a:pPr>
            <a:r>
              <a:rPr sz="950" spc="-25" dirty="0">
                <a:latin typeface="Calibri"/>
                <a:cs typeface="Calibri"/>
              </a:rPr>
              <a:t>2.</a:t>
            </a:r>
            <a:endParaRPr sz="95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0700" y="967396"/>
            <a:ext cx="6553200" cy="4797467"/>
          </a:xfrm>
          <a:prstGeom prst="rect">
            <a:avLst/>
          </a:prstGeom>
        </p:spPr>
        <p:txBody>
          <a:bodyPr vert="horz" wrap="square" lIns="0" tIns="12700" rIns="0" bIns="0" rtlCol="0">
            <a:spAutoFit/>
          </a:bodyPr>
          <a:lstStyle/>
          <a:p>
            <a:pPr algn="ctr">
              <a:lnSpc>
                <a:spcPct val="100000"/>
              </a:lnSpc>
              <a:spcBef>
                <a:spcPts val="100"/>
              </a:spcBef>
            </a:pPr>
            <a:r>
              <a:rPr sz="2400" b="1" spc="360" dirty="0">
                <a:latin typeface="Calibri"/>
                <a:cs typeface="Calibri"/>
              </a:rPr>
              <a:t>ACKNOWLEDGMENT</a:t>
            </a:r>
            <a:endParaRPr lang="en-US" sz="2400" b="1" spc="360" dirty="0">
              <a:latin typeface="Calibri"/>
              <a:cs typeface="Calibri"/>
            </a:endParaRPr>
          </a:p>
          <a:p>
            <a:pPr algn="ctr">
              <a:lnSpc>
                <a:spcPct val="100000"/>
              </a:lnSpc>
              <a:spcBef>
                <a:spcPts val="100"/>
              </a:spcBef>
            </a:pPr>
            <a:endParaRPr lang="en-IN" sz="1550" b="1" spc="360" dirty="0">
              <a:latin typeface="Calibri"/>
              <a:cs typeface="Calibri"/>
            </a:endParaRPr>
          </a:p>
          <a:p>
            <a:pPr>
              <a:lnSpc>
                <a:spcPct val="107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We extend our gratitude to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Dr.</a:t>
            </a:r>
            <a:r>
              <a:rPr lang="en-IN" kern="100" dirty="0">
                <a:effectLst/>
                <a:latin typeface="Calibri" panose="020F0502020204030204" pitchFamily="34" charset="0"/>
                <a:ea typeface="Calibri" panose="020F0502020204030204" pitchFamily="34" charset="0"/>
                <a:cs typeface="Times New Roman" panose="02020603050405020304" pitchFamily="18" charset="0"/>
              </a:rPr>
              <a:t> Ashok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Shettar</a:t>
            </a:r>
            <a:r>
              <a:rPr lang="en-IN" kern="100" dirty="0">
                <a:effectLst/>
                <a:latin typeface="Calibri" panose="020F0502020204030204" pitchFamily="34" charset="0"/>
                <a:ea typeface="Calibri" panose="020F0502020204030204" pitchFamily="34" charset="0"/>
                <a:cs typeface="Times New Roman" panose="02020603050405020304" pitchFamily="18" charset="0"/>
              </a:rPr>
              <a:t>, Vice-Chancellor of KLE Technological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University,Hubballi</a:t>
            </a:r>
            <a:r>
              <a:rPr lang="en-IN"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Dr.</a:t>
            </a:r>
            <a:r>
              <a:rPr lang="en-IN" kern="100" dirty="0">
                <a:effectLst/>
                <a:latin typeface="Calibri" panose="020F0502020204030204" pitchFamily="34" charset="0"/>
                <a:ea typeface="Calibri" panose="020F0502020204030204" pitchFamily="34" charset="0"/>
                <a:cs typeface="Times New Roman" panose="02020603050405020304" pitchFamily="18" charset="0"/>
              </a:rPr>
              <a:t> P. G. Tewari, Dean Academics of KLE Technological University, for providing us with the opportunity to conduct our research and for their unwavering support  throughout the CIM </a:t>
            </a:r>
            <a:r>
              <a:rPr lang="en-IN" kern="100" dirty="0">
                <a:latin typeface="Calibri" panose="020F0502020204030204" pitchFamily="34" charset="0"/>
                <a:ea typeface="Calibri" panose="020F0502020204030204" pitchFamily="34" charset="0"/>
                <a:cs typeface="Times New Roman" panose="02020603050405020304" pitchFamily="18" charset="0"/>
              </a:rPr>
              <a:t>Minor </a:t>
            </a:r>
            <a:r>
              <a:rPr lang="en-IN" kern="100" dirty="0">
                <a:effectLst/>
                <a:latin typeface="Calibri" panose="020F0502020204030204" pitchFamily="34" charset="0"/>
                <a:ea typeface="Calibri" panose="020F0502020204030204" pitchFamily="34" charset="0"/>
                <a:cs typeface="Times New Roman" panose="02020603050405020304" pitchFamily="18" charset="0"/>
              </a:rPr>
              <a:t>Project. Special thanks to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Dr.</a:t>
            </a:r>
            <a:r>
              <a:rPr lang="en-IN" kern="100" dirty="0">
                <a:effectLst/>
                <a:latin typeface="Calibri" panose="020F0502020204030204" pitchFamily="34" charset="0"/>
                <a:ea typeface="Calibri" panose="020F0502020204030204" pitchFamily="34" charset="0"/>
                <a:cs typeface="Times New Roman" panose="02020603050405020304" pitchFamily="18" charset="0"/>
              </a:rPr>
              <a:t>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Suneeta</a:t>
            </a:r>
            <a:r>
              <a:rPr lang="en-IN" kern="100" dirty="0">
                <a:effectLst/>
                <a:latin typeface="Calibri" panose="020F0502020204030204" pitchFamily="34" charset="0"/>
                <a:ea typeface="Calibri" panose="020F0502020204030204" pitchFamily="34" charset="0"/>
                <a:cs typeface="Times New Roman" panose="02020603050405020304" pitchFamily="18" charset="0"/>
              </a:rPr>
              <a:t> V.B., our head of school, for her leadership and support. We are also thankful to Prof. Rajeshwari K. for her invaluable help and guidance during our work. Additionally, we acknowledge the   contributions of all teaching and non-teaching staff for their assistance and encouragement.</a:t>
            </a:r>
          </a:p>
          <a:p>
            <a:pPr algn="ctr">
              <a:lnSpc>
                <a:spcPct val="100000"/>
              </a:lnSpc>
              <a:spcBef>
                <a:spcPts val="100"/>
              </a:spcBef>
            </a:pPr>
            <a:endParaRPr lang="en-IN" sz="1550" b="1" spc="360" dirty="0">
              <a:latin typeface="Calibri"/>
              <a:cs typeface="Calibri"/>
            </a:endParaRPr>
          </a:p>
          <a:p>
            <a:pPr algn="ctr">
              <a:lnSpc>
                <a:spcPct val="100000"/>
              </a:lnSpc>
              <a:spcBef>
                <a:spcPts val="100"/>
              </a:spcBef>
            </a:pPr>
            <a:endParaRPr lang="en-IN" sz="1550" b="1" spc="360" dirty="0">
              <a:latin typeface="Calibri"/>
              <a:cs typeface="Calibri"/>
            </a:endParaRPr>
          </a:p>
          <a:p>
            <a:pPr algn="ctr">
              <a:lnSpc>
                <a:spcPct val="100000"/>
              </a:lnSpc>
              <a:spcBef>
                <a:spcPts val="100"/>
              </a:spcBef>
            </a:pPr>
            <a:endParaRPr sz="1550" dirty="0">
              <a:latin typeface="Calibri"/>
              <a:cs typeface="Calibri"/>
            </a:endParaRPr>
          </a:p>
          <a:p>
            <a:pPr marR="5080" algn="r">
              <a:lnSpc>
                <a:spcPct val="100000"/>
              </a:lnSpc>
              <a:spcBef>
                <a:spcPts val="980"/>
              </a:spcBef>
            </a:pPr>
            <a:r>
              <a:rPr sz="1400" dirty="0">
                <a:latin typeface="Calibri"/>
                <a:cs typeface="Calibri"/>
              </a:rPr>
              <a:t>-</a:t>
            </a:r>
            <a:r>
              <a:rPr sz="1400" spc="75" dirty="0">
                <a:latin typeface="Calibri"/>
                <a:cs typeface="Calibri"/>
              </a:rPr>
              <a:t>The</a:t>
            </a:r>
            <a:r>
              <a:rPr sz="1400" spc="265" dirty="0">
                <a:latin typeface="Calibri"/>
                <a:cs typeface="Calibri"/>
              </a:rPr>
              <a:t> </a:t>
            </a:r>
            <a:r>
              <a:rPr sz="1400" dirty="0">
                <a:latin typeface="Calibri"/>
                <a:cs typeface="Calibri"/>
              </a:rPr>
              <a:t>project</a:t>
            </a:r>
            <a:r>
              <a:rPr sz="1400" spc="270" dirty="0">
                <a:latin typeface="Calibri"/>
                <a:cs typeface="Calibri"/>
              </a:rPr>
              <a:t> </a:t>
            </a:r>
            <a:r>
              <a:rPr sz="1400" spc="-20" dirty="0">
                <a:latin typeface="Calibri"/>
                <a:cs typeface="Calibri"/>
              </a:rPr>
              <a:t>team</a:t>
            </a:r>
            <a:endParaRPr sz="1400" dirty="0">
              <a:latin typeface="Calibri"/>
              <a:cs typeface="Calibri"/>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3</a:t>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4500" y="1282395"/>
            <a:ext cx="6629400" cy="3606115"/>
          </a:xfrm>
          <a:prstGeom prst="rect">
            <a:avLst/>
          </a:prstGeom>
        </p:spPr>
        <p:txBody>
          <a:bodyPr vert="horz" wrap="square" lIns="0" tIns="12700" rIns="0" bIns="0" rtlCol="0">
            <a:spAutoFit/>
          </a:bodyPr>
          <a:lstStyle/>
          <a:p>
            <a:pPr marL="12700">
              <a:lnSpc>
                <a:spcPct val="100000"/>
              </a:lnSpc>
              <a:spcBef>
                <a:spcPts val="100"/>
              </a:spcBef>
            </a:pPr>
            <a:r>
              <a:rPr lang="en-US" sz="1550" b="1" spc="365" dirty="0">
                <a:latin typeface="Calibri"/>
                <a:cs typeface="Calibri"/>
              </a:rPr>
              <a:t>                             </a:t>
            </a:r>
            <a:r>
              <a:rPr sz="2000" b="1" spc="365" dirty="0">
                <a:latin typeface="Calibri"/>
                <a:cs typeface="Calibri"/>
              </a:rPr>
              <a:t>ABSTRACT</a:t>
            </a:r>
            <a:endParaRPr lang="en-IN" sz="1550" b="1" spc="365" dirty="0">
              <a:latin typeface="Calibri"/>
              <a:cs typeface="Calibri"/>
            </a:endParaRPr>
          </a:p>
          <a:p>
            <a:pPr marL="12700">
              <a:lnSpc>
                <a:spcPct val="100000"/>
              </a:lnSpc>
              <a:spcBef>
                <a:spcPts val="100"/>
              </a:spcBef>
            </a:pPr>
            <a:endParaRPr lang="en-IN" sz="1550" b="1" spc="365" dirty="0">
              <a:latin typeface="Calibri"/>
              <a:cs typeface="Calibri"/>
            </a:endParaRPr>
          </a:p>
          <a:p>
            <a:pPr marL="12700">
              <a:spcBef>
                <a:spcPts val="100"/>
              </a:spcBef>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This study explores real-time traffic signal and  arrow recognition, crucial for safe and efficient autonomous vehicles in smart transportation systems. We analyze the evolution of detection techniques, from traditional computer vision to deep learning. Strengths, limitations, and future directions of these methods are investigated. Utilizing datasets like ROBOFLOW UNIVERSE fuels our innovative approach. Accurate and real-time recognition is essential for the progress of self-driving cars and the future of intelligent transportation.</a:t>
            </a:r>
          </a:p>
          <a:p>
            <a:pPr marL="12700">
              <a:lnSpc>
                <a:spcPct val="100000"/>
              </a:lnSpc>
              <a:spcBef>
                <a:spcPts val="100"/>
              </a:spcBef>
            </a:pPr>
            <a:endParaRPr lang="en-US" sz="1550" dirty="0">
              <a:latin typeface="Calibri"/>
              <a:cs typeface="Calibri"/>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7555" y="701675"/>
            <a:ext cx="1271270" cy="365760"/>
          </a:xfrm>
          <a:prstGeom prst="rect">
            <a:avLst/>
          </a:prstGeom>
        </p:spPr>
        <p:txBody>
          <a:bodyPr vert="horz" wrap="square" lIns="0" tIns="16510" rIns="0" bIns="0" rtlCol="0">
            <a:spAutoFit/>
          </a:bodyPr>
          <a:lstStyle/>
          <a:p>
            <a:pPr marL="12700">
              <a:lnSpc>
                <a:spcPct val="100000"/>
              </a:lnSpc>
              <a:spcBef>
                <a:spcPts val="130"/>
              </a:spcBef>
            </a:pPr>
            <a:r>
              <a:rPr spc="180" dirty="0"/>
              <a:t>Contents</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5</a:t>
            </a:fld>
            <a:endParaRPr spc="-25" dirty="0"/>
          </a:p>
        </p:txBody>
      </p:sp>
      <p:sp>
        <p:nvSpPr>
          <p:cNvPr id="3" name="object 3"/>
          <p:cNvSpPr txBox="1"/>
          <p:nvPr/>
        </p:nvSpPr>
        <p:spPr>
          <a:xfrm>
            <a:off x="719455" y="1070610"/>
            <a:ext cx="6155690" cy="8579721"/>
          </a:xfrm>
          <a:prstGeom prst="rect">
            <a:avLst/>
          </a:prstGeom>
        </p:spPr>
        <p:txBody>
          <a:bodyPr vert="horz" wrap="square" lIns="0" tIns="16510" rIns="0" bIns="0" rtlCol="0">
            <a:spAutoFit/>
          </a:bodyPr>
          <a:lstStyle/>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1.Introduction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1.1 Motivation . . . . . . . . . . . . . . . . . . . . . . . . . . . . . . . . . . . . . . . 6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1.2 Objectives . . . . . . . . . . . . . . . . . . . . . . . . . . . . . . . . . . . . . . .  6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1.3 Literature survey . . . . . . . . . . . . . . . . . . . . . . . . . . . . . . . . . . 7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1.4 Problem statement . . . . . . . . . . . . . . . . . . . . . . . . . . . . . . . . </a:t>
            </a:r>
            <a:r>
              <a:rPr lang="en-IN" sz="1600" kern="100" dirty="0">
                <a:latin typeface="Calibri" panose="020F0502020204030204" pitchFamily="34" charset="0"/>
                <a:ea typeface="Calibri" panose="020F0502020204030204" pitchFamily="34" charset="0"/>
                <a:cs typeface="Times New Roman" panose="02020603050405020304" pitchFamily="18" charset="0"/>
              </a:rPr>
              <a:t>8</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1.5 Organization of the report . . . . . . . . . . . . . . . . . . . . . . . . . . </a:t>
            </a:r>
            <a:r>
              <a:rPr lang="en-IN" sz="1600" kern="100" dirty="0">
                <a:latin typeface="Calibri" panose="020F0502020204030204" pitchFamily="34" charset="0"/>
                <a:ea typeface="Calibri" panose="020F0502020204030204" pitchFamily="34" charset="0"/>
                <a:cs typeface="Times New Roman" panose="02020603050405020304" pitchFamily="18" charset="0"/>
              </a:rPr>
              <a:t>8</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2.System design                                                                                   10</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2.1 Functional Block Diagram. . . . . . . . . . . . . . . . . . . . .  . . . . . 10</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2.1.1 Functional Block Diagram Explanation . . . . . .. . . . .  . . . 10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2.2 YOLO-NAS Architectural Diagram . . . . .  . . . . . . . . .. . . . . . 11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2.2.1 YOLO-NAS Architectural Diagram Explanation  .  . . . . . . 12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3.Implementation details                                                                    13</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3.1 Environment Setup. . . . . . . . . . . . . . . . . . . . . .  . . . . . . . . . . 13</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3.2 Setting Up YoloV8,Dataset,Training YoloV8s Model And Getting the                                    Results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3.2.1 SettingupYoloV8,TrainingYoloV8smodel . . . . . . .. . . . . . 14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3.2.2 Visualizing Results In The Environment . . . . . . . . . . . . . 15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4.Results                                                                                                16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4.1 Visualizing Results . . . . . . . . . . . . . . . . . . . . . . . .  . . . . . . . .16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4.1.1 Result Analysis . . . . . . . . . . . . . . . . . . . . . . . . . . . . . . . . . 17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5.Conclusion and future scope                                                        18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5.1 Conclusion . . . . . . . . . . . . . . . . . . . . . . . . . . . . . . . . . . . . . . 18</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5.2 Future Scope . . . . . . . . . . . . . . . . . . . . . . . . . . . . . . . . . . . . 19</a:t>
            </a:r>
          </a:p>
          <a:p>
            <a:r>
              <a:rPr lang="en-IN" sz="1600" dirty="0">
                <a:effectLst/>
                <a:latin typeface="Calibri" panose="020F0502020204030204" pitchFamily="34" charset="0"/>
                <a:ea typeface="Calibri" panose="020F0502020204030204" pitchFamily="34" charset="0"/>
                <a:cs typeface="Times New Roman" panose="02020603050405020304" pitchFamily="18" charset="0"/>
              </a:rPr>
              <a:t> References</a:t>
            </a:r>
            <a:endParaRPr sz="1600" dirty="0">
              <a:latin typeface="Calibri"/>
              <a:cs typeface="Calibri"/>
            </a:endParaRPr>
          </a:p>
        </p:txBody>
      </p:sp>
      <p:sp>
        <p:nvSpPr>
          <p:cNvPr id="13" name="object 13"/>
          <p:cNvSpPr txBox="1"/>
          <p:nvPr/>
        </p:nvSpPr>
        <p:spPr>
          <a:xfrm>
            <a:off x="6232605" y="7779467"/>
            <a:ext cx="168910" cy="175260"/>
          </a:xfrm>
          <a:prstGeom prst="rect">
            <a:avLst/>
          </a:prstGeom>
        </p:spPr>
        <p:txBody>
          <a:bodyPr vert="horz" wrap="square" lIns="0" tIns="16510" rIns="0" bIns="0" rtlCol="0">
            <a:spAutoFit/>
          </a:bodyPr>
          <a:lstStyle/>
          <a:p>
            <a:pPr marL="12700">
              <a:lnSpc>
                <a:spcPct val="100000"/>
              </a:lnSpc>
              <a:spcBef>
                <a:spcPts val="130"/>
              </a:spcBef>
            </a:pPr>
            <a:r>
              <a:rPr sz="950" b="1" spc="45" dirty="0">
                <a:latin typeface="Calibri"/>
                <a:cs typeface="Calibri"/>
              </a:rPr>
              <a:t>16</a:t>
            </a:r>
            <a:endParaRPr sz="95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9131" y="701675"/>
            <a:ext cx="6441179" cy="8819081"/>
          </a:xfrm>
          <a:prstGeom prst="rect">
            <a:avLst/>
          </a:prstGeom>
        </p:spPr>
        <p:txBody>
          <a:bodyPr vert="horz" wrap="square" lIns="0" tIns="16510" rIns="0" bIns="0" rtlCol="0">
            <a:spAutoFit/>
          </a:bodyPr>
          <a:lstStyle/>
          <a:p>
            <a:pPr marL="12700">
              <a:lnSpc>
                <a:spcPct val="100000"/>
              </a:lnSpc>
              <a:spcBef>
                <a:spcPts val="130"/>
              </a:spcBef>
            </a:pPr>
            <a:r>
              <a:rPr sz="2200" b="1" spc="235" dirty="0">
                <a:latin typeface="Calibri"/>
                <a:cs typeface="Calibri"/>
              </a:rPr>
              <a:t>Chapter</a:t>
            </a:r>
            <a:r>
              <a:rPr sz="2200" b="1" spc="365" dirty="0">
                <a:latin typeface="Calibri"/>
                <a:cs typeface="Calibri"/>
              </a:rPr>
              <a:t> </a:t>
            </a:r>
            <a:r>
              <a:rPr sz="2200" b="1" spc="80" dirty="0">
                <a:latin typeface="Calibri"/>
                <a:cs typeface="Calibri"/>
              </a:rPr>
              <a:t>1</a:t>
            </a:r>
            <a:endParaRPr sz="2200" dirty="0">
              <a:latin typeface="Calibri"/>
              <a:cs typeface="Calibri"/>
            </a:endParaRPr>
          </a:p>
          <a:p>
            <a:pPr marL="12700">
              <a:lnSpc>
                <a:spcPct val="100000"/>
              </a:lnSpc>
              <a:spcBef>
                <a:spcPts val="1845"/>
              </a:spcBef>
            </a:pPr>
            <a:r>
              <a:rPr sz="2200" b="1" spc="180" dirty="0">
                <a:latin typeface="Calibri"/>
                <a:cs typeface="Calibri"/>
              </a:rPr>
              <a:t>Introduction</a:t>
            </a:r>
            <a:endParaRPr lang="en-US" sz="2200" b="1" spc="180" dirty="0">
              <a:latin typeface="Calibri"/>
              <a:cs typeface="Calibri"/>
            </a:endParaRPr>
          </a:p>
          <a:p>
            <a:pPr marL="12700">
              <a:spcBef>
                <a:spcPts val="1845"/>
              </a:spcBef>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Self-driving cars hold immense potential for revolutionizing transportation, but their safe navigation hinges on accurately interpreting traffic signals. This is where real-time traffic signal and arrow recognition comes in as the eyes on the road for autonomous vehicles. By recognizing traffic light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colors</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(red, yellow, green) and any directional arrows in real-time, self-driving cars can make informed decisions, ensuring safe and efficient traffic flow. This research delves into the critical technologies that enable this recognition. We'll explore how computer vision and deep learning algorithms are used to process camera images and extract crucial information from traffic signals. We'll also discuss the challenges associated with real-time recognition, such as varying lighting conditions, weather, and occlusions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12700" lvl="1">
              <a:lnSpc>
                <a:spcPct val="100000"/>
              </a:lnSpc>
              <a:tabLst>
                <a:tab pos="516890" algn="l"/>
              </a:tabLst>
            </a:pPr>
            <a:endParaRPr lang="en-US" sz="2200" dirty="0">
              <a:latin typeface="Calibri"/>
              <a:cs typeface="Calibri"/>
            </a:endParaRPr>
          </a:p>
          <a:p>
            <a:pPr marL="12700" lvl="1">
              <a:lnSpc>
                <a:spcPct val="100000"/>
              </a:lnSpc>
              <a:tabLst>
                <a:tab pos="516890" algn="l"/>
              </a:tabLst>
            </a:pPr>
            <a:r>
              <a:rPr lang="en-US" sz="2000" b="1" spc="100" dirty="0">
                <a:latin typeface="Calibri"/>
                <a:cs typeface="Calibri"/>
              </a:rPr>
              <a:t> 1.1 </a:t>
            </a:r>
            <a:r>
              <a:rPr sz="2000" b="1" spc="100" dirty="0">
                <a:latin typeface="Calibri"/>
                <a:cs typeface="Calibri"/>
              </a:rPr>
              <a:t>Motivation</a:t>
            </a:r>
            <a:endParaRPr lang="en-US" sz="2000" b="1" spc="100" dirty="0">
              <a:latin typeface="Calibri"/>
              <a:cs typeface="Calibri"/>
            </a:endParaRPr>
          </a:p>
          <a:p>
            <a:pPr marL="12700" lvl="1">
              <a:tabLst>
                <a:tab pos="516890" algn="l"/>
              </a:tabLst>
            </a:pPr>
            <a:r>
              <a:rPr lang="en-IN" sz="2000" b="1" spc="100" dirty="0">
                <a:latin typeface="Calibri"/>
                <a:cs typeface="Calibri"/>
              </a:rPr>
              <a:t>                </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The quest for "Real-Time Traffic Signal and Arrow Recognition for Self-Driving Cars" is driven by a dual desire: enhancing safety and optimizing traffic flow. Precise and immediate understanding of traffic signals (red, yellow, green) and directional arrows is paramount for safe navigation. By interpreting these cues correctly, autonomous vehicles can make informed decisions, preventing accidents and adhering to traffic laws. Furthermore, real-time recognition fosters smoother traffic flow. Self-driving cars can anticipate upcoming stops, adjust speeds, and navigate intersections efficiently based on arrow signals, ultimately reducing congestion and improving travel times for everyone.</a:t>
            </a:r>
          </a:p>
          <a:p>
            <a:pPr marL="12700" lvl="1">
              <a:lnSpc>
                <a:spcPct val="100000"/>
              </a:lnSpc>
              <a:tabLst>
                <a:tab pos="516890" algn="l"/>
              </a:tabLst>
            </a:pPr>
            <a:endParaRPr lang="en-IN" sz="2000" b="1" spc="100" dirty="0">
              <a:latin typeface="Calibri"/>
              <a:cs typeface="Calibri"/>
            </a:endParaRPr>
          </a:p>
          <a:p>
            <a:pPr marL="12700" lvl="1">
              <a:lnSpc>
                <a:spcPct val="100000"/>
              </a:lnSpc>
              <a:tabLst>
                <a:tab pos="516890" algn="l"/>
              </a:tabLst>
            </a:pPr>
            <a:r>
              <a:rPr lang="en-IN" sz="2000" b="1" spc="100" dirty="0">
                <a:latin typeface="Calibri"/>
                <a:cs typeface="Calibri"/>
              </a:rPr>
              <a:t>1.2 </a:t>
            </a:r>
            <a:r>
              <a:rPr sz="2000" b="1" spc="110" dirty="0">
                <a:latin typeface="Calibri"/>
                <a:cs typeface="Calibri"/>
              </a:rPr>
              <a:t>Objectives</a:t>
            </a:r>
            <a:endParaRPr lang="en-US" sz="2000" b="1" spc="110" dirty="0">
              <a:latin typeface="Calibri"/>
              <a:cs typeface="Calibri"/>
            </a:endParaRPr>
          </a:p>
          <a:p>
            <a:r>
              <a:rPr lang="en-IN" sz="2000" b="1" spc="110" dirty="0">
                <a:latin typeface="Calibri"/>
                <a:cs typeface="Calibri"/>
              </a:rPr>
              <a:t>  </a:t>
            </a:r>
            <a:r>
              <a:rPr lang="en-IN" sz="1800" dirty="0">
                <a:effectLst/>
                <a:latin typeface="Symbol" panose="05050102010706020507" pitchFamily="18" charset="2"/>
                <a:ea typeface="Times New Roman" panose="02020603050405020304" pitchFamily="18" charset="0"/>
              </a:rPr>
              <a:t>·</a:t>
            </a:r>
            <a:r>
              <a:rPr lang="en-IN" sz="180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Develop a robust system that accurately detects and interprets traffic signals (red, yellow, green) in real-time.</a:t>
            </a:r>
            <a:r>
              <a:rPr lang="en-IN" sz="1800" dirty="0">
                <a:effectLst/>
                <a:latin typeface="Times New Roman" panose="02020603050405020304" pitchFamily="18" charset="0"/>
                <a:ea typeface="Times New Roman" panose="02020603050405020304" pitchFamily="18" charset="0"/>
              </a:rPr>
              <a:t> This involves overcoming challenges like varying lighting, weather, and occlusions.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6</a:t>
            </a:fld>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35000" y="625475"/>
            <a:ext cx="6324599" cy="8762014"/>
          </a:xfrm>
          <a:prstGeom prst="rect">
            <a:avLst/>
          </a:prstGeom>
        </p:spPr>
        <p:txBody>
          <a:bodyPr vert="horz" wrap="square" lIns="0" tIns="150495" rIns="0" bIns="0" rtlCol="0">
            <a:spAutoFit/>
          </a:bodyPr>
          <a:lstStyle/>
          <a:p>
            <a:r>
              <a:rPr lang="en-IN" sz="1800" dirty="0">
                <a:effectLst/>
                <a:latin typeface="Symbol" panose="05050102010706020507" pitchFamily="18" charset="2"/>
                <a:ea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Enable self-driving cars to recognize directional arrows on traffic signals.</a:t>
            </a:r>
            <a:r>
              <a:rPr lang="en-IN" sz="1800" dirty="0">
                <a:effectLst/>
                <a:latin typeface="Times New Roman" panose="02020603050405020304" pitchFamily="18" charset="0"/>
                <a:ea typeface="Times New Roman" panose="02020603050405020304" pitchFamily="18" charset="0"/>
              </a:rPr>
              <a:t> This allows the vehicles to understand lane-specific instructions and navigate intersections safely and efficiently.</a:t>
            </a:r>
          </a:p>
          <a:p>
            <a:r>
              <a:rPr lang="en-IN" sz="1800" dirty="0">
                <a:effectLst/>
                <a:latin typeface="Symbol" panose="05050102010706020507" pitchFamily="18" charset="2"/>
                <a:ea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Improve the overall safety of autonomous vehicles.</a:t>
            </a:r>
            <a:r>
              <a:rPr lang="en-IN" sz="1800" dirty="0">
                <a:effectLst/>
                <a:latin typeface="Times New Roman" panose="02020603050405020304" pitchFamily="18" charset="0"/>
                <a:ea typeface="Times New Roman" panose="02020603050405020304" pitchFamily="18" charset="0"/>
              </a:rPr>
              <a:t> By accurately interpreting traffic signals, self-driving cars can avoid collisions and adhere to traffic laws, reducing accidents and promoting safer roads.</a:t>
            </a:r>
          </a:p>
          <a:p>
            <a:r>
              <a:rPr lang="en-IN" sz="1800" dirty="0">
                <a:effectLst/>
                <a:latin typeface="Symbol" panose="05050102010706020507" pitchFamily="18" charset="2"/>
                <a:ea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Enhance traffic flow efficiency.</a:t>
            </a:r>
            <a:r>
              <a:rPr lang="en-IN" sz="1800" dirty="0">
                <a:effectLst/>
                <a:latin typeface="Times New Roman" panose="02020603050405020304" pitchFamily="18" charset="0"/>
                <a:ea typeface="Times New Roman" panose="02020603050405020304" pitchFamily="18" charset="0"/>
              </a:rPr>
              <a:t> Real-time recognition allows self-driving cars to anticipate upcoming stops and adjust speed accordingly, leading to smoother traffic flow and reduced congestion.</a:t>
            </a:r>
          </a:p>
          <a:p>
            <a:r>
              <a:rPr lang="en-IN" sz="1800" dirty="0">
                <a:effectLst/>
                <a:latin typeface="Symbol" panose="05050102010706020507" pitchFamily="18" charset="2"/>
                <a:ea typeface="Calibri" panose="020F0502020204030204" pitchFamily="34" charset="0"/>
                <a:cs typeface="Times New Roman" panose="02020603050405020304" pitchFamily="18" charset="0"/>
              </a:rPr>
              <a:t> ·</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Contribute to the advancement of autonomous vehicle technology.</a:t>
            </a:r>
            <a:r>
              <a:rPr lang="en-IN" sz="1800" dirty="0">
                <a:effectLst/>
                <a:latin typeface="Calibri" panose="020F0502020204030204" pitchFamily="34" charset="0"/>
                <a:ea typeface="Calibri" panose="020F0502020204030204" pitchFamily="34" charset="0"/>
                <a:cs typeface="Times New Roman" panose="02020603050405020304" pitchFamily="18" charset="0"/>
              </a:rPr>
              <a:t> Accurate and reliable traffic signal and arrow recognition is a critical piece of the puzzle for self-driving cars to become a reality.</a:t>
            </a:r>
          </a:p>
          <a:p>
            <a:endParaRPr lang="en-IN" b="1" spc="140" dirty="0">
              <a:latin typeface="Calibri" panose="020F0502020204030204" pitchFamily="34" charset="0"/>
              <a:ea typeface="Calibri" panose="020F0502020204030204" pitchFamily="34" charset="0"/>
              <a:cs typeface="Times New Roman" panose="02020603050405020304" pitchFamily="18" charset="0"/>
            </a:endParaRPr>
          </a:p>
          <a:p>
            <a:endParaRPr lang="en-US" sz="1550" b="1" spc="140" dirty="0">
              <a:latin typeface="Calibri"/>
              <a:cs typeface="Calibri"/>
            </a:endParaRPr>
          </a:p>
          <a:p>
            <a:r>
              <a:rPr lang="en-IN" sz="2000" b="1" spc="100" dirty="0">
                <a:latin typeface="Calibri"/>
                <a:cs typeface="Calibri"/>
              </a:rPr>
              <a:t>1.3 Literature survey</a:t>
            </a:r>
          </a:p>
          <a:p>
            <a:r>
              <a:rPr lang="en-IN" sz="2000" b="1" spc="100" dirty="0">
                <a:latin typeface="Calibri"/>
                <a:cs typeface="Calibri"/>
              </a:rPr>
              <a:t>    </a:t>
            </a:r>
          </a:p>
          <a:p>
            <a:pPr marL="285750" indent="-285750">
              <a:buFont typeface="Arial" panose="020B0604020202020204" pitchFamily="34" charset="0"/>
              <a:buChar char="•"/>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authors of the paper are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Xiyun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Wang and Chao Wang from Shandong University of Science and Technology. The literature survey includes references to studies on foggy weather, vehicle detection, defogging algorithms, and target detection methods. Some referenced studies are "Research progress of image Telecommunications," "End-to-end image defogging based on deep learning," and "Adaptive feature fusion for complex road scene target detection algorithm.“</a:t>
            </a:r>
          </a:p>
          <a:p>
            <a:endParaRPr lang="en-IN" kern="100" dirty="0">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kern="100" dirty="0">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7</a:t>
            </a:fld>
            <a:endParaRPr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D935680-06C5-520A-6123-206994036E4E}"/>
              </a:ext>
            </a:extLst>
          </p:cNvPr>
          <p:cNvSpPr txBox="1"/>
          <p:nvPr/>
        </p:nvSpPr>
        <p:spPr>
          <a:xfrm>
            <a:off x="635000" y="625475"/>
            <a:ext cx="6324599" cy="1259960"/>
          </a:xfrm>
          <a:prstGeom prst="rect">
            <a:avLst/>
          </a:prstGeom>
        </p:spPr>
        <p:txBody>
          <a:bodyPr vert="horz" wrap="square" lIns="0" tIns="150495" rIns="0" bIns="0" rtlCol="0">
            <a:spAutoFit/>
          </a:bodyPr>
          <a:lstStyle/>
          <a:p>
            <a:r>
              <a:rPr lang="en-IN" sz="1800" dirty="0">
                <a:effectLst/>
                <a:latin typeface="Symbol" panose="05050102010706020507" pitchFamily="18" charset="2"/>
                <a:ea typeface="Times New Roman" panose="02020603050405020304" pitchFamily="18" charset="0"/>
              </a:rPr>
              <a:t> </a:t>
            </a:r>
            <a:endParaRPr lang="en-IN" kern="100" dirty="0">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kern="100" dirty="0">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object 2">
            <a:extLst>
              <a:ext uri="{FF2B5EF4-FFF2-40B4-BE49-F238E27FC236}">
                <a16:creationId xmlns:a16="http://schemas.microsoft.com/office/drawing/2014/main" id="{8C98C1EB-0F55-57FC-90C2-141DE7994D69}"/>
              </a:ext>
            </a:extLst>
          </p:cNvPr>
          <p:cNvSpPr txBox="1"/>
          <p:nvPr/>
        </p:nvSpPr>
        <p:spPr>
          <a:xfrm>
            <a:off x="635000" y="625475"/>
            <a:ext cx="6324599" cy="4183838"/>
          </a:xfrm>
          <a:prstGeom prst="rect">
            <a:avLst/>
          </a:prstGeom>
        </p:spPr>
        <p:txBody>
          <a:bodyPr vert="horz" wrap="square" lIns="0" tIns="150495" rIns="0" bIns="0" rtlCol="0">
            <a:spAutoFit/>
          </a:bodyPr>
          <a:lstStyle/>
          <a:p>
            <a:pPr marL="285750" indent="-285750">
              <a:buFont typeface="Arial" panose="020B0604020202020204" pitchFamily="34" charset="0"/>
              <a:buChar char="•"/>
            </a:pPr>
            <a:r>
              <a:rPr lang="en-IN" sz="1800" dirty="0">
                <a:effectLst/>
                <a:latin typeface="Symbol" panose="05050102010706020507" pitchFamily="18" charset="2"/>
                <a:ea typeface="Times New Roman" panose="02020603050405020304" pitchFamily="18" charset="0"/>
              </a:rPr>
              <a:t> </a:t>
            </a:r>
            <a:r>
              <a:rPr lang="en-IN" kern="100" dirty="0">
                <a:effectLst/>
                <a:latin typeface="Calibri" panose="020F0502020204030204" pitchFamily="34" charset="0"/>
                <a:ea typeface="Calibri" panose="020F0502020204030204" pitchFamily="34" charset="0"/>
                <a:cs typeface="Times New Roman" panose="02020603050405020304" pitchFamily="18" charset="0"/>
              </a:rPr>
              <a:t>The authors of the paper are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Miand</a:t>
            </a:r>
            <a:r>
              <a:rPr lang="en-IN" kern="100" dirty="0">
                <a:effectLst/>
                <a:latin typeface="Calibri" panose="020F0502020204030204" pitchFamily="34" charset="0"/>
                <a:ea typeface="Calibri" panose="020F0502020204030204" pitchFamily="34" charset="0"/>
                <a:cs typeface="Times New Roman" panose="02020603050405020304" pitchFamily="18" charset="0"/>
              </a:rPr>
              <a:t> Mostafa and Milad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Ghantous</a:t>
            </a:r>
            <a:r>
              <a:rPr lang="en-IN" kern="100" dirty="0">
                <a:effectLst/>
                <a:latin typeface="Calibri" panose="020F0502020204030204" pitchFamily="34" charset="0"/>
                <a:ea typeface="Calibri" panose="020F0502020204030204" pitchFamily="34" charset="0"/>
                <a:cs typeface="Times New Roman" panose="02020603050405020304" pitchFamily="18" charset="0"/>
              </a:rPr>
              <a:t> from the Department of Media Engineering Technology at the German University in Cairo,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Egypt.The</a:t>
            </a:r>
            <a:r>
              <a:rPr lang="en-IN" kern="100" dirty="0">
                <a:effectLst/>
                <a:latin typeface="Calibri" panose="020F0502020204030204" pitchFamily="34" charset="0"/>
                <a:ea typeface="Calibri" panose="020F0502020204030204" pitchFamily="34" charset="0"/>
                <a:cs typeface="Times New Roman" panose="02020603050405020304" pitchFamily="18" charset="0"/>
              </a:rPr>
              <a:t> document discusses the training of a deep neural network using the YOLOv4 algorithm to detect and classify traffic lights for Advanced Driver Assistance Systems (ADAS) in self-driving cars. It also incorporates an algorithm to alert the driver in real-time based on the detection results. The research utilized transfer learning and the LISA dataset for training, achieving a mean Average Precision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mAP</a:t>
            </a:r>
            <a:r>
              <a:rPr lang="en-IN" kern="100" dirty="0">
                <a:effectLst/>
                <a:latin typeface="Calibri" panose="020F0502020204030204" pitchFamily="34" charset="0"/>
                <a:ea typeface="Calibri" panose="020F0502020204030204" pitchFamily="34" charset="0"/>
                <a:cs typeface="Times New Roman" panose="02020603050405020304" pitchFamily="18" charset="0"/>
              </a:rPr>
              <a:t>) score of 92.16%.</a:t>
            </a:r>
          </a:p>
          <a:p>
            <a:endParaRPr lang="en-IN" kern="100" dirty="0">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2700" lvl="1">
              <a:lnSpc>
                <a:spcPct val="100000"/>
              </a:lnSpc>
              <a:spcBef>
                <a:spcPts val="1185"/>
              </a:spcBef>
              <a:tabLst>
                <a:tab pos="516890" algn="l"/>
              </a:tabLst>
            </a:pPr>
            <a:r>
              <a:rPr lang="en-IN" kern="100" dirty="0">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5205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89BB4D0-7D78-DC52-9235-4ED26BA6F92D}"/>
              </a:ext>
            </a:extLst>
          </p:cNvPr>
          <p:cNvSpPr txBox="1"/>
          <p:nvPr/>
        </p:nvSpPr>
        <p:spPr>
          <a:xfrm>
            <a:off x="520700" y="854075"/>
            <a:ext cx="6553200" cy="8493351"/>
          </a:xfrm>
          <a:prstGeom prst="rect">
            <a:avLst/>
          </a:prstGeom>
        </p:spPr>
        <p:txBody>
          <a:bodyPr vert="horz" wrap="square" lIns="0" tIns="150495" rIns="0" bIns="0" rtlCol="0">
            <a:spAutoFit/>
          </a:bodyPr>
          <a:lstStyle/>
          <a:p>
            <a:pPr marL="12700" lvl="1">
              <a:spcBef>
                <a:spcPts val="1085"/>
              </a:spcBef>
              <a:tabLst>
                <a:tab pos="516890" algn="l"/>
              </a:tabLst>
            </a:pPr>
            <a:r>
              <a:rPr lang="en-IN" sz="2400" b="1" spc="100" dirty="0">
                <a:latin typeface="Calibri"/>
                <a:cs typeface="Calibri"/>
              </a:rPr>
              <a:t>1.4  Problem statement</a:t>
            </a:r>
          </a:p>
          <a:p>
            <a:pPr marL="12700" lvl="1">
              <a:spcBef>
                <a:spcPts val="1085"/>
              </a:spcBef>
              <a:tabLst>
                <a:tab pos="516890" algn="l"/>
              </a:tabLst>
            </a:pPr>
            <a:r>
              <a:rPr lang="en-US" kern="100" dirty="0">
                <a:effectLst/>
                <a:latin typeface="Calibri" panose="020F0502020204030204" pitchFamily="34" charset="0"/>
                <a:ea typeface="Calibri" panose="020F0502020204030204" pitchFamily="34" charset="0"/>
                <a:cs typeface="Times New Roman" panose="02020603050405020304" pitchFamily="18" charset="0"/>
              </a:rPr>
              <a:t>Real-Time Traffic Signal and Arrow Recognition for Autonomous     Vehicles.</a:t>
            </a:r>
          </a:p>
          <a:p>
            <a:pPr marL="12700" lvl="1">
              <a:spcBef>
                <a:spcPts val="1085"/>
              </a:spcBef>
              <a:tabLst>
                <a:tab pos="516890" algn="l"/>
              </a:tabLst>
            </a:pPr>
            <a:endParaRPr lang="en-US" b="1" kern="100" spc="130" dirty="0">
              <a:latin typeface="Calibri" panose="020F0502020204030204" pitchFamily="34" charset="0"/>
              <a:ea typeface="Calibri" panose="020F0502020204030204" pitchFamily="34" charset="0"/>
              <a:cs typeface="Times New Roman" panose="02020603050405020304" pitchFamily="18" charset="0"/>
            </a:endParaRPr>
          </a:p>
          <a:p>
            <a:pPr marL="12700" lvl="1">
              <a:spcBef>
                <a:spcPts val="1085"/>
              </a:spcBef>
              <a:tabLst>
                <a:tab pos="516890" algn="l"/>
              </a:tabLst>
            </a:pPr>
            <a:r>
              <a:rPr lang="en-IN" sz="2400" b="1" spc="100" dirty="0">
                <a:latin typeface="Calibri"/>
                <a:cs typeface="Calibri"/>
              </a:rPr>
              <a:t>1.5 </a:t>
            </a:r>
            <a:r>
              <a:rPr lang="en-IN" sz="1800" b="1" spc="100" dirty="0">
                <a:latin typeface="Calibri"/>
                <a:cs typeface="Calibri"/>
              </a:rPr>
              <a:t>  </a:t>
            </a:r>
            <a:r>
              <a:rPr lang="en-US" sz="2400" b="1" spc="120" dirty="0">
                <a:latin typeface="Calibri"/>
                <a:cs typeface="Calibri"/>
              </a:rPr>
              <a:t>Organization</a:t>
            </a:r>
            <a:r>
              <a:rPr lang="en-US" sz="2400" b="1" spc="270" dirty="0">
                <a:latin typeface="Calibri"/>
                <a:cs typeface="Calibri"/>
              </a:rPr>
              <a:t> </a:t>
            </a:r>
            <a:r>
              <a:rPr lang="en-US" sz="2400" b="1" dirty="0">
                <a:latin typeface="Calibri"/>
                <a:cs typeface="Calibri"/>
              </a:rPr>
              <a:t>of</a:t>
            </a:r>
            <a:r>
              <a:rPr lang="en-US" sz="2400" b="1" spc="270" dirty="0">
                <a:latin typeface="Calibri"/>
                <a:cs typeface="Calibri"/>
              </a:rPr>
              <a:t> </a:t>
            </a:r>
            <a:r>
              <a:rPr lang="en-US" sz="2400" b="1" spc="90" dirty="0">
                <a:latin typeface="Calibri"/>
                <a:cs typeface="Calibri"/>
              </a:rPr>
              <a:t>the</a:t>
            </a:r>
            <a:r>
              <a:rPr lang="en-US" sz="2400" b="1" spc="275" dirty="0">
                <a:latin typeface="Calibri"/>
                <a:cs typeface="Calibri"/>
              </a:rPr>
              <a:t> </a:t>
            </a:r>
            <a:r>
              <a:rPr lang="en-US" sz="2400" b="1" spc="100" dirty="0">
                <a:latin typeface="Calibri"/>
                <a:cs typeface="Calibri"/>
              </a:rPr>
              <a:t>report</a:t>
            </a:r>
            <a:endParaRPr lang="en-US" sz="2400" dirty="0">
              <a:latin typeface="Calibri"/>
              <a:cs typeface="Calibri"/>
            </a:endParaRPr>
          </a:p>
          <a:p>
            <a:pPr marL="12700" lvl="1">
              <a:spcBef>
                <a:spcPts val="1085"/>
              </a:spcBef>
              <a:tabLst>
                <a:tab pos="516890" algn="l"/>
              </a:tabLst>
            </a:pPr>
            <a:r>
              <a:rPr lang="en-US" b="1" spc="130" dirty="0">
                <a:latin typeface="Calibri"/>
                <a:cs typeface="Calibri"/>
              </a:rPr>
              <a:t>    </a:t>
            </a:r>
          </a:p>
          <a:p>
            <a:pPr>
              <a:lnSpc>
                <a:spcPct val="107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Chapter 1: Introduction- Initiating with an introduction, the project provides an initial overview, setting the stage for the systematic exploration of various facets. </a:t>
            </a:r>
          </a:p>
          <a:p>
            <a:pPr>
              <a:lnSpc>
                <a:spcPct val="107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Chapter 2: System Design- The project extensively examines the complexities of system design, offering an in-depth overview of its structure and components. </a:t>
            </a:r>
          </a:p>
          <a:p>
            <a:pPr>
              <a:lnSpc>
                <a:spcPct val="107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Chapter 3: Planning and Execution- In this thoroughly covers the planning and execution aspects of the design, shedding light on strategic decisions made during the development phase. </a:t>
            </a:r>
          </a:p>
          <a:p>
            <a:pPr>
              <a:lnSpc>
                <a:spcPct val="107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Chapter 4: Results Analysis- Progressing further shifts focus to presenting and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analyzing</a:t>
            </a:r>
            <a:r>
              <a:rPr lang="en-IN" kern="100" dirty="0">
                <a:effectLst/>
                <a:latin typeface="Calibri" panose="020F0502020204030204" pitchFamily="34" charset="0"/>
                <a:ea typeface="Calibri" panose="020F0502020204030204" pitchFamily="34" charset="0"/>
                <a:cs typeface="Times New Roman" panose="02020603050405020304" pitchFamily="18" charset="0"/>
              </a:rPr>
              <a:t> results, featuring detailed discussions to clarify findings and highlight significant outcomes. </a:t>
            </a:r>
          </a:p>
          <a:p>
            <a:pPr>
              <a:lnSpc>
                <a:spcPct val="107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Chapter 5: Conclusion- Finally concluding the report with a summary, providing insights into project outcomes, implications, and paving the way for future exploration and development in the identified scope.</a:t>
            </a:r>
          </a:p>
          <a:p>
            <a:pPr marL="12700" lvl="1">
              <a:spcBef>
                <a:spcPts val="1085"/>
              </a:spcBef>
              <a:tabLst>
                <a:tab pos="516890" algn="l"/>
              </a:tabLst>
            </a:pPr>
            <a:endParaRPr lang="en-US" b="1" spc="130" dirty="0">
              <a:latin typeface="Calibri"/>
              <a:cs typeface="Calibri"/>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1590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6900" y="854075"/>
            <a:ext cx="6324600" cy="3713709"/>
          </a:xfrm>
          <a:prstGeom prst="rect">
            <a:avLst/>
          </a:prstGeom>
        </p:spPr>
        <p:txBody>
          <a:bodyPr vert="horz" wrap="square" lIns="0" tIns="16510" rIns="0" bIns="0" rtlCol="0">
            <a:spAutoFit/>
          </a:bodyPr>
          <a:lstStyle/>
          <a:p>
            <a:pPr marL="12700">
              <a:lnSpc>
                <a:spcPct val="100000"/>
              </a:lnSpc>
              <a:spcBef>
                <a:spcPts val="130"/>
              </a:spcBef>
            </a:pPr>
            <a:r>
              <a:rPr lang="en-IN" sz="2200" b="1" spc="235" dirty="0">
                <a:latin typeface="Calibri"/>
                <a:cs typeface="Calibri"/>
              </a:rPr>
              <a:t>Chapter</a:t>
            </a:r>
            <a:r>
              <a:rPr lang="en-IN" sz="2200" b="1" spc="365" dirty="0">
                <a:latin typeface="Calibri"/>
                <a:cs typeface="Calibri"/>
              </a:rPr>
              <a:t> </a:t>
            </a:r>
            <a:r>
              <a:rPr lang="en-IN" sz="2200" b="1" spc="80" dirty="0">
                <a:latin typeface="Calibri"/>
                <a:cs typeface="Calibri"/>
              </a:rPr>
              <a:t>2</a:t>
            </a:r>
            <a:endParaRPr lang="en-IN" sz="2200" dirty="0">
              <a:latin typeface="Calibri"/>
              <a:cs typeface="Calibri"/>
            </a:endParaRPr>
          </a:p>
          <a:p>
            <a:pPr marL="12700">
              <a:lnSpc>
                <a:spcPct val="100000"/>
              </a:lnSpc>
              <a:spcBef>
                <a:spcPts val="1845"/>
              </a:spcBef>
            </a:pPr>
            <a:r>
              <a:rPr sz="2200" b="1" spc="204" dirty="0">
                <a:latin typeface="Calibri"/>
                <a:cs typeface="Calibri"/>
              </a:rPr>
              <a:t>System</a:t>
            </a:r>
            <a:r>
              <a:rPr sz="2200" b="1" spc="365" dirty="0">
                <a:latin typeface="Calibri"/>
                <a:cs typeface="Calibri"/>
              </a:rPr>
              <a:t> </a:t>
            </a:r>
            <a:r>
              <a:rPr sz="2200" b="1" spc="145" dirty="0">
                <a:latin typeface="Calibri"/>
                <a:cs typeface="Calibri"/>
              </a:rPr>
              <a:t>design</a:t>
            </a:r>
            <a:endParaRPr lang="en-IN" sz="2200" b="1" spc="145" dirty="0">
              <a:latin typeface="Calibri"/>
              <a:cs typeface="Calibri"/>
            </a:endParaRPr>
          </a:p>
          <a:p>
            <a:pPr marL="12700">
              <a:spcBef>
                <a:spcPts val="1845"/>
              </a:spcBef>
            </a:pPr>
            <a:r>
              <a:rPr lang="en-IN" sz="2200" b="1" spc="145" dirty="0">
                <a:latin typeface="Calibri"/>
                <a:cs typeface="Calibri"/>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this Chapter, We will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analyze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YOLO-NAS cutting-edge advancements and intricate design principles as we look into the system’s inner workings. The block diagram for our project will show how YOLO-NAS cutting-edge features were incorporated and how well our solution integrated them.</a:t>
            </a:r>
          </a:p>
          <a:p>
            <a:pPr marL="12700">
              <a:lnSpc>
                <a:spcPct val="100000"/>
              </a:lnSpc>
              <a:spcBef>
                <a:spcPts val="1845"/>
              </a:spcBef>
            </a:pPr>
            <a:endParaRPr lang="en-IN" sz="2200" b="1" spc="145" dirty="0">
              <a:latin typeface="Calibri"/>
              <a:cs typeface="Calibri"/>
            </a:endParaRPr>
          </a:p>
          <a:p>
            <a:pPr marL="12700">
              <a:lnSpc>
                <a:spcPct val="100000"/>
              </a:lnSpc>
              <a:spcBef>
                <a:spcPts val="1845"/>
              </a:spcBef>
            </a:pPr>
            <a:endParaRPr sz="2200" dirty="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10</a:t>
            </a:fld>
            <a:endParaRPr spc="-25" dirty="0"/>
          </a:p>
        </p:txBody>
      </p:sp>
      <p:sp>
        <p:nvSpPr>
          <p:cNvPr id="4" name="object 4"/>
          <p:cNvSpPr txBox="1"/>
          <p:nvPr/>
        </p:nvSpPr>
        <p:spPr>
          <a:xfrm>
            <a:off x="698982" y="3636119"/>
            <a:ext cx="6298718" cy="5874044"/>
          </a:xfrm>
          <a:prstGeom prst="rect">
            <a:avLst/>
          </a:prstGeom>
        </p:spPr>
        <p:txBody>
          <a:bodyPr vert="horz" wrap="square" lIns="0" tIns="150495" rIns="0" bIns="0" rtlCol="0">
            <a:spAutoFit/>
          </a:bodyPr>
          <a:lstStyle/>
          <a:p>
            <a:pPr marL="12700" lvl="1">
              <a:spcBef>
                <a:spcPts val="1185"/>
              </a:spcBef>
              <a:tabLst>
                <a:tab pos="516890" algn="l"/>
              </a:tabLst>
            </a:pPr>
            <a:r>
              <a:rPr lang="en-IN" sz="2400" b="1" spc="100" dirty="0">
                <a:latin typeface="Calibri"/>
                <a:cs typeface="Calibri"/>
              </a:rPr>
              <a:t>2.1  Functional Block Diagram</a:t>
            </a:r>
          </a:p>
          <a:p>
            <a:pPr marL="12700" lvl="1">
              <a:lnSpc>
                <a:spcPct val="100000"/>
              </a:lnSpc>
              <a:spcBef>
                <a:spcPts val="1185"/>
              </a:spcBef>
              <a:tabLst>
                <a:tab pos="516890" algn="l"/>
              </a:tabLst>
            </a:pPr>
            <a:endParaRPr lang="en-IN" sz="1550" b="1" spc="110" dirty="0">
              <a:latin typeface="Calibri"/>
              <a:cs typeface="Calibri"/>
            </a:endParaRPr>
          </a:p>
          <a:p>
            <a:pPr marL="516890" lvl="1" indent="-504190">
              <a:lnSpc>
                <a:spcPct val="100000"/>
              </a:lnSpc>
              <a:spcBef>
                <a:spcPts val="1185"/>
              </a:spcBef>
              <a:buFont typeface="Calibri"/>
              <a:buAutoNum type="arabicPeriod"/>
              <a:tabLst>
                <a:tab pos="516890" algn="l"/>
              </a:tabLst>
            </a:pPr>
            <a:endParaRPr lang="en-IN" sz="1550" b="1" spc="110" dirty="0">
              <a:latin typeface="Calibri"/>
              <a:cs typeface="Calibri"/>
            </a:endParaRPr>
          </a:p>
          <a:p>
            <a:pPr marL="516890" lvl="1" indent="-504190">
              <a:lnSpc>
                <a:spcPct val="100000"/>
              </a:lnSpc>
              <a:spcBef>
                <a:spcPts val="1185"/>
              </a:spcBef>
              <a:buFont typeface="Calibri"/>
              <a:buAutoNum type="arabicPeriod"/>
              <a:tabLst>
                <a:tab pos="516890" algn="l"/>
              </a:tabLst>
            </a:pPr>
            <a:endParaRPr lang="en-IN" sz="1550" b="1" spc="110" dirty="0">
              <a:latin typeface="Calibri"/>
              <a:cs typeface="Calibri"/>
            </a:endParaRPr>
          </a:p>
          <a:p>
            <a:pPr marL="12700" lvl="1">
              <a:lnSpc>
                <a:spcPct val="100000"/>
              </a:lnSpc>
              <a:spcBef>
                <a:spcPts val="1085"/>
              </a:spcBef>
              <a:tabLst>
                <a:tab pos="516890" algn="l"/>
              </a:tabLst>
            </a:pPr>
            <a:endParaRPr lang="en-IN" sz="1550" b="1" spc="110" dirty="0">
              <a:latin typeface="Calibri"/>
              <a:cs typeface="Calibri"/>
            </a:endParaRPr>
          </a:p>
          <a:p>
            <a:pPr marL="12700" lvl="1">
              <a:lnSpc>
                <a:spcPct val="100000"/>
              </a:lnSpc>
              <a:spcBef>
                <a:spcPts val="1085"/>
              </a:spcBef>
              <a:tabLst>
                <a:tab pos="516890" algn="l"/>
              </a:tabLst>
            </a:pPr>
            <a:endParaRPr lang="en-IN" sz="1550" b="1" spc="110" dirty="0">
              <a:latin typeface="Calibri"/>
              <a:cs typeface="Calibri"/>
            </a:endParaRPr>
          </a:p>
          <a:p>
            <a:pPr marL="12700" lvl="1">
              <a:lnSpc>
                <a:spcPct val="100000"/>
              </a:lnSpc>
              <a:spcBef>
                <a:spcPts val="1085"/>
              </a:spcBef>
              <a:tabLst>
                <a:tab pos="516890" algn="l"/>
              </a:tabLst>
            </a:pPr>
            <a:endParaRPr lang="en-IN" sz="1550" b="1" spc="110" dirty="0">
              <a:latin typeface="Calibri"/>
              <a:cs typeface="Calibri"/>
            </a:endParaRPr>
          </a:p>
          <a:p>
            <a:pPr marL="12700" lvl="1">
              <a:lnSpc>
                <a:spcPct val="100000"/>
              </a:lnSpc>
              <a:spcBef>
                <a:spcPts val="1085"/>
              </a:spcBef>
              <a:tabLst>
                <a:tab pos="516890" algn="l"/>
              </a:tabLst>
            </a:pPr>
            <a:endParaRPr lang="en-IN" sz="1550" b="1" spc="110" dirty="0">
              <a:latin typeface="Calibri"/>
              <a:cs typeface="Calibri"/>
            </a:endParaRPr>
          </a:p>
          <a:p>
            <a:pPr marL="12700" lvl="1">
              <a:lnSpc>
                <a:spcPct val="100000"/>
              </a:lnSpc>
              <a:spcBef>
                <a:spcPts val="1085"/>
              </a:spcBef>
              <a:tabLst>
                <a:tab pos="516890" algn="l"/>
              </a:tabLst>
            </a:pPr>
            <a:endParaRPr lang="en-IN" sz="1550" b="1" spc="110" dirty="0">
              <a:latin typeface="Calibri"/>
              <a:cs typeface="Calibri"/>
            </a:endParaRPr>
          </a:p>
          <a:p>
            <a:pPr marL="12700" lvl="1">
              <a:lnSpc>
                <a:spcPct val="100000"/>
              </a:lnSpc>
              <a:spcBef>
                <a:spcPts val="1085"/>
              </a:spcBef>
              <a:tabLst>
                <a:tab pos="516890" algn="l"/>
              </a:tabLst>
            </a:pPr>
            <a:endParaRPr lang="en-IN" sz="1550" b="1" spc="85" dirty="0">
              <a:latin typeface="Calibri"/>
              <a:cs typeface="Calibri"/>
            </a:endParaRPr>
          </a:p>
          <a:p>
            <a:pPr marL="516890" lvl="1" indent="-504190">
              <a:lnSpc>
                <a:spcPct val="100000"/>
              </a:lnSpc>
              <a:spcBef>
                <a:spcPts val="1085"/>
              </a:spcBef>
              <a:buAutoNum type="arabicPeriod"/>
              <a:tabLst>
                <a:tab pos="516890" algn="l"/>
              </a:tabLst>
            </a:pPr>
            <a:endParaRPr lang="en-IN" sz="1550" b="1" spc="85" dirty="0">
              <a:latin typeface="Calibri"/>
              <a:cs typeface="Calibri"/>
            </a:endParaRPr>
          </a:p>
          <a:p>
            <a:pPr marL="516890" lvl="1" indent="-504190">
              <a:lnSpc>
                <a:spcPct val="100000"/>
              </a:lnSpc>
              <a:spcBef>
                <a:spcPts val="1085"/>
              </a:spcBef>
              <a:buAutoNum type="arabicPeriod"/>
              <a:tabLst>
                <a:tab pos="516890" algn="l"/>
              </a:tabLst>
            </a:pPr>
            <a:endParaRPr lang="en-IN" sz="1550" b="1" spc="85" dirty="0">
              <a:latin typeface="Calibri"/>
              <a:cs typeface="Calibri"/>
            </a:endParaRPr>
          </a:p>
          <a:p>
            <a:pPr marL="516890" lvl="1" indent="-504190">
              <a:lnSpc>
                <a:spcPct val="100000"/>
              </a:lnSpc>
              <a:spcBef>
                <a:spcPts val="1085"/>
              </a:spcBef>
              <a:buAutoNum type="arabicPeriod"/>
              <a:tabLst>
                <a:tab pos="516890" algn="l"/>
              </a:tabLst>
            </a:pPr>
            <a:endParaRPr lang="en-IN" sz="1550" b="1" spc="85" dirty="0">
              <a:latin typeface="Calibri"/>
              <a:cs typeface="Calibri"/>
            </a:endParaRPr>
          </a:p>
          <a:p>
            <a:pPr marL="516890" lvl="1" indent="-504190">
              <a:lnSpc>
                <a:spcPct val="100000"/>
              </a:lnSpc>
              <a:spcBef>
                <a:spcPts val="1085"/>
              </a:spcBef>
              <a:buAutoNum type="arabicPeriod"/>
              <a:tabLst>
                <a:tab pos="516890" algn="l"/>
              </a:tabLst>
            </a:pPr>
            <a:endParaRPr lang="en-IN" sz="1550" b="1" spc="85" dirty="0">
              <a:latin typeface="Calibri"/>
              <a:cs typeface="Calibri"/>
            </a:endParaRPr>
          </a:p>
          <a:p>
            <a:pPr marL="12700" lvl="1">
              <a:lnSpc>
                <a:spcPct val="100000"/>
              </a:lnSpc>
              <a:spcBef>
                <a:spcPts val="1085"/>
              </a:spcBef>
              <a:tabLst>
                <a:tab pos="516890" algn="l"/>
              </a:tabLst>
            </a:pPr>
            <a:endParaRPr sz="1550" dirty="0">
              <a:latin typeface="Calibri"/>
              <a:cs typeface="Calibri"/>
            </a:endParaRPr>
          </a:p>
        </p:txBody>
      </p:sp>
      <p:pic>
        <p:nvPicPr>
          <p:cNvPr id="7" name="Picture 6">
            <a:extLst>
              <a:ext uri="{FF2B5EF4-FFF2-40B4-BE49-F238E27FC236}">
                <a16:creationId xmlns:a16="http://schemas.microsoft.com/office/drawing/2014/main" id="{5D0FAEA0-7A36-D269-BD51-BD6F396A0F39}"/>
              </a:ext>
            </a:extLst>
          </p:cNvPr>
          <p:cNvPicPr>
            <a:picLocks noChangeAspect="1"/>
          </p:cNvPicPr>
          <p:nvPr/>
        </p:nvPicPr>
        <p:blipFill>
          <a:blip r:embed="rId2"/>
          <a:stretch>
            <a:fillRect/>
          </a:stretch>
        </p:blipFill>
        <p:spPr>
          <a:xfrm>
            <a:off x="635000" y="4435475"/>
            <a:ext cx="6324600" cy="4592091"/>
          </a:xfrm>
          <a:prstGeom prst="rect">
            <a:avLst/>
          </a:prstGeom>
        </p:spPr>
      </p:pic>
      <p:sp>
        <p:nvSpPr>
          <p:cNvPr id="8" name="Rectangle 7">
            <a:extLst>
              <a:ext uri="{FF2B5EF4-FFF2-40B4-BE49-F238E27FC236}">
                <a16:creationId xmlns:a16="http://schemas.microsoft.com/office/drawing/2014/main" id="{1D219727-5515-9337-E12A-8158E99A272E}"/>
              </a:ext>
            </a:extLst>
          </p:cNvPr>
          <p:cNvSpPr/>
          <p:nvPr/>
        </p:nvSpPr>
        <p:spPr>
          <a:xfrm>
            <a:off x="1816100" y="9219508"/>
            <a:ext cx="3962400" cy="2906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Fig 2.1: Shows Functional Block Diagram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4D3835C-26B4-63BE-7240-A4A5C69F52E7}"/>
              </a:ext>
            </a:extLst>
          </p:cNvPr>
          <p:cNvSpPr txBox="1"/>
          <p:nvPr/>
        </p:nvSpPr>
        <p:spPr>
          <a:xfrm>
            <a:off x="520700" y="854075"/>
            <a:ext cx="6553200" cy="8473089"/>
          </a:xfrm>
          <a:prstGeom prst="rect">
            <a:avLst/>
          </a:prstGeom>
        </p:spPr>
        <p:txBody>
          <a:bodyPr vert="horz" wrap="square" lIns="0" tIns="150495" rIns="0" bIns="0" rtlCol="0">
            <a:spAutoFit/>
          </a:bodyPr>
          <a:lstStyle/>
          <a:p>
            <a:pPr marL="12700" lvl="1">
              <a:spcBef>
                <a:spcPts val="1085"/>
              </a:spcBef>
              <a:tabLst>
                <a:tab pos="516890" algn="l"/>
              </a:tabLst>
            </a:pPr>
            <a:r>
              <a:rPr lang="en-US" sz="2400" dirty="0"/>
              <a:t>2.1.1 Functional Block Diagram Explanation</a:t>
            </a:r>
          </a:p>
          <a:p>
            <a:pPr marL="12700" lvl="1">
              <a:spcBef>
                <a:spcPts val="1085"/>
              </a:spcBef>
              <a:tabLst>
                <a:tab pos="516890" algn="l"/>
              </a:tabLst>
            </a:pPr>
            <a:endParaRPr lang="en-US" sz="2400" b="1" kern="100" spc="13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tabLst>
                <a:tab pos="419735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Input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Video frames or still images, maybe in different resolutions and formats (such as RGB or GRAYSCALE), are received. </a:t>
            </a:r>
          </a:p>
          <a:p>
            <a:pPr marL="285750" indent="-285750">
              <a:lnSpc>
                <a:spcPct val="107000"/>
              </a:lnSpc>
              <a:spcAft>
                <a:spcPts val="800"/>
              </a:spcAft>
              <a:buFont typeface="Arial" panose="020B0604020202020204" pitchFamily="34" charset="0"/>
              <a:buChar char="•"/>
              <a:tabLst>
                <a:tab pos="419735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Preprocessing</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Applies data normalization, and filtering (e.g., Gaussian blur) to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miti</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gate noise and enhance relevant features. May involve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color</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space conversion (e.g., RGB to HSV) for robust traffic light representation. </a:t>
            </a:r>
          </a:p>
          <a:p>
            <a:pPr marL="285750" indent="-285750">
              <a:lnSpc>
                <a:spcPct val="107000"/>
              </a:lnSpc>
              <a:spcAft>
                <a:spcPts val="800"/>
              </a:spcAft>
              <a:buFont typeface="Arial" panose="020B0604020202020204" pitchFamily="34" charset="0"/>
              <a:buChar char="•"/>
              <a:tabLst>
                <a:tab pos="419735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Region of Interest (ROI) Detection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Employs object detection algorithms (e.g., YOLOV8,YOLO-NAS) to localize traffic light bounding boxes within the frame. Can incorporate anchor boxes of varying sizes and aspect ratios to handle diverse traffic light positions and appearances. </a:t>
            </a:r>
          </a:p>
          <a:p>
            <a:pPr marL="285750" indent="-285750">
              <a:lnSpc>
                <a:spcPct val="107000"/>
              </a:lnSpc>
              <a:spcAft>
                <a:spcPts val="800"/>
              </a:spcAft>
              <a:buFont typeface="Arial" panose="020B0604020202020204" pitchFamily="34" charset="0"/>
              <a:buChar char="•"/>
              <a:tabLst>
                <a:tab pos="419735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Traffic Light Classification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Leverages deep convolutional neural networks (CNNs) trained on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labeled</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datasets of traffic light images. CNN architecture likely features convolutional layers for feature extraction, followed by pooling layers for spatial down-sampling and fully-connected layers for classification into red, yellow, or green states.</a:t>
            </a:r>
          </a:p>
          <a:p>
            <a:pPr marL="12700" lvl="1">
              <a:spcBef>
                <a:spcPts val="1085"/>
              </a:spcBef>
              <a:tabLst>
                <a:tab pos="516890" algn="l"/>
              </a:tabLst>
            </a:pPr>
            <a:endParaRPr lang="en-US" sz="2400" b="1" kern="100" spc="130" dirty="0">
              <a:latin typeface="Calibri" panose="020F0502020204030204" pitchFamily="34" charset="0"/>
              <a:ea typeface="Calibri" panose="020F0502020204030204" pitchFamily="34" charset="0"/>
              <a:cs typeface="Times New Roman" panose="02020603050405020304" pitchFamily="18" charset="0"/>
            </a:endParaRPr>
          </a:p>
          <a:p>
            <a:pPr marL="12700" lvl="1">
              <a:spcBef>
                <a:spcPts val="1085"/>
              </a:spcBef>
              <a:tabLst>
                <a:tab pos="516890" algn="l"/>
              </a:tabLst>
            </a:pPr>
            <a:endParaRPr lang="en-US" sz="2400" b="1" kern="100" spc="130" dirty="0">
              <a:latin typeface="Calibri" panose="020F0502020204030204" pitchFamily="34" charset="0"/>
              <a:ea typeface="Calibri" panose="020F0502020204030204" pitchFamily="34" charset="0"/>
              <a:cs typeface="Times New Roman" panose="02020603050405020304" pitchFamily="18" charset="0"/>
            </a:endParaRPr>
          </a:p>
          <a:p>
            <a:pPr marL="12700" lvl="1">
              <a:spcBef>
                <a:spcPts val="1085"/>
              </a:spcBef>
              <a:tabLst>
                <a:tab pos="516890" algn="l"/>
              </a:tabLst>
            </a:pPr>
            <a:endParaRPr lang="en-US" b="1" spc="130" dirty="0">
              <a:latin typeface="Calibri"/>
              <a:cs typeface="Calibri"/>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09588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C7A473FA-E41D-E4BB-D90C-1A455721B795}"/>
              </a:ext>
            </a:extLst>
          </p:cNvPr>
          <p:cNvSpPr txBox="1"/>
          <p:nvPr/>
        </p:nvSpPr>
        <p:spPr>
          <a:xfrm>
            <a:off x="520700" y="854075"/>
            <a:ext cx="6553200" cy="2514150"/>
          </a:xfrm>
          <a:prstGeom prst="rect">
            <a:avLst/>
          </a:prstGeom>
        </p:spPr>
        <p:txBody>
          <a:bodyPr vert="horz" wrap="square" lIns="0" tIns="150495" rIns="0" bIns="0" rtlCol="0">
            <a:spAutoFit/>
          </a:bodyPr>
          <a:lstStyle/>
          <a:p>
            <a:pPr marL="12700" lvl="1">
              <a:spcBef>
                <a:spcPts val="1085"/>
              </a:spcBef>
              <a:tabLst>
                <a:tab pos="516890" algn="l"/>
              </a:tabLst>
            </a:pPr>
            <a:r>
              <a:rPr lang="en-IN" sz="2400" dirty="0"/>
              <a:t>2.2 YOLO-NAS Architectural Diagram</a:t>
            </a:r>
            <a:endParaRPr lang="en-US" sz="2400" b="1" kern="100" spc="130" dirty="0">
              <a:latin typeface="Calibri" panose="020F0502020204030204" pitchFamily="34" charset="0"/>
              <a:ea typeface="Calibri" panose="020F0502020204030204" pitchFamily="34" charset="0"/>
              <a:cs typeface="Times New Roman" panose="02020603050405020304" pitchFamily="18" charset="0"/>
            </a:endParaRPr>
          </a:p>
          <a:p>
            <a:pPr marL="12700" lvl="1">
              <a:spcBef>
                <a:spcPts val="1085"/>
              </a:spcBef>
              <a:tabLst>
                <a:tab pos="516890" algn="l"/>
              </a:tabLst>
            </a:pPr>
            <a:endParaRPr lang="en-US" sz="2400" b="1" kern="100" spc="130" dirty="0">
              <a:latin typeface="Calibri" panose="020F0502020204030204" pitchFamily="34" charset="0"/>
              <a:ea typeface="Calibri" panose="020F0502020204030204" pitchFamily="34" charset="0"/>
              <a:cs typeface="Times New Roman" panose="02020603050405020304" pitchFamily="18" charset="0"/>
            </a:endParaRPr>
          </a:p>
          <a:p>
            <a:pPr marL="12700" lvl="1">
              <a:spcBef>
                <a:spcPts val="1085"/>
              </a:spcBef>
              <a:tabLst>
                <a:tab pos="516890" algn="l"/>
              </a:tabLst>
            </a:pPr>
            <a:r>
              <a:rPr lang="en-US" sz="2400" b="1" kern="100" spc="130" dirty="0">
                <a:latin typeface="Calibri" panose="020F0502020204030204" pitchFamily="34" charset="0"/>
                <a:ea typeface="Calibri" panose="020F0502020204030204" pitchFamily="34" charset="0"/>
                <a:cs typeface="Times New Roman" panose="02020603050405020304" pitchFamily="18" charset="0"/>
              </a:rPr>
              <a:t>      </a:t>
            </a:r>
          </a:p>
          <a:p>
            <a:pPr marL="12700" lvl="1">
              <a:spcBef>
                <a:spcPts val="1085"/>
              </a:spcBef>
              <a:tabLst>
                <a:tab pos="516890" algn="l"/>
              </a:tabLst>
            </a:pPr>
            <a:endParaRPr lang="en-US" b="1" spc="130" dirty="0">
              <a:latin typeface="Calibri"/>
              <a:cs typeface="Calibri"/>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C34F9628-1575-FCC0-023E-534ADDF7A9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480" y="1920875"/>
            <a:ext cx="5651639" cy="7287291"/>
          </a:xfrm>
          <a:prstGeom prst="rect">
            <a:avLst/>
          </a:prstGeom>
        </p:spPr>
      </p:pic>
    </p:spTree>
    <p:extLst>
      <p:ext uri="{BB962C8B-B14F-4D97-AF65-F5344CB8AC3E}">
        <p14:creationId xmlns:p14="http://schemas.microsoft.com/office/powerpoint/2010/main" val="2238449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A9E29DE-BBF6-F5BB-4D0D-C52F2A3B861F}"/>
              </a:ext>
            </a:extLst>
          </p:cNvPr>
          <p:cNvSpPr txBox="1"/>
          <p:nvPr/>
        </p:nvSpPr>
        <p:spPr>
          <a:xfrm>
            <a:off x="444500" y="854075"/>
            <a:ext cx="6629400" cy="8521051"/>
          </a:xfrm>
          <a:prstGeom prst="rect">
            <a:avLst/>
          </a:prstGeom>
        </p:spPr>
        <p:txBody>
          <a:bodyPr vert="horz" wrap="square" lIns="0" tIns="150495" rIns="0" bIns="0" rtlCol="0">
            <a:spAutoFit/>
          </a:bodyPr>
          <a:lstStyle/>
          <a:p>
            <a:pPr marL="12700" lvl="1">
              <a:spcBef>
                <a:spcPts val="1085"/>
              </a:spcBef>
              <a:tabLst>
                <a:tab pos="516890" algn="l"/>
              </a:tabLst>
            </a:pPr>
            <a:r>
              <a:rPr lang="en-US" sz="2400" dirty="0"/>
              <a:t>2.2.1 </a:t>
            </a:r>
            <a:r>
              <a:rPr lang="en-IN" sz="2400" dirty="0"/>
              <a:t>YOLO-NAS  Architectural  Diagram   Explanation</a:t>
            </a:r>
          </a:p>
          <a:p>
            <a:pPr marL="12700" lvl="1">
              <a:spcBef>
                <a:spcPts val="1085"/>
              </a:spcBef>
              <a:tabLst>
                <a:tab pos="516890" algn="l"/>
              </a:tabLst>
            </a:pPr>
            <a:endParaRPr lang="en-US" sz="2400" b="1" kern="100" spc="13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tabLst>
                <a:tab pos="419735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Backbone: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This is the initial stage of the network responsible for extracting features from the input image. The image goes through a series of convolutional layers that progressively reduce its size while increasing the number of channels. In the YOLONAS architecture, the specific convolutional layers used in the backbone are not specified.</a:t>
            </a:r>
          </a:p>
          <a:p>
            <a:pPr marL="285750" indent="-285750">
              <a:lnSpc>
                <a:spcPct val="107000"/>
              </a:lnSpc>
              <a:spcAft>
                <a:spcPts val="800"/>
              </a:spcAft>
              <a:buFont typeface="Arial" panose="020B0604020202020204" pitchFamily="34" charset="0"/>
              <a:buChar char="•"/>
              <a:tabLst>
                <a:tab pos="419735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Neck:</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neck stage refines the features extracted from the backbone. It typically consists of several convolutional layers that further process the feature maps. In the YOLONAS architecture, the neck consists of a Spatial Pyramid Pooling (SPP) layer and several Convolutional layers with a kernel size of 1x1 [1].</a:t>
            </a:r>
          </a:p>
          <a:p>
            <a:pPr marL="285750" indent="-285750">
              <a:buFont typeface="Arial" panose="020B0604020202020204" pitchFamily="34" charset="0"/>
              <a:buChar char="•"/>
            </a:pPr>
            <a:r>
              <a:rPr lang="en-IN" sz="1800" b="1" dirty="0">
                <a:effectLst/>
                <a:latin typeface="Times New Roman" panose="02020603050405020304" pitchFamily="18" charset="0"/>
                <a:ea typeface="Times New Roman" panose="02020603050405020304" pitchFamily="18" charset="0"/>
              </a:rPr>
              <a:t>Head:</a:t>
            </a:r>
            <a:r>
              <a:rPr lang="en-IN" sz="1800" dirty="0">
                <a:effectLst/>
                <a:latin typeface="Times New Roman" panose="02020603050405020304" pitchFamily="18" charset="0"/>
                <a:ea typeface="Times New Roman" panose="02020603050405020304" pitchFamily="18" charset="0"/>
              </a:rPr>
              <a:t> The final stage of the network, the head is responsible for generating the final detections. It takes the processed features from the neck and uses them to predict bounding boxes and class probabilities for the objects in the image. In the YOLONAS architecture, the head uses several convolutional layers and detection heads to output the final results.</a:t>
            </a:r>
          </a:p>
          <a:p>
            <a:pPr marL="355600" lvl="1" indent="-342900">
              <a:spcBef>
                <a:spcPts val="1085"/>
              </a:spcBef>
              <a:buFont typeface="Arial" panose="020B0604020202020204" pitchFamily="34" charset="0"/>
              <a:buChar char="•"/>
              <a:tabLst>
                <a:tab pos="516890" algn="l"/>
              </a:tabLst>
            </a:pPr>
            <a:endParaRPr lang="en-US" sz="2400" b="1" kern="100" spc="130" dirty="0">
              <a:latin typeface="Calibri" panose="020F0502020204030204" pitchFamily="34" charset="0"/>
              <a:ea typeface="Calibri" panose="020F0502020204030204" pitchFamily="34" charset="0"/>
              <a:cs typeface="Times New Roman" panose="02020603050405020304" pitchFamily="18" charset="0"/>
            </a:endParaRPr>
          </a:p>
          <a:p>
            <a:pPr marL="12700" lvl="1">
              <a:spcBef>
                <a:spcPts val="1085"/>
              </a:spcBef>
              <a:tabLst>
                <a:tab pos="516890" algn="l"/>
              </a:tabLst>
            </a:pPr>
            <a:endParaRPr lang="en-US" sz="2400" b="1" kern="100" spc="130" dirty="0">
              <a:latin typeface="Calibri" panose="020F0502020204030204" pitchFamily="34" charset="0"/>
              <a:ea typeface="Calibri" panose="020F0502020204030204" pitchFamily="34" charset="0"/>
              <a:cs typeface="Times New Roman" panose="02020603050405020304" pitchFamily="18" charset="0"/>
            </a:endParaRPr>
          </a:p>
          <a:p>
            <a:pPr marL="12700" lvl="1">
              <a:spcBef>
                <a:spcPts val="1085"/>
              </a:spcBef>
              <a:tabLst>
                <a:tab pos="516890" algn="l"/>
              </a:tabLst>
            </a:pPr>
            <a:endParaRPr lang="en-US" b="1" spc="130" dirty="0">
              <a:latin typeface="Calibri"/>
              <a:cs typeface="Calibri"/>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57472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6E236F8-61C1-A5A8-1450-44E573E0FE73}"/>
              </a:ext>
            </a:extLst>
          </p:cNvPr>
          <p:cNvSpPr txBox="1"/>
          <p:nvPr/>
        </p:nvSpPr>
        <p:spPr>
          <a:xfrm>
            <a:off x="444500" y="854075"/>
            <a:ext cx="6629400" cy="3024546"/>
          </a:xfrm>
          <a:prstGeom prst="rect">
            <a:avLst/>
          </a:prstGeom>
        </p:spPr>
        <p:txBody>
          <a:bodyPr vert="horz" wrap="square" lIns="0" tIns="150495" rIns="0" bIns="0" rtlCol="0">
            <a:spAutoFit/>
          </a:bodyPr>
          <a:lstStyle/>
          <a:p>
            <a:pPr marL="12700" lvl="1">
              <a:spcBef>
                <a:spcPts val="1085"/>
              </a:spcBef>
              <a:tabLst>
                <a:tab pos="516890" algn="l"/>
              </a:tabLst>
            </a:pPr>
            <a:endParaRPr lang="en-US" sz="2400" dirty="0"/>
          </a:p>
          <a:p>
            <a:pPr marL="12700" lvl="1">
              <a:spcBef>
                <a:spcPts val="1085"/>
              </a:spcBef>
              <a:tabLst>
                <a:tab pos="516890" algn="l"/>
              </a:tabLst>
            </a:pPr>
            <a:r>
              <a:rPr lang="en-US" sz="2400" dirty="0"/>
              <a:t>2.2.2 Work Breakdown Structure</a:t>
            </a:r>
            <a:endParaRPr lang="en-US" sz="2400" b="1" kern="100" spc="130" dirty="0">
              <a:latin typeface="Calibri" panose="020F0502020204030204" pitchFamily="34" charset="0"/>
              <a:ea typeface="Calibri" panose="020F0502020204030204" pitchFamily="34" charset="0"/>
              <a:cs typeface="Times New Roman" panose="02020603050405020304" pitchFamily="18" charset="0"/>
            </a:endParaRPr>
          </a:p>
          <a:p>
            <a:pPr marL="355600" lvl="1" indent="-342900">
              <a:spcBef>
                <a:spcPts val="1085"/>
              </a:spcBef>
              <a:buFont typeface="Arial" panose="020B0604020202020204" pitchFamily="34" charset="0"/>
              <a:buChar char="•"/>
              <a:tabLst>
                <a:tab pos="516890" algn="l"/>
              </a:tabLst>
            </a:pPr>
            <a:endParaRPr lang="en-US" sz="2400" b="1" kern="100" spc="130" dirty="0">
              <a:latin typeface="Calibri" panose="020F0502020204030204" pitchFamily="34" charset="0"/>
              <a:ea typeface="Calibri" panose="020F0502020204030204" pitchFamily="34" charset="0"/>
              <a:cs typeface="Times New Roman" panose="02020603050405020304" pitchFamily="18" charset="0"/>
            </a:endParaRPr>
          </a:p>
          <a:p>
            <a:pPr marL="12700" lvl="1">
              <a:spcBef>
                <a:spcPts val="1085"/>
              </a:spcBef>
              <a:tabLst>
                <a:tab pos="516890" algn="l"/>
              </a:tabLst>
            </a:pPr>
            <a:endParaRPr lang="en-US" sz="2400" b="1" kern="100" spc="130" dirty="0">
              <a:latin typeface="Calibri" panose="020F0502020204030204" pitchFamily="34" charset="0"/>
              <a:ea typeface="Calibri" panose="020F0502020204030204" pitchFamily="34" charset="0"/>
              <a:cs typeface="Times New Roman" panose="02020603050405020304" pitchFamily="18" charset="0"/>
            </a:endParaRPr>
          </a:p>
          <a:p>
            <a:pPr marL="12700" lvl="1">
              <a:spcBef>
                <a:spcPts val="1085"/>
              </a:spcBef>
              <a:tabLst>
                <a:tab pos="516890" algn="l"/>
              </a:tabLst>
            </a:pPr>
            <a:endParaRPr lang="en-US" b="1" spc="130" dirty="0">
              <a:latin typeface="Calibri"/>
              <a:cs typeface="Calibri"/>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5722CA54-1675-91F6-5FEC-071CBA2D1299}"/>
              </a:ext>
            </a:extLst>
          </p:cNvPr>
          <p:cNvPicPr>
            <a:picLocks noChangeAspect="1"/>
          </p:cNvPicPr>
          <p:nvPr/>
        </p:nvPicPr>
        <p:blipFill>
          <a:blip r:embed="rId2"/>
          <a:stretch>
            <a:fillRect/>
          </a:stretch>
        </p:blipFill>
        <p:spPr>
          <a:xfrm>
            <a:off x="546100" y="2987675"/>
            <a:ext cx="6464110" cy="4800600"/>
          </a:xfrm>
          <a:prstGeom prst="rect">
            <a:avLst/>
          </a:prstGeom>
        </p:spPr>
      </p:pic>
      <p:sp>
        <p:nvSpPr>
          <p:cNvPr id="5" name="Rectangle 4">
            <a:extLst>
              <a:ext uri="{FF2B5EF4-FFF2-40B4-BE49-F238E27FC236}">
                <a16:creationId xmlns:a16="http://schemas.microsoft.com/office/drawing/2014/main" id="{6D6950B4-3BEE-0B12-CC80-4088DEFB1D49}"/>
              </a:ext>
            </a:extLst>
          </p:cNvPr>
          <p:cNvSpPr/>
          <p:nvPr/>
        </p:nvSpPr>
        <p:spPr>
          <a:xfrm>
            <a:off x="1968500" y="7940675"/>
            <a:ext cx="3962400" cy="381000"/>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r>
              <a:rPr lang="en-IN" dirty="0"/>
              <a:t>Fig 2.2.2: Work Breakdown Structure</a:t>
            </a:r>
          </a:p>
        </p:txBody>
      </p:sp>
    </p:spTree>
    <p:extLst>
      <p:ext uri="{BB962C8B-B14F-4D97-AF65-F5344CB8AC3E}">
        <p14:creationId xmlns:p14="http://schemas.microsoft.com/office/powerpoint/2010/main" val="946068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0700" y="981341"/>
            <a:ext cx="6553200" cy="8672887"/>
          </a:xfrm>
          <a:prstGeom prst="rect">
            <a:avLst/>
          </a:prstGeom>
        </p:spPr>
        <p:txBody>
          <a:bodyPr vert="horz" wrap="square" lIns="0" tIns="16510" rIns="0" bIns="0" rtlCol="0">
            <a:spAutoFit/>
          </a:bodyPr>
          <a:lstStyle/>
          <a:p>
            <a:pPr marL="12700">
              <a:lnSpc>
                <a:spcPct val="100000"/>
              </a:lnSpc>
              <a:spcBef>
                <a:spcPts val="130"/>
              </a:spcBef>
            </a:pPr>
            <a:r>
              <a:rPr sz="2200" b="1" spc="235" dirty="0">
                <a:latin typeface="Calibri"/>
                <a:cs typeface="Calibri"/>
              </a:rPr>
              <a:t>Chapter</a:t>
            </a:r>
            <a:r>
              <a:rPr sz="2200" b="1" spc="365" dirty="0">
                <a:latin typeface="Calibri"/>
                <a:cs typeface="Calibri"/>
              </a:rPr>
              <a:t> </a:t>
            </a:r>
            <a:r>
              <a:rPr sz="2200" b="1" spc="80" dirty="0">
                <a:latin typeface="Calibri"/>
                <a:cs typeface="Calibri"/>
              </a:rPr>
              <a:t>3</a:t>
            </a:r>
            <a:endParaRPr sz="2200" dirty="0">
              <a:latin typeface="Calibri"/>
              <a:cs typeface="Calibri"/>
            </a:endParaRPr>
          </a:p>
          <a:p>
            <a:pPr marL="12700">
              <a:lnSpc>
                <a:spcPct val="100000"/>
              </a:lnSpc>
              <a:spcBef>
                <a:spcPts val="1845"/>
              </a:spcBef>
            </a:pPr>
            <a:r>
              <a:rPr sz="2200" b="1" spc="175" dirty="0">
                <a:latin typeface="Calibri"/>
                <a:cs typeface="Calibri"/>
              </a:rPr>
              <a:t>Implementation</a:t>
            </a:r>
            <a:r>
              <a:rPr sz="2200" b="1" spc="385" dirty="0">
                <a:latin typeface="Calibri"/>
                <a:cs typeface="Calibri"/>
              </a:rPr>
              <a:t> </a:t>
            </a:r>
            <a:r>
              <a:rPr sz="2200" b="1" spc="125" dirty="0">
                <a:latin typeface="Calibri"/>
                <a:cs typeface="Calibri"/>
              </a:rPr>
              <a:t>details</a:t>
            </a:r>
            <a:endParaRPr lang="en-IN" sz="2200" b="1" spc="125" dirty="0">
              <a:latin typeface="Calibri"/>
              <a:cs typeface="Calibri"/>
            </a:endParaRPr>
          </a:p>
          <a:p>
            <a:pPr marL="12700">
              <a:spcBef>
                <a:spcPts val="1845"/>
              </a:spcBef>
            </a:pPr>
            <a:r>
              <a:rPr lang="en-IN" sz="2200" b="1" spc="125" dirty="0">
                <a:latin typeface="Calibri"/>
                <a:cs typeface="Calibri"/>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this chapter, We will dive into the technical intricacies of establishing a robust environment tailored for training a YOLO-NAS model. This involves configuring essential dependencies, preparing the dataset meticulously, and executing the training and testing process for the model.</a:t>
            </a:r>
          </a:p>
          <a:p>
            <a:pPr marL="12700">
              <a:spcBef>
                <a:spcPts val="1845"/>
              </a:spcBef>
            </a:pPr>
            <a:r>
              <a:rPr lang="en-IN" kern="100" dirty="0">
                <a:latin typeface="Calibri" panose="020F0502020204030204" pitchFamily="34" charset="0"/>
                <a:ea typeface="Calibri" panose="020F0502020204030204" pitchFamily="34" charset="0"/>
                <a:cs typeface="Times New Roman" panose="02020603050405020304" pitchFamily="18" charset="0"/>
              </a:rPr>
              <a:t> </a:t>
            </a:r>
            <a:r>
              <a:rPr lang="en-IN" sz="2400" dirty="0"/>
              <a:t>3.1 Environment Setup</a:t>
            </a:r>
          </a:p>
          <a:p>
            <a:pPr marL="12700">
              <a:spcBef>
                <a:spcPts val="1845"/>
              </a:spcBef>
            </a:pP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12700">
              <a:lnSpc>
                <a:spcPct val="100000"/>
              </a:lnSpc>
              <a:spcBef>
                <a:spcPts val="1845"/>
              </a:spcBef>
            </a:pPr>
            <a:endParaRPr sz="2200" dirty="0">
              <a:latin typeface="Calibri"/>
              <a:cs typeface="Calibri"/>
            </a:endParaRPr>
          </a:p>
          <a:p>
            <a:pPr>
              <a:lnSpc>
                <a:spcPct val="100000"/>
              </a:lnSpc>
              <a:spcBef>
                <a:spcPts val="890"/>
              </a:spcBef>
            </a:pPr>
            <a:endParaRPr lang="en-IN" sz="2200" dirty="0">
              <a:latin typeface="Calibri"/>
              <a:cs typeface="Calibri"/>
            </a:endParaRPr>
          </a:p>
          <a:p>
            <a:pPr>
              <a:lnSpc>
                <a:spcPct val="100000"/>
              </a:lnSpc>
              <a:spcBef>
                <a:spcPts val="890"/>
              </a:spcBef>
            </a:pPr>
            <a:endParaRPr lang="en-IN" sz="2200" dirty="0">
              <a:latin typeface="Calibri"/>
              <a:cs typeface="Calibri"/>
            </a:endParaRPr>
          </a:p>
          <a:p>
            <a:pPr>
              <a:lnSpc>
                <a:spcPct val="100000"/>
              </a:lnSpc>
              <a:spcBef>
                <a:spcPts val="890"/>
              </a:spcBef>
            </a:pPr>
            <a:endParaRPr lang="en-US"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sz="2400" dirty="0">
              <a:latin typeface="Calibri"/>
              <a:cs typeface="Calibri"/>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15</a:t>
            </a:fld>
            <a:endParaRPr spc="-25" dirty="0"/>
          </a:p>
        </p:txBody>
      </p:sp>
      <p:pic>
        <p:nvPicPr>
          <p:cNvPr id="5" name="Picture 4">
            <a:extLst>
              <a:ext uri="{FF2B5EF4-FFF2-40B4-BE49-F238E27FC236}">
                <a16:creationId xmlns:a16="http://schemas.microsoft.com/office/drawing/2014/main" id="{FAE8332F-F1EE-2452-2245-F61720225058}"/>
              </a:ext>
            </a:extLst>
          </p:cNvPr>
          <p:cNvPicPr>
            <a:picLocks noChangeAspect="1"/>
          </p:cNvPicPr>
          <p:nvPr/>
        </p:nvPicPr>
        <p:blipFill>
          <a:blip r:embed="rId2"/>
          <a:stretch>
            <a:fillRect/>
          </a:stretch>
        </p:blipFill>
        <p:spPr>
          <a:xfrm>
            <a:off x="673100" y="4359275"/>
            <a:ext cx="5943600" cy="4038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6926898-1E95-84E5-9223-F01B6C59AD6F}"/>
              </a:ext>
            </a:extLst>
          </p:cNvPr>
          <p:cNvSpPr txBox="1"/>
          <p:nvPr/>
        </p:nvSpPr>
        <p:spPr>
          <a:xfrm>
            <a:off x="520700" y="981341"/>
            <a:ext cx="6553200" cy="8072723"/>
          </a:xfrm>
          <a:prstGeom prst="rect">
            <a:avLst/>
          </a:prstGeom>
        </p:spPr>
        <p:txBody>
          <a:bodyPr vert="horz" wrap="square" lIns="0" tIns="16510" rIns="0" bIns="0" rtlCol="0">
            <a:spAutoFit/>
          </a:bodyPr>
          <a:lstStyle/>
          <a:p>
            <a:pPr>
              <a:lnSpc>
                <a:spcPct val="100000"/>
              </a:lnSpc>
              <a:spcBef>
                <a:spcPts val="890"/>
              </a:spcBef>
            </a:pPr>
            <a:endParaRPr lang="en-US" sz="2000" dirty="0"/>
          </a:p>
          <a:p>
            <a:pPr>
              <a:lnSpc>
                <a:spcPct val="100000"/>
              </a:lnSpc>
              <a:spcBef>
                <a:spcPts val="890"/>
              </a:spcBef>
            </a:pPr>
            <a:r>
              <a:rPr lang="en-US" sz="2000" dirty="0"/>
              <a:t>3.2.1 Setting up YoloV8, Training YoloV8s model</a:t>
            </a:r>
            <a:endParaRPr lang="en-US" sz="20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US" sz="2000" dirty="0">
              <a:latin typeface="Calibri"/>
              <a:cs typeface="Calibri"/>
            </a:endParaRPr>
          </a:p>
          <a:p>
            <a:pPr>
              <a:lnSpc>
                <a:spcPct val="100000"/>
              </a:lnSpc>
              <a:spcBef>
                <a:spcPts val="890"/>
              </a:spcBef>
            </a:pPr>
            <a:endParaRPr lang="en-US" sz="2000" dirty="0">
              <a:latin typeface="Calibri"/>
              <a:cs typeface="Calibri"/>
            </a:endParaRPr>
          </a:p>
          <a:p>
            <a:pPr>
              <a:lnSpc>
                <a:spcPct val="100000"/>
              </a:lnSpc>
              <a:spcBef>
                <a:spcPts val="890"/>
              </a:spcBef>
            </a:pPr>
            <a:endParaRPr lang="en-US" sz="2000" dirty="0">
              <a:latin typeface="Calibri"/>
              <a:cs typeface="Calibri"/>
            </a:endParaRPr>
          </a:p>
          <a:p>
            <a:pPr>
              <a:lnSpc>
                <a:spcPct val="100000"/>
              </a:lnSpc>
              <a:spcBef>
                <a:spcPts val="890"/>
              </a:spcBef>
            </a:pPr>
            <a:endParaRPr lang="en-US" sz="2000" dirty="0">
              <a:latin typeface="Calibri"/>
              <a:cs typeface="Calibri"/>
            </a:endParaRPr>
          </a:p>
          <a:p>
            <a:pPr>
              <a:lnSpc>
                <a:spcPct val="100000"/>
              </a:lnSpc>
              <a:spcBef>
                <a:spcPts val="890"/>
              </a:spcBef>
            </a:pPr>
            <a:endParaRPr lang="en-US" sz="2000" dirty="0">
              <a:latin typeface="Calibri"/>
              <a:cs typeface="Calibri"/>
            </a:endParaRPr>
          </a:p>
          <a:p>
            <a:pPr>
              <a:lnSpc>
                <a:spcPct val="100000"/>
              </a:lnSpc>
              <a:spcBef>
                <a:spcPts val="890"/>
              </a:spcBef>
            </a:pPr>
            <a:endParaRPr lang="en-US" sz="2000" dirty="0">
              <a:latin typeface="Calibri"/>
              <a:cs typeface="Calibri"/>
            </a:endParaRPr>
          </a:p>
          <a:p>
            <a:pPr>
              <a:lnSpc>
                <a:spcPct val="100000"/>
              </a:lnSpc>
              <a:spcBef>
                <a:spcPts val="890"/>
              </a:spcBef>
            </a:pPr>
            <a:endParaRPr lang="en-IN" sz="2000" dirty="0">
              <a:latin typeface="Calibri"/>
              <a:cs typeface="Calibri"/>
            </a:endParaRPr>
          </a:p>
          <a:p>
            <a:pPr>
              <a:lnSpc>
                <a:spcPct val="100000"/>
              </a:lnSpc>
              <a:spcBef>
                <a:spcPts val="890"/>
              </a:spcBef>
            </a:pPr>
            <a:endParaRPr sz="2400" dirty="0">
              <a:latin typeface="Calibri"/>
              <a:cs typeface="Calibri"/>
            </a:endParaRPr>
          </a:p>
        </p:txBody>
      </p:sp>
      <p:pic>
        <p:nvPicPr>
          <p:cNvPr id="6" name="Picture 5">
            <a:extLst>
              <a:ext uri="{FF2B5EF4-FFF2-40B4-BE49-F238E27FC236}">
                <a16:creationId xmlns:a16="http://schemas.microsoft.com/office/drawing/2014/main" id="{3243545A-3BBD-9201-54A9-370D7E9847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362" y="2987675"/>
            <a:ext cx="6767876" cy="5715000"/>
          </a:xfrm>
          <a:prstGeom prst="rect">
            <a:avLst/>
          </a:prstGeom>
        </p:spPr>
      </p:pic>
    </p:spTree>
    <p:extLst>
      <p:ext uri="{BB962C8B-B14F-4D97-AF65-F5344CB8AC3E}">
        <p14:creationId xmlns:p14="http://schemas.microsoft.com/office/powerpoint/2010/main" val="3783382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1DF082-51B2-157B-AB95-97FF4B50045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3100" y="2225675"/>
            <a:ext cx="6212503" cy="5873006"/>
          </a:xfrm>
          <a:prstGeom prst="rect">
            <a:avLst/>
          </a:prstGeom>
          <a:noFill/>
          <a:ln>
            <a:noFill/>
          </a:ln>
        </p:spPr>
      </p:pic>
    </p:spTree>
    <p:extLst>
      <p:ext uri="{BB962C8B-B14F-4D97-AF65-F5344CB8AC3E}">
        <p14:creationId xmlns:p14="http://schemas.microsoft.com/office/powerpoint/2010/main" val="1096433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6900" y="957227"/>
            <a:ext cx="6553200" cy="7741863"/>
          </a:xfrm>
          <a:prstGeom prst="rect">
            <a:avLst/>
          </a:prstGeom>
        </p:spPr>
        <p:txBody>
          <a:bodyPr vert="horz" wrap="square" lIns="0" tIns="16510" rIns="0" bIns="0" rtlCol="0">
            <a:spAutoFit/>
          </a:bodyPr>
          <a:lstStyle/>
          <a:p>
            <a:pPr marL="12700">
              <a:lnSpc>
                <a:spcPct val="100000"/>
              </a:lnSpc>
              <a:spcBef>
                <a:spcPts val="130"/>
              </a:spcBef>
            </a:pPr>
            <a:r>
              <a:rPr sz="2200" b="1" spc="235" dirty="0">
                <a:latin typeface="Calibri"/>
                <a:cs typeface="Calibri"/>
              </a:rPr>
              <a:t>Chapter</a:t>
            </a:r>
            <a:r>
              <a:rPr sz="2200" b="1" spc="365" dirty="0">
                <a:latin typeface="Calibri"/>
                <a:cs typeface="Calibri"/>
              </a:rPr>
              <a:t> </a:t>
            </a:r>
            <a:r>
              <a:rPr lang="en-IN" sz="2200" b="1" spc="80" dirty="0">
                <a:latin typeface="Calibri"/>
                <a:cs typeface="Calibri"/>
              </a:rPr>
              <a:t>4</a:t>
            </a:r>
            <a:endParaRPr sz="2200" dirty="0">
              <a:latin typeface="Calibri"/>
              <a:cs typeface="Calibri"/>
            </a:endParaRPr>
          </a:p>
          <a:p>
            <a:pPr marL="12700">
              <a:lnSpc>
                <a:spcPct val="100000"/>
              </a:lnSpc>
              <a:spcBef>
                <a:spcPts val="1845"/>
              </a:spcBef>
            </a:pPr>
            <a:r>
              <a:rPr sz="2200" b="1" spc="204" dirty="0">
                <a:latin typeface="Calibri"/>
                <a:cs typeface="Calibri"/>
              </a:rPr>
              <a:t>R</a:t>
            </a:r>
            <a:r>
              <a:rPr lang="en-IN" sz="2200" b="1" spc="204" dirty="0" err="1">
                <a:latin typeface="Calibri"/>
                <a:cs typeface="Calibri"/>
              </a:rPr>
              <a:t>esults</a:t>
            </a:r>
            <a:r>
              <a:rPr lang="en-IN" sz="2200" b="1" spc="204" dirty="0">
                <a:latin typeface="Calibri"/>
                <a:cs typeface="Calibri"/>
              </a:rPr>
              <a:t> </a:t>
            </a:r>
          </a:p>
          <a:p>
            <a:pPr marL="12700">
              <a:spcBef>
                <a:spcPts val="1845"/>
              </a:spcBef>
            </a:pPr>
            <a:r>
              <a:rPr lang="en-IN" sz="2200" b="1" spc="204" dirty="0">
                <a:latin typeface="Calibri"/>
                <a:cs typeface="Calibri"/>
              </a:rPr>
              <a:t>      </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In this chapter, we will delve into a comprehensive exploration of the results and project out comes achieved through the implementation of YOLO-NAS. This entails an in-depth analysis of the results obtained.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2700">
              <a:lnSpc>
                <a:spcPct val="100000"/>
              </a:lnSpc>
              <a:spcBef>
                <a:spcPts val="1845"/>
              </a:spcBef>
            </a:pPr>
            <a:r>
              <a:rPr lang="en-IN" sz="2200" dirty="0">
                <a:latin typeface="Calibri"/>
                <a:cs typeface="Calibri"/>
              </a:rPr>
              <a:t> </a:t>
            </a:r>
            <a:r>
              <a:rPr lang="en-IN" sz="2400" dirty="0">
                <a:latin typeface="Calibri"/>
                <a:cs typeface="Calibri"/>
              </a:rPr>
              <a:t>4.1 </a:t>
            </a:r>
            <a:r>
              <a:rPr lang="en-IN" sz="2400" dirty="0"/>
              <a:t>Visualizing Results</a:t>
            </a:r>
          </a:p>
          <a:p>
            <a:pPr marL="12700">
              <a:lnSpc>
                <a:spcPct val="100000"/>
              </a:lnSpc>
              <a:spcBef>
                <a:spcPts val="1845"/>
              </a:spcBef>
            </a:pPr>
            <a:endParaRPr lang="en-IN" sz="2400" dirty="0"/>
          </a:p>
          <a:p>
            <a:pPr marL="12700">
              <a:lnSpc>
                <a:spcPct val="100000"/>
              </a:lnSpc>
              <a:spcBef>
                <a:spcPts val="1845"/>
              </a:spcBef>
            </a:pPr>
            <a:endParaRPr lang="en-IN" sz="2400" dirty="0"/>
          </a:p>
          <a:p>
            <a:pPr marL="12700">
              <a:lnSpc>
                <a:spcPct val="100000"/>
              </a:lnSpc>
              <a:spcBef>
                <a:spcPts val="1845"/>
              </a:spcBef>
            </a:pPr>
            <a:endParaRPr lang="en-IN" sz="2400" dirty="0"/>
          </a:p>
          <a:p>
            <a:pPr marL="12700">
              <a:lnSpc>
                <a:spcPct val="100000"/>
              </a:lnSpc>
              <a:spcBef>
                <a:spcPts val="1845"/>
              </a:spcBef>
            </a:pPr>
            <a:endParaRPr lang="en-IN" sz="2400" dirty="0"/>
          </a:p>
          <a:p>
            <a:pPr marL="12700">
              <a:lnSpc>
                <a:spcPct val="100000"/>
              </a:lnSpc>
              <a:spcBef>
                <a:spcPts val="1845"/>
              </a:spcBef>
            </a:pPr>
            <a:endParaRPr lang="en-IN" sz="2400" dirty="0"/>
          </a:p>
          <a:p>
            <a:pPr>
              <a:lnSpc>
                <a:spcPct val="100000"/>
              </a:lnSpc>
              <a:spcBef>
                <a:spcPts val="890"/>
              </a:spcBef>
            </a:pPr>
            <a:endParaRPr lang="en-IN" sz="2200" dirty="0">
              <a:latin typeface="Calibri"/>
              <a:cs typeface="Calibri"/>
            </a:endParaRPr>
          </a:p>
          <a:p>
            <a:pPr>
              <a:lnSpc>
                <a:spcPct val="100000"/>
              </a:lnSpc>
              <a:spcBef>
                <a:spcPts val="890"/>
              </a:spcBef>
            </a:pPr>
            <a:endParaRPr lang="en-IN" sz="2200" dirty="0">
              <a:latin typeface="Calibri"/>
              <a:cs typeface="Calibri"/>
            </a:endParaRPr>
          </a:p>
          <a:p>
            <a:pPr>
              <a:lnSpc>
                <a:spcPct val="100000"/>
              </a:lnSpc>
              <a:spcBef>
                <a:spcPts val="890"/>
              </a:spcBef>
            </a:pPr>
            <a:endParaRPr lang="en-IN" sz="2200" dirty="0">
              <a:latin typeface="Calibri"/>
              <a:cs typeface="Calibri"/>
            </a:endParaRPr>
          </a:p>
          <a:p>
            <a:pPr>
              <a:lnSpc>
                <a:spcPct val="100000"/>
              </a:lnSpc>
              <a:spcBef>
                <a:spcPts val="890"/>
              </a:spcBef>
            </a:pPr>
            <a:endParaRPr sz="2200" dirty="0">
              <a:latin typeface="Calibri"/>
              <a:cs typeface="Calibri"/>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18</a:t>
            </a:fld>
            <a:endParaRPr spc="-25" dirty="0"/>
          </a:p>
        </p:txBody>
      </p:sp>
      <p:pic>
        <p:nvPicPr>
          <p:cNvPr id="5" name="Picture 4">
            <a:extLst>
              <a:ext uri="{FF2B5EF4-FFF2-40B4-BE49-F238E27FC236}">
                <a16:creationId xmlns:a16="http://schemas.microsoft.com/office/drawing/2014/main" id="{FBAD85F2-95B9-C85D-AA0D-0E6750237289}"/>
              </a:ext>
            </a:extLst>
          </p:cNvPr>
          <p:cNvPicPr>
            <a:picLocks noChangeAspect="1"/>
          </p:cNvPicPr>
          <p:nvPr/>
        </p:nvPicPr>
        <p:blipFill>
          <a:blip r:embed="rId2"/>
          <a:stretch>
            <a:fillRect/>
          </a:stretch>
        </p:blipFill>
        <p:spPr>
          <a:xfrm>
            <a:off x="825500" y="4125937"/>
            <a:ext cx="2362200" cy="2411158"/>
          </a:xfrm>
          <a:prstGeom prst="rect">
            <a:avLst/>
          </a:prstGeom>
        </p:spPr>
      </p:pic>
      <p:pic>
        <p:nvPicPr>
          <p:cNvPr id="7" name="Picture 6">
            <a:extLst>
              <a:ext uri="{FF2B5EF4-FFF2-40B4-BE49-F238E27FC236}">
                <a16:creationId xmlns:a16="http://schemas.microsoft.com/office/drawing/2014/main" id="{D95B829C-9374-A47B-F17D-9536B6B5096C}"/>
              </a:ext>
            </a:extLst>
          </p:cNvPr>
          <p:cNvPicPr>
            <a:picLocks noChangeAspect="1"/>
          </p:cNvPicPr>
          <p:nvPr/>
        </p:nvPicPr>
        <p:blipFill>
          <a:blip r:embed="rId3"/>
          <a:stretch>
            <a:fillRect/>
          </a:stretch>
        </p:blipFill>
        <p:spPr>
          <a:xfrm>
            <a:off x="4140199" y="4129111"/>
            <a:ext cx="2407983" cy="240798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3121" y="701675"/>
            <a:ext cx="6553200" cy="9226500"/>
          </a:xfrm>
          <a:prstGeom prst="rect">
            <a:avLst/>
          </a:prstGeom>
        </p:spPr>
        <p:txBody>
          <a:bodyPr vert="horz" wrap="square" lIns="0" tIns="16510" rIns="0" bIns="0" rtlCol="0">
            <a:spAutoFit/>
          </a:bodyPr>
          <a:lstStyle/>
          <a:p>
            <a:pPr marL="12700">
              <a:spcBef>
                <a:spcPts val="130"/>
              </a:spcBef>
            </a:pPr>
            <a:r>
              <a:rPr lang="en-IN" sz="2400" dirty="0"/>
              <a:t>4.1.1 Result Analysis</a:t>
            </a:r>
            <a:endParaRPr lang="en-IN" sz="2400" dirty="0">
              <a:latin typeface="Calibri"/>
              <a:cs typeface="Calibri"/>
            </a:endParaRPr>
          </a:p>
          <a:p>
            <a:pPr marL="12700">
              <a:lnSpc>
                <a:spcPct val="100000"/>
              </a:lnSpc>
              <a:spcBef>
                <a:spcPts val="130"/>
              </a:spcBef>
            </a:pPr>
            <a:endParaRPr lang="en-IN" sz="2200" b="1" spc="235" dirty="0">
              <a:latin typeface="Calibri"/>
              <a:cs typeface="Calibri"/>
            </a:endParaRPr>
          </a:p>
          <a:p>
            <a:pPr marL="12700">
              <a:lnSpc>
                <a:spcPct val="100000"/>
              </a:lnSpc>
              <a:spcBef>
                <a:spcPts val="130"/>
              </a:spcBef>
            </a:pPr>
            <a:endParaRPr lang="en-IN" sz="2200" b="1" spc="235" dirty="0">
              <a:latin typeface="Calibri"/>
              <a:cs typeface="Calibri"/>
            </a:endParaRPr>
          </a:p>
          <a:p>
            <a:pPr marL="12700">
              <a:lnSpc>
                <a:spcPct val="100000"/>
              </a:lnSpc>
              <a:spcBef>
                <a:spcPts val="130"/>
              </a:spcBef>
            </a:pPr>
            <a:endParaRPr lang="en-IN" sz="2200" b="1" spc="235" dirty="0">
              <a:latin typeface="Calibri"/>
              <a:cs typeface="Calibri"/>
            </a:endParaRPr>
          </a:p>
          <a:p>
            <a:pPr marL="12700">
              <a:lnSpc>
                <a:spcPct val="100000"/>
              </a:lnSpc>
              <a:spcBef>
                <a:spcPts val="130"/>
              </a:spcBef>
            </a:pPr>
            <a:endParaRPr lang="en-IN" sz="2200" b="1" spc="235" dirty="0">
              <a:latin typeface="Calibri"/>
              <a:cs typeface="Calibri"/>
            </a:endParaRPr>
          </a:p>
          <a:p>
            <a:pPr marL="12700">
              <a:lnSpc>
                <a:spcPct val="100000"/>
              </a:lnSpc>
              <a:spcBef>
                <a:spcPts val="130"/>
              </a:spcBef>
            </a:pPr>
            <a:endParaRPr lang="en-IN" sz="2200" b="1" spc="235" dirty="0">
              <a:latin typeface="Calibri"/>
              <a:cs typeface="Calibri"/>
            </a:endParaRPr>
          </a:p>
          <a:p>
            <a:pPr marL="12700">
              <a:lnSpc>
                <a:spcPct val="100000"/>
              </a:lnSpc>
              <a:spcBef>
                <a:spcPts val="130"/>
              </a:spcBef>
            </a:pPr>
            <a:endParaRPr lang="en-IN" sz="2200" b="1" spc="235" dirty="0">
              <a:latin typeface="Calibri"/>
              <a:cs typeface="Calibri"/>
            </a:endParaRPr>
          </a:p>
          <a:p>
            <a:pPr marL="12700">
              <a:lnSpc>
                <a:spcPct val="100000"/>
              </a:lnSpc>
              <a:spcBef>
                <a:spcPts val="130"/>
              </a:spcBef>
            </a:pPr>
            <a:endParaRPr lang="en-IN" sz="2200" b="1" spc="235" dirty="0">
              <a:latin typeface="Calibri"/>
              <a:cs typeface="Calibri"/>
            </a:endParaRPr>
          </a:p>
          <a:p>
            <a:pPr marL="12700">
              <a:lnSpc>
                <a:spcPct val="100000"/>
              </a:lnSpc>
              <a:spcBef>
                <a:spcPts val="130"/>
              </a:spcBef>
            </a:pPr>
            <a:endParaRPr lang="en-IN" sz="2200" b="1" spc="235" dirty="0">
              <a:latin typeface="Calibri"/>
              <a:cs typeface="Calibri"/>
            </a:endParaRPr>
          </a:p>
          <a:p>
            <a:pPr marL="12700">
              <a:lnSpc>
                <a:spcPct val="100000"/>
              </a:lnSpc>
              <a:spcBef>
                <a:spcPts val="130"/>
              </a:spcBef>
            </a:pPr>
            <a:endParaRPr lang="en-IN" sz="2200" b="1" spc="235" dirty="0">
              <a:latin typeface="Calibri"/>
              <a:cs typeface="Calibri"/>
            </a:endParaRPr>
          </a:p>
          <a:p>
            <a:pPr marL="12700">
              <a:lnSpc>
                <a:spcPct val="100000"/>
              </a:lnSpc>
              <a:spcBef>
                <a:spcPts val="130"/>
              </a:spcBef>
            </a:pPr>
            <a:endParaRPr lang="en-IN" sz="2200" b="1" spc="235" dirty="0">
              <a:latin typeface="Calibri"/>
              <a:cs typeface="Calibri"/>
            </a:endParaRPr>
          </a:p>
          <a:p>
            <a:pPr marL="12700">
              <a:lnSpc>
                <a:spcPct val="100000"/>
              </a:lnSpc>
              <a:spcBef>
                <a:spcPts val="130"/>
              </a:spcBef>
            </a:pPr>
            <a:endParaRPr lang="en-IN" sz="2200" b="1" spc="235" dirty="0">
              <a:latin typeface="Calibri"/>
              <a:cs typeface="Calibri"/>
            </a:endParaRPr>
          </a:p>
          <a:p>
            <a:pPr marL="12700">
              <a:lnSpc>
                <a:spcPct val="100000"/>
              </a:lnSpc>
              <a:spcBef>
                <a:spcPts val="130"/>
              </a:spcBef>
            </a:pPr>
            <a:endParaRPr lang="en-IN" sz="2200" b="1" spc="235" dirty="0">
              <a:latin typeface="Calibri"/>
              <a:cs typeface="Calibri"/>
            </a:endParaRPr>
          </a:p>
          <a:p>
            <a:pPr marL="12700">
              <a:lnSpc>
                <a:spcPct val="100000"/>
              </a:lnSpc>
              <a:spcBef>
                <a:spcPts val="130"/>
              </a:spcBef>
            </a:pPr>
            <a:endParaRPr lang="en-IN" sz="2200" b="1" spc="235" dirty="0">
              <a:latin typeface="Calibri"/>
              <a:cs typeface="Calibri"/>
            </a:endParaRPr>
          </a:p>
          <a:p>
            <a:pPr marL="12700">
              <a:lnSpc>
                <a:spcPct val="100000"/>
              </a:lnSpc>
              <a:spcBef>
                <a:spcPts val="130"/>
              </a:spcBef>
            </a:pPr>
            <a:r>
              <a:rPr sz="2200" b="1" spc="235" dirty="0">
                <a:latin typeface="Calibri"/>
                <a:cs typeface="Calibri"/>
              </a:rPr>
              <a:t>Chapter</a:t>
            </a:r>
            <a:r>
              <a:rPr sz="2200" b="1" spc="365" dirty="0">
                <a:latin typeface="Calibri"/>
                <a:cs typeface="Calibri"/>
              </a:rPr>
              <a:t> </a:t>
            </a:r>
            <a:r>
              <a:rPr lang="en-IN" sz="2200" b="1" spc="80" dirty="0">
                <a:latin typeface="Calibri"/>
                <a:cs typeface="Calibri"/>
              </a:rPr>
              <a:t>5</a:t>
            </a:r>
            <a:endParaRPr sz="2200" dirty="0">
              <a:latin typeface="Calibri"/>
              <a:cs typeface="Calibri"/>
            </a:endParaRPr>
          </a:p>
          <a:p>
            <a:pPr marL="12700">
              <a:lnSpc>
                <a:spcPct val="100000"/>
              </a:lnSpc>
              <a:spcBef>
                <a:spcPts val="1845"/>
              </a:spcBef>
            </a:pPr>
            <a:r>
              <a:rPr sz="2200" b="1" spc="195" dirty="0">
                <a:latin typeface="Calibri"/>
                <a:cs typeface="Calibri"/>
              </a:rPr>
              <a:t>Conclusions</a:t>
            </a:r>
            <a:r>
              <a:rPr sz="2200" b="1" spc="350" dirty="0">
                <a:latin typeface="Calibri"/>
                <a:cs typeface="Calibri"/>
              </a:rPr>
              <a:t> </a:t>
            </a:r>
            <a:r>
              <a:rPr sz="2200" b="1" spc="180" dirty="0">
                <a:latin typeface="Calibri"/>
                <a:cs typeface="Calibri"/>
              </a:rPr>
              <a:t>and</a:t>
            </a:r>
            <a:r>
              <a:rPr sz="2200" b="1" spc="355" dirty="0">
                <a:latin typeface="Calibri"/>
                <a:cs typeface="Calibri"/>
              </a:rPr>
              <a:t> </a:t>
            </a:r>
            <a:r>
              <a:rPr sz="2200" b="1" spc="160" dirty="0">
                <a:latin typeface="Calibri"/>
                <a:cs typeface="Calibri"/>
              </a:rPr>
              <a:t>future</a:t>
            </a:r>
            <a:r>
              <a:rPr sz="2200" b="1" spc="350" dirty="0">
                <a:latin typeface="Calibri"/>
                <a:cs typeface="Calibri"/>
              </a:rPr>
              <a:t> </a:t>
            </a:r>
            <a:r>
              <a:rPr sz="2200" b="1" spc="120" dirty="0">
                <a:latin typeface="Calibri"/>
                <a:cs typeface="Calibri"/>
              </a:rPr>
              <a:t>scope</a:t>
            </a:r>
            <a:endParaRPr lang="en-IN" sz="2200" dirty="0">
              <a:latin typeface="Calibri"/>
              <a:cs typeface="Calibri"/>
            </a:endParaRPr>
          </a:p>
          <a:p>
            <a:pPr>
              <a:lnSpc>
                <a:spcPct val="100000"/>
              </a:lnSpc>
              <a:spcBef>
                <a:spcPts val="890"/>
              </a:spcBef>
            </a:pPr>
            <a:r>
              <a:rPr lang="en-IN" sz="2200" dirty="0">
                <a:latin typeface="Calibri"/>
                <a:cs typeface="Calibri"/>
              </a:rPr>
              <a:t> </a:t>
            </a:r>
            <a:r>
              <a:rPr lang="en-IN" sz="2400" dirty="0">
                <a:latin typeface="Calibri"/>
                <a:cs typeface="Calibri"/>
              </a:rPr>
              <a:t>5.1 Conclusion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Wingdings 2" panose="050201020105070707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YOLO-NAS can achieve higher accuracy and precision compared to manually designed models like YOLOv8, particularly on specialized or custom datasets.</a:t>
            </a:r>
          </a:p>
          <a:p>
            <a:pPr marL="342900" lvl="0" indent="-342900">
              <a:lnSpc>
                <a:spcPct val="107000"/>
              </a:lnSpc>
              <a:spcAft>
                <a:spcPts val="800"/>
              </a:spcAft>
              <a:buFont typeface="Wingdings 2" panose="050201020105070707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YOLO-NAS emerges as a superior choice due to its advanced Neural Architecture Search (NAS) capabilities.</a:t>
            </a:r>
          </a:p>
          <a:p>
            <a:pPr marL="342900" lvl="0" indent="-342900">
              <a:lnSpc>
                <a:spcPct val="107000"/>
              </a:lnSpc>
              <a:spcAft>
                <a:spcPts val="800"/>
              </a:spcAft>
              <a:buFont typeface="Wingdings 2" panose="050201020105070707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This technology allows for the development of highly optimized models that deliver better performance in specialized applications.</a:t>
            </a:r>
            <a:endParaRPr lang="en-IN" sz="2400" dirty="0">
              <a:latin typeface="Calibri"/>
              <a:cs typeface="Calibri"/>
            </a:endParaRPr>
          </a:p>
          <a:p>
            <a:pPr>
              <a:lnSpc>
                <a:spcPct val="100000"/>
              </a:lnSpc>
              <a:spcBef>
                <a:spcPts val="890"/>
              </a:spcBef>
            </a:pPr>
            <a:endParaRPr sz="2400" dirty="0">
              <a:latin typeface="Calibri"/>
              <a:cs typeface="Calibri"/>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19</a:t>
            </a:fld>
            <a:endParaRPr spc="-25" dirty="0"/>
          </a:p>
        </p:txBody>
      </p:sp>
      <p:pic>
        <p:nvPicPr>
          <p:cNvPr id="5" name="Picture 4">
            <a:extLst>
              <a:ext uri="{FF2B5EF4-FFF2-40B4-BE49-F238E27FC236}">
                <a16:creationId xmlns:a16="http://schemas.microsoft.com/office/drawing/2014/main" id="{B63E9155-B85E-C40C-4F9F-E0828CE53DF0}"/>
              </a:ext>
            </a:extLst>
          </p:cNvPr>
          <p:cNvPicPr>
            <a:picLocks noChangeAspect="1"/>
          </p:cNvPicPr>
          <p:nvPr/>
        </p:nvPicPr>
        <p:blipFill>
          <a:blip r:embed="rId2"/>
          <a:stretch>
            <a:fillRect/>
          </a:stretch>
        </p:blipFill>
        <p:spPr>
          <a:xfrm>
            <a:off x="1206501" y="1383975"/>
            <a:ext cx="4038600" cy="392944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4938FFC-1897-5A85-9294-A7471C75F9D0}"/>
              </a:ext>
            </a:extLst>
          </p:cNvPr>
          <p:cNvSpPr txBox="1"/>
          <p:nvPr/>
        </p:nvSpPr>
        <p:spPr>
          <a:xfrm>
            <a:off x="520700" y="968802"/>
            <a:ext cx="6553200" cy="8869416"/>
          </a:xfrm>
          <a:prstGeom prst="rect">
            <a:avLst/>
          </a:prstGeom>
        </p:spPr>
        <p:txBody>
          <a:bodyPr vert="horz" wrap="square" lIns="0" tIns="16510" rIns="0" bIns="0" rtlCol="0">
            <a:spAutoFit/>
          </a:bodyPr>
          <a:lstStyle/>
          <a:p>
            <a:pPr>
              <a:lnSpc>
                <a:spcPct val="100000"/>
              </a:lnSpc>
              <a:spcBef>
                <a:spcPts val="890"/>
              </a:spcBef>
            </a:pPr>
            <a:r>
              <a:rPr lang="en-IN" sz="2400" dirty="0">
                <a:latin typeface="Calibri"/>
                <a:cs typeface="Calibri"/>
              </a:rPr>
              <a:t>5.2  Future scope </a:t>
            </a:r>
          </a:p>
          <a:p>
            <a:pPr>
              <a:lnSpc>
                <a:spcPct val="100000"/>
              </a:lnSpc>
              <a:spcBef>
                <a:spcPts val="890"/>
              </a:spcBef>
            </a:pPr>
            <a:endParaRPr lang="en-IN" sz="2400" dirty="0">
              <a:latin typeface="Calibri"/>
              <a:cs typeface="Calibri"/>
            </a:endParaRPr>
          </a:p>
          <a:p>
            <a:pPr>
              <a:lnSpc>
                <a:spcPct val="107000"/>
              </a:lnSpc>
              <a:spcAft>
                <a:spcPts val="800"/>
              </a:spcAft>
            </a:pPr>
            <a:r>
              <a:rPr lang="en-IN" sz="2400" dirty="0">
                <a:latin typeface="Calibri"/>
                <a:cs typeface="Calibri"/>
              </a:rPr>
              <a:t>  </a:t>
            </a:r>
            <a:r>
              <a:rPr lang="en-IN" sz="1800" kern="0" dirty="0">
                <a:effectLst/>
                <a:latin typeface="Symbol" panose="05050102010706020507" pitchFamily="18" charset="2"/>
                <a:ea typeface="Times New Roman" panose="02020603050405020304" pitchFamily="18" charset="0"/>
                <a:cs typeface="Times New Roman" panose="02020603050405020304" pitchFamily="18" charset="0"/>
              </a:rPr>
              <a:t>·</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Improved Accuracy and Robustness</a:t>
            </a:r>
            <a:r>
              <a:rPr lang="en-IN" b="1"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 Future research will focus on developing even more accurate and robust detection algorithms. This includes tackling challenges like extreme weather conditions, complex lighting scenarios (e.g., glare, shadows), and occlusions from other vehicles or objects. Advancements in deep learning architectures and sensor fusion (combining camera data with LiDAR or radar) are promising avenues.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0" dirty="0">
                <a:effectLst/>
                <a:latin typeface="Symbol" panose="05050102010706020507" pitchFamily="18" charset="2"/>
                <a:ea typeface="Times New Roman" panose="02020603050405020304" pitchFamily="18" charset="0"/>
                <a:cs typeface="Times New Roman" panose="02020603050405020304" pitchFamily="18" charset="0"/>
              </a:rPr>
              <a:t>·</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Integration with V2X Communication: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Future systems could leverage Vehicle-to-Everything (V2X) communication to receive real-time traffic signal information directly from infrastructure. This would complement camera-based recognition and enhance reliability, especially at intersections with malfunctioning or obscured signals.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0" dirty="0">
                <a:effectLst/>
                <a:latin typeface="Symbol" panose="05050102010706020507" pitchFamily="18" charset="2"/>
                <a:ea typeface="Times New Roman" panose="02020603050405020304" pitchFamily="18" charset="0"/>
                <a:cs typeface="Times New Roman" panose="02020603050405020304" pitchFamily="18" charset="0"/>
              </a:rPr>
              <a:t>·</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Multi-Sensor Fusion and Contextual Awareness:</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The future may see the integration of additional sensors like LiDAR and radar to provide richer data for recognition. Additionally, incorporating contextual information, such as traffic flow patterns and historical data, could further improve decision-making for self-driving cars.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0" dirty="0">
                <a:effectLst/>
                <a:latin typeface="Symbol" panose="05050102010706020507" pitchFamily="18" charset="2"/>
                <a:ea typeface="Times New Roman" panose="02020603050405020304" pitchFamily="18" charset="0"/>
                <a:cs typeface="Times New Roman" panose="02020603050405020304" pitchFamily="18" charset="0"/>
              </a:rPr>
              <a:t>·</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Standardization and Regulations:</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As self-driving cars become closer to reality, standardization of traffic signal formats and regulations around real-time recognition systems will be crucial. This ensures consistent communication and reduces risks associated with variations across regions.</a:t>
            </a:r>
            <a:endParaRPr lang="en-IN"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IN" sz="2400" dirty="0">
              <a:latin typeface="Calibri"/>
              <a:cs typeface="Calibri"/>
            </a:endParaRPr>
          </a:p>
        </p:txBody>
      </p:sp>
    </p:spTree>
    <p:extLst>
      <p:ext uri="{BB962C8B-B14F-4D97-AF65-F5344CB8AC3E}">
        <p14:creationId xmlns:p14="http://schemas.microsoft.com/office/powerpoint/2010/main" val="1171593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DAA0EB4-49FA-8C27-77EB-08CF1042211A}"/>
              </a:ext>
            </a:extLst>
          </p:cNvPr>
          <p:cNvSpPr txBox="1"/>
          <p:nvPr/>
        </p:nvSpPr>
        <p:spPr>
          <a:xfrm>
            <a:off x="520700" y="968802"/>
            <a:ext cx="6553200" cy="7419532"/>
          </a:xfrm>
          <a:prstGeom prst="rect">
            <a:avLst/>
          </a:prstGeom>
        </p:spPr>
        <p:txBody>
          <a:bodyPr vert="horz" wrap="square" lIns="0" tIns="16510" rIns="0" bIns="0" rtlCol="0">
            <a:spAutoFit/>
          </a:bodyPr>
          <a:lstStyle/>
          <a:p>
            <a:pPr>
              <a:lnSpc>
                <a:spcPct val="100000"/>
              </a:lnSpc>
              <a:spcBef>
                <a:spcPts val="890"/>
              </a:spcBef>
            </a:pPr>
            <a:r>
              <a:rPr lang="en-IN" sz="2400" dirty="0">
                <a:latin typeface="Calibri"/>
                <a:cs typeface="Calibri"/>
              </a:rPr>
              <a:t>   References: </a:t>
            </a:r>
          </a:p>
          <a:p>
            <a:pPr>
              <a:lnSpc>
                <a:spcPct val="100000"/>
              </a:lnSpc>
              <a:spcBef>
                <a:spcPts val="890"/>
              </a:spcBef>
            </a:pPr>
            <a:endParaRPr lang="en-IN" sz="2400" dirty="0">
              <a:latin typeface="Calibri"/>
              <a:cs typeface="Calibri"/>
            </a:endParaRPr>
          </a:p>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Mark Philip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Philipsen</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”Traffic Light Detection: A Learning Algorithm and Evaluations on Challenging Dataset”, 2015 IEEE 18th International Conference on Intelligent Transportation Systems. [1]</a:t>
            </a:r>
          </a:p>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Trung-Hieu Nguyen, ”A Lightweight Model For Real-time Traffic Sign Recognition”, 2020 5th International Conference on Green Technology and Sustainable Development (GTSD). [2]</a:t>
            </a:r>
          </a:p>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Noor Hussain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Sarhan</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”Traffic light Detection using OpenCV and YOLO”, 2022 Interna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tional</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Conference on Innovation and Intelligence for Informatics, Computing, and Technologies (3ICT). [3] </a:t>
            </a:r>
          </a:p>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Amara Dinesh Kumar, ”Novel Deep Learning Model for Traffic Sign Detection Using Cap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sule</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Networks,”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CoRR</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vol. abs/1805.04424, 2018. [4] </a:t>
            </a:r>
          </a:p>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Fatma Nur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Ortata</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s, ”Performance Evaluation of YOLOv5, YOLOv7, and YOLOv8 Models in Traffic Sign Detection”, 2023 8th International Conference on Computer Science and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Engi</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neering</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(UBMK). [5] </a:t>
            </a:r>
          </a:p>
          <a:p>
            <a:pPr>
              <a:lnSpc>
                <a:spcPct val="107000"/>
              </a:lnSpc>
              <a:spcAft>
                <a:spcPts val="800"/>
              </a:spcAft>
            </a:pP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Abdellah</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Nabou</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”Road Signs Recognition by Using YOLOv8 Model”, 2023 14th Interna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tional</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Conference on Intelligent Systems: Theories and Applications (SITA). [6]</a:t>
            </a:r>
            <a:endParaRPr lang="en-IN" sz="16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sz="2400" dirty="0">
              <a:latin typeface="Calibri"/>
              <a:cs typeface="Calibri"/>
            </a:endParaRPr>
          </a:p>
        </p:txBody>
      </p:sp>
    </p:spTree>
    <p:extLst>
      <p:ext uri="{BB962C8B-B14F-4D97-AF65-F5344CB8AC3E}">
        <p14:creationId xmlns:p14="http://schemas.microsoft.com/office/powerpoint/2010/main" val="2188221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1185</TotalTime>
  <Words>2766</Words>
  <Application>Microsoft Office PowerPoint</Application>
  <PresentationFormat>Custom</PresentationFormat>
  <Paragraphs>247</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Google Sans</vt:lpstr>
      <vt:lpstr>Symbol</vt:lpstr>
      <vt:lpstr>Times New Roman</vt:lpstr>
      <vt:lpstr>Wingdings 2</vt:lpstr>
      <vt:lpstr>Office Theme</vt:lpstr>
      <vt:lpstr>PowerPoint Presentation</vt:lpstr>
      <vt:lpstr>PowerPoint Presentation</vt:lpstr>
      <vt:lpstr>PowerPoint Presentation</vt:lpstr>
      <vt:lpstr>PowerPoint Presentation</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divyasalmani25@outlook.com</cp:lastModifiedBy>
  <cp:revision>3</cp:revision>
  <dcterms:created xsi:type="dcterms:W3CDTF">2024-06-04T10:08:08Z</dcterms:created>
  <dcterms:modified xsi:type="dcterms:W3CDTF">2024-06-10T10:56:50Z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2024-01-16T00:00:00Z</vt:filetime>
  </property>
  <property fmtid="{D5CDD505-2E9C-101B-9397-08002B2CF9AE}" pid="3" name="Creator">
    <vt:lpwstr>LaTeX with hyperref</vt:lpwstr>
  </property>
  <property fmtid="{D5CDD505-2E9C-101B-9397-08002B2CF9AE}" pid="4" name="LastSaved">
    <vt:filetime>2024-06-04T00:00:00Z</vt:filetime>
  </property>
  <property fmtid="{D5CDD505-2E9C-101B-9397-08002B2CF9AE}" pid="5" name="PTEX.Fullbanner">
    <vt:lpwstr>This is MiKTeX-pdfTeX 4.0.1 (1.40.21)</vt:lpwstr>
  </property>
  <property fmtid="{D5CDD505-2E9C-101B-9397-08002B2CF9AE}" pid="6" name="Producer">
    <vt:lpwstr>MiKTeX pdfTeX-1.40.21</vt:lpwstr>
  </property>
</Properties>
</file>