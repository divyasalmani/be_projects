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60" r:id="rId5"/>
    <p:sldId id="263" r:id="rId6"/>
    <p:sldId id="273" r:id="rId7"/>
    <p:sldId id="274" r:id="rId8"/>
    <p:sldId id="275" r:id="rId9"/>
    <p:sldId id="276" r:id="rId10"/>
    <p:sldId id="277" r:id="rId11"/>
    <p:sldId id="278" r:id="rId12"/>
    <p:sldId id="272" r:id="rId13"/>
    <p:sldId id="279" r:id="rId14"/>
    <p:sldId id="280" r:id="rId15"/>
    <p:sldId id="281" r:id="rId16"/>
    <p:sldId id="283" r:id="rId17"/>
    <p:sldId id="269" r:id="rId18"/>
    <p:sldId id="270" r:id="rId19"/>
    <p:sldId id="282" r:id="rId20"/>
    <p:sldId id="284" r:id="rId21"/>
  </p:sldIdLst>
  <p:sldSz cx="7594600" cy="10699750"/>
  <p:notesSz cx="7594600" cy="10699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4660"/>
  </p:normalViewPr>
  <p:slideViewPr>
    <p:cSldViewPr>
      <p:cViewPr varScale="1">
        <p:scale>
          <a:sx n="63" d="100"/>
          <a:sy n="63" d="100"/>
        </p:scale>
        <p:origin x="2381"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90888"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302125" y="0"/>
            <a:ext cx="3290888" cy="536575"/>
          </a:xfrm>
          <a:prstGeom prst="rect">
            <a:avLst/>
          </a:prstGeom>
        </p:spPr>
        <p:txBody>
          <a:bodyPr vert="horz" lIns="91440" tIns="45720" rIns="91440" bIns="45720" rtlCol="0"/>
          <a:lstStyle>
            <a:lvl1pPr algn="r">
              <a:defRPr sz="1200"/>
            </a:lvl1pPr>
          </a:lstStyle>
          <a:p>
            <a:fld id="{80DA5C52-8352-4610-BDEF-C29FF1E48F7E}" type="datetimeFigureOut">
              <a:rPr lang="en-IN" smtClean="0"/>
              <a:t>19-06-2024</a:t>
            </a:fld>
            <a:endParaRPr lang="en-IN"/>
          </a:p>
        </p:txBody>
      </p:sp>
      <p:sp>
        <p:nvSpPr>
          <p:cNvPr id="4" name="Slide Image Placeholder 3"/>
          <p:cNvSpPr>
            <a:spLocks noGrp="1" noRot="1" noChangeAspect="1"/>
          </p:cNvSpPr>
          <p:nvPr>
            <p:ph type="sldImg" idx="2"/>
          </p:nvPr>
        </p:nvSpPr>
        <p:spPr>
          <a:xfrm>
            <a:off x="2516188" y="1338263"/>
            <a:ext cx="2562225" cy="3609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8825" y="5149850"/>
            <a:ext cx="6076950" cy="42132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63175"/>
            <a:ext cx="3290888"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302125" y="10163175"/>
            <a:ext cx="3290888" cy="536575"/>
          </a:xfrm>
          <a:prstGeom prst="rect">
            <a:avLst/>
          </a:prstGeom>
        </p:spPr>
        <p:txBody>
          <a:bodyPr vert="horz" lIns="91440" tIns="45720" rIns="91440" bIns="45720" rtlCol="0" anchor="b"/>
          <a:lstStyle>
            <a:lvl1pPr algn="r">
              <a:defRPr sz="1200"/>
            </a:lvl1pPr>
          </a:lstStyle>
          <a:p>
            <a:fld id="{9CDEE2FD-AEF0-484D-9562-FBD3A9B63FD9}" type="slidenum">
              <a:rPr lang="en-IN" smtClean="0"/>
              <a:t>‹#›</a:t>
            </a:fld>
            <a:endParaRPr lang="en-IN"/>
          </a:p>
        </p:txBody>
      </p:sp>
    </p:spTree>
    <p:extLst>
      <p:ext uri="{BB962C8B-B14F-4D97-AF65-F5344CB8AC3E}">
        <p14:creationId xmlns:p14="http://schemas.microsoft.com/office/powerpoint/2010/main" val="1796637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DEE2FD-AEF0-484D-9562-FBD3A9B63FD9}" type="slidenum">
              <a:rPr lang="en-IN" smtClean="0"/>
              <a:t>15</a:t>
            </a:fld>
            <a:endParaRPr lang="en-IN"/>
          </a:p>
        </p:txBody>
      </p:sp>
    </p:spTree>
    <p:extLst>
      <p:ext uri="{BB962C8B-B14F-4D97-AF65-F5344CB8AC3E}">
        <p14:creationId xmlns:p14="http://schemas.microsoft.com/office/powerpoint/2010/main" val="1291636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9595" y="3316922"/>
            <a:ext cx="6455410" cy="2246947"/>
          </a:xfrm>
          <a:prstGeom prst="rect">
            <a:avLst/>
          </a:prstGeom>
        </p:spPr>
        <p:txBody>
          <a:bodyPr wrap="square" lIns="0" tIns="0" rIns="0" bIns="0">
            <a:spAutoFit/>
          </a:bodyPr>
          <a:lstStyle>
            <a:lvl1pPr>
              <a:defRPr sz="22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139190" y="5991860"/>
            <a:ext cx="5316220" cy="26749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6/19/2024</a:t>
            </a:fld>
            <a:endParaRPr lang="en-US"/>
          </a:p>
        </p:txBody>
      </p:sp>
      <p:sp>
        <p:nvSpPr>
          <p:cNvPr id="6" name="Holder 6"/>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6/19/2024</a:t>
            </a:fld>
            <a:endParaRPr lang="en-US"/>
          </a:p>
        </p:txBody>
      </p:sp>
      <p:sp>
        <p:nvSpPr>
          <p:cNvPr id="6" name="Holder 6"/>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a:cs typeface="Calibri"/>
              </a:defRPr>
            </a:lvl1pPr>
          </a:lstStyle>
          <a:p>
            <a:endParaRPr/>
          </a:p>
        </p:txBody>
      </p:sp>
      <p:sp>
        <p:nvSpPr>
          <p:cNvPr id="3" name="Holder 3"/>
          <p:cNvSpPr>
            <a:spLocks noGrp="1"/>
          </p:cNvSpPr>
          <p:nvPr>
            <p:ph sz="half" idx="2"/>
          </p:nvPr>
        </p:nvSpPr>
        <p:spPr>
          <a:xfrm>
            <a:off x="379730" y="2460942"/>
            <a:ext cx="3303651"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911219" y="2460942"/>
            <a:ext cx="3303651" cy="706183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6/19/2024</a:t>
            </a:fld>
            <a:endParaRPr lang="en-US"/>
          </a:p>
        </p:txBody>
      </p:sp>
      <p:sp>
        <p:nvSpPr>
          <p:cNvPr id="7" name="Holder 7"/>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6/19/2024</a:t>
            </a:fld>
            <a:endParaRPr lang="en-US"/>
          </a:p>
        </p:txBody>
      </p:sp>
      <p:sp>
        <p:nvSpPr>
          <p:cNvPr id="5" name="Holder 5"/>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6/19/2024</a:t>
            </a:fld>
            <a:endParaRPr lang="en-US"/>
          </a:p>
        </p:txBody>
      </p:sp>
      <p:sp>
        <p:nvSpPr>
          <p:cNvPr id="4" name="Holder 4"/>
          <p:cNvSpPr>
            <a:spLocks noGrp="1"/>
          </p:cNvSpPr>
          <p:nvPr>
            <p:ph type="sldNum" sz="quarter" idx="7"/>
          </p:nvPr>
        </p:nvSpPr>
        <p:spPr/>
        <p:txBody>
          <a:bodyPr lIns="0" tIns="0" rIns="0" bIns="0"/>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77242" y="531639"/>
            <a:ext cx="6835140" cy="9635490"/>
          </a:xfrm>
          <a:custGeom>
            <a:avLst/>
            <a:gdLst/>
            <a:ahLst/>
            <a:cxnLst/>
            <a:rect l="l" t="t" r="r" b="b"/>
            <a:pathLst>
              <a:path w="6835140" h="9635490">
                <a:moveTo>
                  <a:pt x="0" y="9635065"/>
                </a:moveTo>
                <a:lnTo>
                  <a:pt x="6835136" y="9635065"/>
                </a:lnTo>
                <a:lnTo>
                  <a:pt x="6835136" y="0"/>
                </a:lnTo>
                <a:lnTo>
                  <a:pt x="0" y="0"/>
                </a:lnTo>
                <a:lnTo>
                  <a:pt x="0" y="9635065"/>
                </a:lnTo>
                <a:close/>
              </a:path>
            </a:pathLst>
          </a:custGeom>
          <a:ln w="34184">
            <a:solidFill>
              <a:srgbClr val="000000"/>
            </a:solidFill>
          </a:ln>
        </p:spPr>
        <p:txBody>
          <a:bodyPr wrap="square" lIns="0" tIns="0" rIns="0" bIns="0" rtlCol="0"/>
          <a:lstStyle/>
          <a:p>
            <a:endParaRPr/>
          </a:p>
        </p:txBody>
      </p:sp>
      <p:sp>
        <p:nvSpPr>
          <p:cNvPr id="2" name="Holder 2"/>
          <p:cNvSpPr>
            <a:spLocks noGrp="1"/>
          </p:cNvSpPr>
          <p:nvPr>
            <p:ph type="title"/>
          </p:nvPr>
        </p:nvSpPr>
        <p:spPr>
          <a:xfrm>
            <a:off x="1188041" y="2107385"/>
            <a:ext cx="1271270" cy="365760"/>
          </a:xfrm>
          <a:prstGeom prst="rect">
            <a:avLst/>
          </a:prstGeom>
        </p:spPr>
        <p:txBody>
          <a:bodyPr wrap="square" lIns="0" tIns="0" rIns="0" bIns="0">
            <a:spAutoFit/>
          </a:bodyPr>
          <a:lstStyle>
            <a:lvl1pPr>
              <a:defRPr sz="2200" b="1" i="0">
                <a:solidFill>
                  <a:schemeClr val="tx1"/>
                </a:solidFill>
                <a:latin typeface="Calibri"/>
                <a:cs typeface="Calibri"/>
              </a:defRPr>
            </a:lvl1pPr>
          </a:lstStyle>
          <a:p>
            <a:endParaRPr/>
          </a:p>
        </p:txBody>
      </p:sp>
      <p:sp>
        <p:nvSpPr>
          <p:cNvPr id="3" name="Holder 3"/>
          <p:cNvSpPr>
            <a:spLocks noGrp="1"/>
          </p:cNvSpPr>
          <p:nvPr>
            <p:ph type="body" idx="1"/>
          </p:nvPr>
        </p:nvSpPr>
        <p:spPr>
          <a:xfrm>
            <a:off x="379730" y="2460942"/>
            <a:ext cx="6835140"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82164" y="9950768"/>
            <a:ext cx="2430272" cy="53498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9730" y="9950768"/>
            <a:ext cx="1746758" cy="53498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6/19/2024</a:t>
            </a:fld>
            <a:endParaRPr lang="en-US"/>
          </a:p>
        </p:txBody>
      </p:sp>
      <p:sp>
        <p:nvSpPr>
          <p:cNvPr id="6" name="Holder 6"/>
          <p:cNvSpPr>
            <a:spLocks noGrp="1"/>
          </p:cNvSpPr>
          <p:nvPr>
            <p:ph type="sldNum" sz="quarter" idx="7"/>
          </p:nvPr>
        </p:nvSpPr>
        <p:spPr>
          <a:xfrm>
            <a:off x="3689721" y="9569796"/>
            <a:ext cx="222885" cy="162559"/>
          </a:xfrm>
          <a:prstGeom prst="rect">
            <a:avLst/>
          </a:prstGeom>
        </p:spPr>
        <p:txBody>
          <a:bodyPr wrap="square" lIns="0" tIns="0" rIns="0" bIns="0">
            <a:spAutoFit/>
          </a:bodyPr>
          <a:lstStyle>
            <a:lvl1pPr>
              <a:defRPr sz="1050" b="0" i="0">
                <a:solidFill>
                  <a:schemeClr val="tx1"/>
                </a:solidFill>
                <a:latin typeface="Calibri"/>
                <a:cs typeface="Calibri"/>
              </a:defRPr>
            </a:lvl1pPr>
          </a:lstStyle>
          <a:p>
            <a:pPr marL="38100">
              <a:lnSpc>
                <a:spcPts val="112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00741" y="1355266"/>
            <a:ext cx="5188162" cy="1224046"/>
          </a:xfrm>
          <a:prstGeom prst="rect">
            <a:avLst/>
          </a:prstGeom>
        </p:spPr>
      </p:pic>
      <p:sp>
        <p:nvSpPr>
          <p:cNvPr id="3" name="object 3"/>
          <p:cNvSpPr txBox="1"/>
          <p:nvPr/>
        </p:nvSpPr>
        <p:spPr>
          <a:xfrm>
            <a:off x="1583401" y="2848290"/>
            <a:ext cx="4346575" cy="2663806"/>
          </a:xfrm>
          <a:prstGeom prst="rect">
            <a:avLst/>
          </a:prstGeom>
        </p:spPr>
        <p:txBody>
          <a:bodyPr vert="horz" wrap="square" lIns="0" tIns="12700" rIns="0" bIns="0" rtlCol="0">
            <a:spAutoFit/>
          </a:bodyPr>
          <a:lstStyle/>
          <a:p>
            <a:pPr marL="76200" algn="ctr">
              <a:lnSpc>
                <a:spcPts val="1580"/>
              </a:lnSpc>
              <a:spcBef>
                <a:spcPts val="100"/>
              </a:spcBef>
            </a:pPr>
            <a:r>
              <a:rPr sz="2000" b="1" spc="100" dirty="0">
                <a:latin typeface="Calibri"/>
                <a:cs typeface="Calibri"/>
              </a:rPr>
              <a:t>School</a:t>
            </a:r>
            <a:r>
              <a:rPr sz="2000" b="1" spc="254" dirty="0">
                <a:latin typeface="Calibri"/>
                <a:cs typeface="Calibri"/>
              </a:rPr>
              <a:t> </a:t>
            </a:r>
            <a:r>
              <a:rPr sz="2000" b="1" spc="-35" dirty="0">
                <a:latin typeface="Calibri"/>
                <a:cs typeface="Calibri"/>
              </a:rPr>
              <a:t>of</a:t>
            </a:r>
            <a:endParaRPr sz="2000" dirty="0">
              <a:latin typeface="Calibri"/>
              <a:cs typeface="Calibri"/>
            </a:endParaRPr>
          </a:p>
          <a:p>
            <a:pPr algn="ctr">
              <a:lnSpc>
                <a:spcPts val="1580"/>
              </a:lnSpc>
            </a:pPr>
            <a:r>
              <a:rPr sz="2000" b="1" spc="125" dirty="0">
                <a:latin typeface="Calibri"/>
                <a:cs typeface="Calibri"/>
              </a:rPr>
              <a:t>Electronics</a:t>
            </a:r>
            <a:r>
              <a:rPr sz="2000" b="1" spc="235" dirty="0">
                <a:latin typeface="Calibri"/>
                <a:cs typeface="Calibri"/>
              </a:rPr>
              <a:t> </a:t>
            </a:r>
            <a:r>
              <a:rPr sz="2000" b="1" spc="110" dirty="0">
                <a:latin typeface="Calibri"/>
                <a:cs typeface="Calibri"/>
              </a:rPr>
              <a:t>and</a:t>
            </a:r>
            <a:r>
              <a:rPr sz="2000" b="1" spc="240" dirty="0">
                <a:latin typeface="Calibri"/>
                <a:cs typeface="Calibri"/>
              </a:rPr>
              <a:t> </a:t>
            </a:r>
            <a:r>
              <a:rPr sz="2000" b="1" spc="135" dirty="0">
                <a:latin typeface="Calibri"/>
                <a:cs typeface="Calibri"/>
              </a:rPr>
              <a:t>Communication</a:t>
            </a:r>
            <a:r>
              <a:rPr sz="2000" b="1" spc="240" dirty="0">
                <a:latin typeface="Calibri"/>
                <a:cs typeface="Calibri"/>
              </a:rPr>
              <a:t> </a:t>
            </a:r>
            <a:r>
              <a:rPr sz="2000" b="1" spc="120" dirty="0">
                <a:latin typeface="Calibri"/>
                <a:cs typeface="Calibri"/>
              </a:rPr>
              <a:t>Engineering</a:t>
            </a:r>
            <a:endParaRPr sz="2000" dirty="0">
              <a:latin typeface="Calibri"/>
              <a:cs typeface="Calibri"/>
            </a:endParaRPr>
          </a:p>
          <a:p>
            <a:pPr>
              <a:lnSpc>
                <a:spcPct val="100000"/>
              </a:lnSpc>
            </a:pPr>
            <a:endParaRPr sz="2000" dirty="0">
              <a:latin typeface="Calibri"/>
              <a:cs typeface="Calibri"/>
            </a:endParaRPr>
          </a:p>
          <a:p>
            <a:pPr>
              <a:lnSpc>
                <a:spcPct val="100000"/>
              </a:lnSpc>
              <a:spcBef>
                <a:spcPts val="725"/>
              </a:spcBef>
            </a:pPr>
            <a:endParaRPr sz="2000" dirty="0">
              <a:latin typeface="Calibri"/>
              <a:cs typeface="Calibri"/>
            </a:endParaRPr>
          </a:p>
          <a:p>
            <a:pPr marL="1171575" marR="1161415" algn="ctr">
              <a:lnSpc>
                <a:spcPct val="138600"/>
              </a:lnSpc>
            </a:pPr>
            <a:r>
              <a:rPr sz="2000" b="1" spc="160" dirty="0">
                <a:latin typeface="Calibri"/>
                <a:cs typeface="Calibri"/>
              </a:rPr>
              <a:t>M</a:t>
            </a:r>
            <a:r>
              <a:rPr lang="en-US" sz="2000" b="1" spc="160" dirty="0">
                <a:latin typeface="Calibri"/>
                <a:cs typeface="Calibri"/>
              </a:rPr>
              <a:t>inor</a:t>
            </a:r>
            <a:r>
              <a:rPr sz="2000" b="1" spc="229" dirty="0">
                <a:latin typeface="Calibri"/>
                <a:cs typeface="Calibri"/>
              </a:rPr>
              <a:t> </a:t>
            </a:r>
            <a:r>
              <a:rPr sz="2000" b="1" spc="150" dirty="0">
                <a:latin typeface="Calibri"/>
                <a:cs typeface="Calibri"/>
              </a:rPr>
              <a:t>Project</a:t>
            </a:r>
            <a:r>
              <a:rPr sz="2000" b="1" spc="235" dirty="0">
                <a:latin typeface="Calibri"/>
                <a:cs typeface="Calibri"/>
              </a:rPr>
              <a:t> </a:t>
            </a:r>
            <a:r>
              <a:rPr sz="2000" b="1" spc="145" dirty="0">
                <a:latin typeface="Calibri"/>
                <a:cs typeface="Calibri"/>
              </a:rPr>
              <a:t>Report </a:t>
            </a:r>
            <a:r>
              <a:rPr sz="2000" b="1" spc="50" dirty="0">
                <a:latin typeface="Calibri"/>
                <a:cs typeface="Calibri"/>
              </a:rPr>
              <a:t>on</a:t>
            </a:r>
            <a:endParaRPr sz="2000" dirty="0">
              <a:latin typeface="Calibri"/>
              <a:cs typeface="Calibri"/>
            </a:endParaRPr>
          </a:p>
          <a:p>
            <a:pPr marL="74930" algn="ctr">
              <a:lnSpc>
                <a:spcPct val="100000"/>
              </a:lnSpc>
              <a:spcBef>
                <a:spcPts val="1250"/>
              </a:spcBef>
            </a:pPr>
            <a:r>
              <a:rPr lang="en-US" sz="2000" b="1" spc="455" dirty="0">
                <a:latin typeface="Calibri"/>
                <a:cs typeface="Calibri"/>
              </a:rPr>
              <a:t>SOLAR CHARGING SYSTEM</a:t>
            </a:r>
            <a:endParaRPr sz="200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a:t>
            </a:fld>
            <a:endParaRPr spc="-25" dirty="0"/>
          </a:p>
        </p:txBody>
      </p:sp>
      <p:graphicFrame>
        <p:nvGraphicFramePr>
          <p:cNvPr id="4" name="object 4"/>
          <p:cNvGraphicFramePr>
            <a:graphicFrameLocks noGrp="1"/>
          </p:cNvGraphicFramePr>
          <p:nvPr>
            <p:extLst>
              <p:ext uri="{D42A27DB-BD31-4B8C-83A1-F6EECF244321}">
                <p14:modId xmlns:p14="http://schemas.microsoft.com/office/powerpoint/2010/main" val="2690833354"/>
              </p:ext>
            </p:extLst>
          </p:nvPr>
        </p:nvGraphicFramePr>
        <p:xfrm>
          <a:off x="994733" y="5781074"/>
          <a:ext cx="5523910" cy="1598025"/>
        </p:xfrm>
        <a:graphic>
          <a:graphicData uri="http://schemas.openxmlformats.org/drawingml/2006/table">
            <a:tbl>
              <a:tblPr firstRow="1" bandRow="1">
                <a:tableStyleId>{2D5ABB26-0587-4C30-8999-92F81FD0307C}</a:tableStyleId>
              </a:tblPr>
              <a:tblGrid>
                <a:gridCol w="748134">
                  <a:extLst>
                    <a:ext uri="{9D8B030D-6E8A-4147-A177-3AD203B41FA5}">
                      <a16:colId xmlns:a16="http://schemas.microsoft.com/office/drawing/2014/main" val="20000"/>
                    </a:ext>
                  </a:extLst>
                </a:gridCol>
                <a:gridCol w="3071061">
                  <a:extLst>
                    <a:ext uri="{9D8B030D-6E8A-4147-A177-3AD203B41FA5}">
                      <a16:colId xmlns:a16="http://schemas.microsoft.com/office/drawing/2014/main" val="20001"/>
                    </a:ext>
                  </a:extLst>
                </a:gridCol>
                <a:gridCol w="1704715">
                  <a:extLst>
                    <a:ext uri="{9D8B030D-6E8A-4147-A177-3AD203B41FA5}">
                      <a16:colId xmlns:a16="http://schemas.microsoft.com/office/drawing/2014/main" val="20002"/>
                    </a:ext>
                  </a:extLst>
                </a:gridCol>
              </a:tblGrid>
              <a:tr h="309278">
                <a:tc>
                  <a:txBody>
                    <a:bodyPr/>
                    <a:lstStyle/>
                    <a:p>
                      <a:pPr marR="60325" algn="r">
                        <a:lnSpc>
                          <a:spcPts val="1019"/>
                        </a:lnSpc>
                      </a:pPr>
                      <a:r>
                        <a:rPr sz="1400" b="1" spc="125" dirty="0">
                          <a:latin typeface="Calibri"/>
                          <a:cs typeface="Calibri"/>
                        </a:rPr>
                        <a:t>By:</a:t>
                      </a:r>
                      <a:endParaRPr sz="1400" dirty="0">
                        <a:latin typeface="Calibri"/>
                        <a:cs typeface="Calibri"/>
                      </a:endParaRPr>
                    </a:p>
                  </a:txBody>
                  <a:tcPr marL="0" marR="0" marT="0" marB="0"/>
                </a:tc>
                <a:tc gridSpan="2">
                  <a:txBody>
                    <a:bodyPr/>
                    <a:lstStyle/>
                    <a:p>
                      <a:pPr>
                        <a:lnSpc>
                          <a:spcPct val="100000"/>
                        </a:lnSpc>
                      </a:pPr>
                      <a:endParaRPr sz="1400" dirty="0">
                        <a:latin typeface="Times New Roman"/>
                        <a:cs typeface="Times New Roman"/>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45529">
                <a:tc>
                  <a:txBody>
                    <a:bodyPr/>
                    <a:lstStyle/>
                    <a:p>
                      <a:pPr marR="25400" algn="r">
                        <a:lnSpc>
                          <a:spcPct val="100000"/>
                        </a:lnSpc>
                        <a:spcBef>
                          <a:spcPts val="305"/>
                        </a:spcBef>
                      </a:pPr>
                      <a:r>
                        <a:rPr sz="1400" spc="-25" dirty="0">
                          <a:latin typeface="Calibri"/>
                          <a:cs typeface="Calibri"/>
                        </a:rPr>
                        <a:t>1.</a:t>
                      </a:r>
                      <a:endParaRPr sz="1400">
                        <a:latin typeface="Calibri"/>
                        <a:cs typeface="Calibri"/>
                      </a:endParaRPr>
                    </a:p>
                  </a:txBody>
                  <a:tcPr marL="0" marR="0" marT="38735" marB="0"/>
                </a:tc>
                <a:tc>
                  <a:txBody>
                    <a:bodyPr/>
                    <a:lstStyle/>
                    <a:p>
                      <a:pPr marL="33020">
                        <a:lnSpc>
                          <a:spcPct val="100000"/>
                        </a:lnSpc>
                        <a:spcBef>
                          <a:spcPts val="305"/>
                        </a:spcBef>
                      </a:pPr>
                      <a:r>
                        <a:rPr lang="en-US" sz="1400" b="1" spc="105" dirty="0" err="1">
                          <a:latin typeface="Calibri"/>
                          <a:cs typeface="Calibri"/>
                        </a:rPr>
                        <a:t>Chandan.R</a:t>
                      </a:r>
                      <a:endParaRPr sz="1400" dirty="0">
                        <a:latin typeface="Calibri"/>
                        <a:cs typeface="Calibri"/>
                      </a:endParaRPr>
                    </a:p>
                  </a:txBody>
                  <a:tcPr marL="0" marR="0" marT="38735" marB="0"/>
                </a:tc>
                <a:tc>
                  <a:txBody>
                    <a:bodyPr/>
                    <a:lstStyle/>
                    <a:p>
                      <a:pPr marR="24130" algn="r">
                        <a:lnSpc>
                          <a:spcPct val="100000"/>
                        </a:lnSpc>
                        <a:spcBef>
                          <a:spcPts val="305"/>
                        </a:spcBef>
                      </a:pPr>
                      <a:r>
                        <a:rPr sz="1400" spc="55" dirty="0">
                          <a:latin typeface="Calibri"/>
                          <a:cs typeface="Calibri"/>
                        </a:rPr>
                        <a:t>USN:</a:t>
                      </a:r>
                      <a:r>
                        <a:rPr lang="en-US" sz="1400" spc="55" dirty="0">
                          <a:latin typeface="Calibri"/>
                          <a:cs typeface="Calibri"/>
                        </a:rPr>
                        <a:t>01FE21BEC038</a:t>
                      </a:r>
                      <a:endParaRPr sz="1400" dirty="0">
                        <a:latin typeface="Calibri"/>
                        <a:cs typeface="Calibri"/>
                      </a:endParaRPr>
                    </a:p>
                  </a:txBody>
                  <a:tcPr marL="0" marR="0" marT="38735" marB="0"/>
                </a:tc>
                <a:extLst>
                  <a:ext uri="{0D108BD9-81ED-4DB2-BD59-A6C34878D82A}">
                    <a16:rowId xmlns:a16="http://schemas.microsoft.com/office/drawing/2014/main" val="10001"/>
                  </a:ext>
                </a:extLst>
              </a:tr>
              <a:tr h="342121">
                <a:tc>
                  <a:txBody>
                    <a:bodyPr/>
                    <a:lstStyle/>
                    <a:p>
                      <a:pPr marR="25400" algn="r">
                        <a:lnSpc>
                          <a:spcPct val="100000"/>
                        </a:lnSpc>
                        <a:spcBef>
                          <a:spcPts val="275"/>
                        </a:spcBef>
                      </a:pPr>
                      <a:r>
                        <a:rPr sz="1400" spc="-25" dirty="0">
                          <a:latin typeface="Calibri"/>
                          <a:cs typeface="Calibri"/>
                        </a:rPr>
                        <a:t>2.</a:t>
                      </a:r>
                      <a:endParaRPr sz="1400">
                        <a:latin typeface="Calibri"/>
                        <a:cs typeface="Calibri"/>
                      </a:endParaRPr>
                    </a:p>
                  </a:txBody>
                  <a:tcPr marL="0" marR="0" marT="34925" marB="0"/>
                </a:tc>
                <a:tc>
                  <a:txBody>
                    <a:bodyPr/>
                    <a:lstStyle/>
                    <a:p>
                      <a:pPr marL="33020">
                        <a:lnSpc>
                          <a:spcPct val="100000"/>
                        </a:lnSpc>
                        <a:spcBef>
                          <a:spcPts val="275"/>
                        </a:spcBef>
                      </a:pPr>
                      <a:r>
                        <a:rPr lang="en-US" sz="1400" b="1" spc="105" dirty="0" err="1">
                          <a:latin typeface="Calibri"/>
                          <a:cs typeface="Calibri"/>
                        </a:rPr>
                        <a:t>Divya.R.Salmani</a:t>
                      </a:r>
                      <a:endParaRPr sz="1400" dirty="0">
                        <a:latin typeface="Calibri"/>
                        <a:cs typeface="Calibri"/>
                      </a:endParaRPr>
                    </a:p>
                  </a:txBody>
                  <a:tcPr marL="0" marR="0" marT="34925" marB="0"/>
                </a:tc>
                <a:tc>
                  <a:txBody>
                    <a:bodyPr/>
                    <a:lstStyle/>
                    <a:p>
                      <a:pPr marR="24130" algn="r">
                        <a:lnSpc>
                          <a:spcPct val="100000"/>
                        </a:lnSpc>
                        <a:spcBef>
                          <a:spcPts val="275"/>
                        </a:spcBef>
                      </a:pPr>
                      <a:r>
                        <a:rPr sz="1400" spc="55" dirty="0">
                          <a:latin typeface="Calibri"/>
                          <a:cs typeface="Calibri"/>
                        </a:rPr>
                        <a:t>USN:</a:t>
                      </a:r>
                      <a:r>
                        <a:rPr lang="en-US" sz="1400" spc="55" dirty="0">
                          <a:latin typeface="Calibri"/>
                          <a:cs typeface="Calibri"/>
                        </a:rPr>
                        <a:t>01FE21BEC013</a:t>
                      </a:r>
                      <a:endParaRPr sz="1400" dirty="0">
                        <a:latin typeface="Calibri"/>
                        <a:cs typeface="Calibri"/>
                      </a:endParaRPr>
                    </a:p>
                  </a:txBody>
                  <a:tcPr marL="0" marR="0" marT="34925" marB="0"/>
                </a:tc>
                <a:extLst>
                  <a:ext uri="{0D108BD9-81ED-4DB2-BD59-A6C34878D82A}">
                    <a16:rowId xmlns:a16="http://schemas.microsoft.com/office/drawing/2014/main" val="10002"/>
                  </a:ext>
                </a:extLst>
              </a:tr>
              <a:tr h="342121">
                <a:tc>
                  <a:txBody>
                    <a:bodyPr/>
                    <a:lstStyle/>
                    <a:p>
                      <a:pPr marR="25400" algn="r">
                        <a:lnSpc>
                          <a:spcPct val="100000"/>
                        </a:lnSpc>
                        <a:spcBef>
                          <a:spcPts val="275"/>
                        </a:spcBef>
                      </a:pPr>
                      <a:r>
                        <a:rPr sz="1400" spc="-25" dirty="0">
                          <a:latin typeface="Calibri"/>
                          <a:cs typeface="Calibri"/>
                        </a:rPr>
                        <a:t>3.</a:t>
                      </a:r>
                      <a:endParaRPr sz="1400">
                        <a:latin typeface="Calibri"/>
                        <a:cs typeface="Calibri"/>
                      </a:endParaRPr>
                    </a:p>
                  </a:txBody>
                  <a:tcPr marL="0" marR="0" marT="34925" marB="0"/>
                </a:tc>
                <a:tc>
                  <a:txBody>
                    <a:bodyPr/>
                    <a:lstStyle/>
                    <a:p>
                      <a:pPr marL="33020">
                        <a:lnSpc>
                          <a:spcPct val="100000"/>
                        </a:lnSpc>
                        <a:spcBef>
                          <a:spcPts val="275"/>
                        </a:spcBef>
                      </a:pPr>
                      <a:r>
                        <a:rPr lang="en-US" sz="1400" b="1" spc="105" dirty="0" err="1">
                          <a:latin typeface="Calibri"/>
                          <a:cs typeface="Calibri"/>
                        </a:rPr>
                        <a:t>Sanjana.A</a:t>
                      </a:r>
                      <a:endParaRPr sz="1400" dirty="0">
                        <a:latin typeface="Calibri"/>
                        <a:cs typeface="Calibri"/>
                      </a:endParaRPr>
                    </a:p>
                  </a:txBody>
                  <a:tcPr marL="0" marR="0" marT="34925" marB="0"/>
                </a:tc>
                <a:tc>
                  <a:txBody>
                    <a:bodyPr/>
                    <a:lstStyle/>
                    <a:p>
                      <a:pPr marR="24130" algn="r">
                        <a:lnSpc>
                          <a:spcPct val="100000"/>
                        </a:lnSpc>
                        <a:spcBef>
                          <a:spcPts val="275"/>
                        </a:spcBef>
                      </a:pPr>
                      <a:r>
                        <a:rPr sz="1400" spc="55" dirty="0">
                          <a:latin typeface="Calibri"/>
                          <a:cs typeface="Calibri"/>
                        </a:rPr>
                        <a:t>USN:</a:t>
                      </a:r>
                      <a:r>
                        <a:rPr lang="en-US" sz="1400" spc="55" dirty="0">
                          <a:latin typeface="Calibri"/>
                          <a:cs typeface="Calibri"/>
                        </a:rPr>
                        <a:t>01FE21BEC363</a:t>
                      </a:r>
                      <a:endParaRPr sz="1400" dirty="0">
                        <a:latin typeface="Calibri"/>
                        <a:cs typeface="Calibri"/>
                      </a:endParaRPr>
                    </a:p>
                  </a:txBody>
                  <a:tcPr marL="0" marR="0" marT="34925" marB="0"/>
                </a:tc>
                <a:extLst>
                  <a:ext uri="{0D108BD9-81ED-4DB2-BD59-A6C34878D82A}">
                    <a16:rowId xmlns:a16="http://schemas.microsoft.com/office/drawing/2014/main" val="10003"/>
                  </a:ext>
                </a:extLst>
              </a:tr>
              <a:tr h="258976">
                <a:tc>
                  <a:txBody>
                    <a:bodyPr/>
                    <a:lstStyle/>
                    <a:p>
                      <a:pPr marR="25400" algn="r">
                        <a:lnSpc>
                          <a:spcPts val="1525"/>
                        </a:lnSpc>
                        <a:spcBef>
                          <a:spcPts val="275"/>
                        </a:spcBef>
                      </a:pPr>
                      <a:r>
                        <a:rPr sz="1400" spc="-25" dirty="0">
                          <a:latin typeface="Calibri"/>
                          <a:cs typeface="Calibri"/>
                        </a:rPr>
                        <a:t>4.</a:t>
                      </a:r>
                      <a:endParaRPr sz="1400">
                        <a:latin typeface="Calibri"/>
                        <a:cs typeface="Calibri"/>
                      </a:endParaRPr>
                    </a:p>
                  </a:txBody>
                  <a:tcPr marL="0" marR="0" marT="34925" marB="0"/>
                </a:tc>
                <a:tc>
                  <a:txBody>
                    <a:bodyPr/>
                    <a:lstStyle/>
                    <a:p>
                      <a:pPr marL="33020">
                        <a:lnSpc>
                          <a:spcPts val="1525"/>
                        </a:lnSpc>
                        <a:spcBef>
                          <a:spcPts val="275"/>
                        </a:spcBef>
                      </a:pPr>
                      <a:r>
                        <a:rPr lang="en-US" sz="1400" b="1" spc="105" dirty="0">
                          <a:latin typeface="Calibri"/>
                          <a:cs typeface="Calibri"/>
                        </a:rPr>
                        <a:t>Sanjana</a:t>
                      </a:r>
                      <a:endParaRPr sz="1400" dirty="0">
                        <a:latin typeface="Calibri"/>
                        <a:cs typeface="Calibri"/>
                      </a:endParaRPr>
                    </a:p>
                  </a:txBody>
                  <a:tcPr marL="0" marR="0" marT="34925" marB="0"/>
                </a:tc>
                <a:tc>
                  <a:txBody>
                    <a:bodyPr/>
                    <a:lstStyle/>
                    <a:p>
                      <a:pPr marR="24130" algn="r">
                        <a:lnSpc>
                          <a:spcPts val="1525"/>
                        </a:lnSpc>
                        <a:spcBef>
                          <a:spcPts val="275"/>
                        </a:spcBef>
                      </a:pPr>
                      <a:r>
                        <a:rPr sz="1400" spc="55" dirty="0">
                          <a:latin typeface="Calibri"/>
                          <a:cs typeface="Calibri"/>
                        </a:rPr>
                        <a:t>USN:</a:t>
                      </a:r>
                      <a:r>
                        <a:rPr lang="en-US" sz="1400" spc="55" dirty="0">
                          <a:latin typeface="Calibri"/>
                          <a:cs typeface="Calibri"/>
                        </a:rPr>
                        <a:t>01FE21BEC261</a:t>
                      </a:r>
                      <a:endParaRPr sz="1400" dirty="0">
                        <a:latin typeface="Calibri"/>
                        <a:cs typeface="Calibri"/>
                      </a:endParaRPr>
                    </a:p>
                  </a:txBody>
                  <a:tcPr marL="0" marR="0" marT="34925" marB="0"/>
                </a:tc>
                <a:extLst>
                  <a:ext uri="{0D108BD9-81ED-4DB2-BD59-A6C34878D82A}">
                    <a16:rowId xmlns:a16="http://schemas.microsoft.com/office/drawing/2014/main" val="10004"/>
                  </a:ext>
                </a:extLst>
              </a:tr>
            </a:tbl>
          </a:graphicData>
        </a:graphic>
      </p:graphicFrame>
      <p:sp>
        <p:nvSpPr>
          <p:cNvPr id="5" name="object 5"/>
          <p:cNvSpPr txBox="1"/>
          <p:nvPr/>
        </p:nvSpPr>
        <p:spPr>
          <a:xfrm>
            <a:off x="1188041" y="7988289"/>
            <a:ext cx="5213985" cy="1097736"/>
          </a:xfrm>
          <a:prstGeom prst="rect">
            <a:avLst/>
          </a:prstGeom>
        </p:spPr>
        <p:txBody>
          <a:bodyPr vert="horz" wrap="square" lIns="0" tIns="12700" rIns="0" bIns="0" rtlCol="0">
            <a:spAutoFit/>
          </a:bodyPr>
          <a:lstStyle/>
          <a:p>
            <a:pPr marL="12700">
              <a:lnSpc>
                <a:spcPct val="100000"/>
              </a:lnSpc>
              <a:spcBef>
                <a:spcPts val="100"/>
              </a:spcBef>
            </a:pPr>
            <a:r>
              <a:rPr sz="1600" b="1" spc="100" dirty="0">
                <a:latin typeface="Calibri"/>
                <a:cs typeface="Calibri"/>
              </a:rPr>
              <a:t>Semester:</a:t>
            </a:r>
            <a:r>
              <a:rPr sz="1600" b="1" spc="440" dirty="0">
                <a:latin typeface="Calibri"/>
                <a:cs typeface="Calibri"/>
              </a:rPr>
              <a:t> </a:t>
            </a:r>
            <a:r>
              <a:rPr lang="en-IN" sz="1600" b="0" i="0" dirty="0">
                <a:solidFill>
                  <a:srgbClr val="202124"/>
                </a:solidFill>
                <a:effectLst/>
                <a:highlight>
                  <a:srgbClr val="FFFFFF"/>
                </a:highlight>
                <a:latin typeface="Google Sans"/>
              </a:rPr>
              <a:t>VI</a:t>
            </a:r>
            <a:r>
              <a:rPr sz="1600" b="1" spc="240" dirty="0">
                <a:latin typeface="Calibri"/>
                <a:cs typeface="Calibri"/>
              </a:rPr>
              <a:t>,</a:t>
            </a:r>
            <a:r>
              <a:rPr sz="1600" b="1" spc="245" dirty="0">
                <a:latin typeface="Calibri"/>
                <a:cs typeface="Calibri"/>
              </a:rPr>
              <a:t> </a:t>
            </a:r>
            <a:r>
              <a:rPr sz="1600" b="1" spc="75" dirty="0">
                <a:latin typeface="Calibri"/>
                <a:cs typeface="Calibri"/>
              </a:rPr>
              <a:t>2023-</a:t>
            </a:r>
            <a:r>
              <a:rPr sz="1600" b="1" spc="65" dirty="0">
                <a:latin typeface="Calibri"/>
                <a:cs typeface="Calibri"/>
              </a:rPr>
              <a:t>2024</a:t>
            </a:r>
            <a:endParaRPr sz="1600" dirty="0">
              <a:latin typeface="Calibri"/>
              <a:cs typeface="Calibri"/>
            </a:endParaRPr>
          </a:p>
          <a:p>
            <a:pPr marR="5715" algn="r">
              <a:lnSpc>
                <a:spcPct val="100000"/>
              </a:lnSpc>
              <a:spcBef>
                <a:spcPts val="1280"/>
              </a:spcBef>
            </a:pPr>
            <a:r>
              <a:rPr sz="1600" dirty="0">
                <a:latin typeface="Calibri"/>
                <a:cs typeface="Calibri"/>
              </a:rPr>
              <a:t>Under</a:t>
            </a:r>
            <a:r>
              <a:rPr sz="1600" spc="-15"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Guidance</a:t>
            </a:r>
            <a:r>
              <a:rPr sz="1600" spc="-10" dirty="0">
                <a:latin typeface="Calibri"/>
                <a:cs typeface="Calibri"/>
              </a:rPr>
              <a:t> </a:t>
            </a:r>
            <a:r>
              <a:rPr sz="1600" spc="-25" dirty="0">
                <a:latin typeface="Calibri"/>
                <a:cs typeface="Calibri"/>
              </a:rPr>
              <a:t>of</a:t>
            </a:r>
            <a:endParaRPr sz="1600" dirty="0">
              <a:latin typeface="Calibri"/>
              <a:cs typeface="Calibri"/>
            </a:endParaRPr>
          </a:p>
          <a:p>
            <a:pPr marR="5080" algn="r">
              <a:lnSpc>
                <a:spcPct val="100000"/>
              </a:lnSpc>
              <a:spcBef>
                <a:spcPts val="1415"/>
              </a:spcBef>
            </a:pPr>
            <a:r>
              <a:rPr lang="en-US" sz="1600" b="1" spc="165" dirty="0" err="1">
                <a:latin typeface="Calibri"/>
                <a:cs typeface="Calibri"/>
              </a:rPr>
              <a:t>Rajeshwari.k</a:t>
            </a:r>
            <a:endParaRPr sz="16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27646" y="851987"/>
            <a:ext cx="1934210" cy="720725"/>
          </a:xfrm>
          <a:prstGeom prst="rect">
            <a:avLst/>
          </a:prstGeom>
        </p:spPr>
        <p:txBody>
          <a:bodyPr vert="horz" wrap="square" lIns="0" tIns="15875" rIns="0" bIns="0" rtlCol="0">
            <a:spAutoFit/>
          </a:bodyPr>
          <a:lstStyle/>
          <a:p>
            <a:pPr marL="330200">
              <a:lnSpc>
                <a:spcPct val="100000"/>
              </a:lnSpc>
              <a:spcBef>
                <a:spcPts val="125"/>
              </a:spcBef>
            </a:pPr>
            <a:r>
              <a:rPr sz="1050" b="1" spc="204" dirty="0">
                <a:solidFill>
                  <a:srgbClr val="BF7F3F"/>
                </a:solidFill>
                <a:latin typeface="Calibri"/>
                <a:cs typeface="Calibri"/>
              </a:rPr>
              <a:t>K.L.E</a:t>
            </a:r>
            <a:r>
              <a:rPr sz="1050" b="1" spc="175" dirty="0">
                <a:solidFill>
                  <a:srgbClr val="BF7F3F"/>
                </a:solidFill>
                <a:latin typeface="Calibri"/>
                <a:cs typeface="Calibri"/>
              </a:rPr>
              <a:t> </a:t>
            </a:r>
            <a:r>
              <a:rPr sz="1050" b="1" spc="210" dirty="0">
                <a:solidFill>
                  <a:srgbClr val="BF7F3F"/>
                </a:solidFill>
                <a:latin typeface="Calibri"/>
                <a:cs typeface="Calibri"/>
              </a:rPr>
              <a:t>SOCIETY’S</a:t>
            </a:r>
            <a:endParaRPr sz="1050" dirty="0">
              <a:latin typeface="Calibri"/>
              <a:cs typeface="Calibri"/>
            </a:endParaRPr>
          </a:p>
          <a:p>
            <a:pPr algn="ctr">
              <a:lnSpc>
                <a:spcPct val="100000"/>
              </a:lnSpc>
              <a:spcBef>
                <a:spcPts val="60"/>
              </a:spcBef>
            </a:pPr>
            <a:r>
              <a:rPr sz="950" b="1" spc="305" dirty="0">
                <a:solidFill>
                  <a:srgbClr val="BF7F3F"/>
                </a:solidFill>
                <a:latin typeface="Calibri"/>
                <a:cs typeface="Calibri"/>
              </a:rPr>
              <a:t>KLE</a:t>
            </a:r>
            <a:r>
              <a:rPr sz="950" b="1" spc="180" dirty="0">
                <a:solidFill>
                  <a:srgbClr val="BF7F3F"/>
                </a:solidFill>
                <a:latin typeface="Calibri"/>
                <a:cs typeface="Calibri"/>
              </a:rPr>
              <a:t> </a:t>
            </a:r>
            <a:r>
              <a:rPr sz="950" b="1" spc="85" dirty="0">
                <a:solidFill>
                  <a:srgbClr val="BF7F3F"/>
                </a:solidFill>
                <a:latin typeface="Calibri"/>
                <a:cs typeface="Calibri"/>
              </a:rPr>
              <a:t>Technological</a:t>
            </a:r>
            <a:r>
              <a:rPr sz="950" b="1" spc="185" dirty="0">
                <a:solidFill>
                  <a:srgbClr val="BF7F3F"/>
                </a:solidFill>
                <a:latin typeface="Calibri"/>
                <a:cs typeface="Calibri"/>
              </a:rPr>
              <a:t> </a:t>
            </a:r>
            <a:r>
              <a:rPr sz="950" b="1" spc="80" dirty="0">
                <a:solidFill>
                  <a:srgbClr val="BF7F3F"/>
                </a:solidFill>
                <a:latin typeface="Calibri"/>
                <a:cs typeface="Calibri"/>
              </a:rPr>
              <a:t>University,</a:t>
            </a:r>
            <a:endParaRPr sz="950" dirty="0">
              <a:latin typeface="Calibri"/>
              <a:cs typeface="Calibri"/>
            </a:endParaRPr>
          </a:p>
          <a:p>
            <a:pPr algn="ctr">
              <a:lnSpc>
                <a:spcPct val="100000"/>
              </a:lnSpc>
              <a:spcBef>
                <a:spcPts val="60"/>
              </a:spcBef>
            </a:pPr>
            <a:r>
              <a:rPr sz="1050" b="1" spc="165" dirty="0">
                <a:solidFill>
                  <a:srgbClr val="BF7F3F"/>
                </a:solidFill>
                <a:latin typeface="Calibri"/>
                <a:cs typeface="Calibri"/>
              </a:rPr>
              <a:t>HUBBALLI-</a:t>
            </a:r>
            <a:r>
              <a:rPr sz="1050" b="1" spc="160" dirty="0">
                <a:solidFill>
                  <a:srgbClr val="BF7F3F"/>
                </a:solidFill>
                <a:latin typeface="Calibri"/>
                <a:cs typeface="Calibri"/>
              </a:rPr>
              <a:t>580031</a:t>
            </a:r>
            <a:endParaRPr sz="1050" dirty="0">
              <a:latin typeface="Calibri"/>
              <a:cs typeface="Calibri"/>
            </a:endParaRPr>
          </a:p>
          <a:p>
            <a:pPr algn="ctr">
              <a:lnSpc>
                <a:spcPct val="100000"/>
              </a:lnSpc>
              <a:spcBef>
                <a:spcPts val="105"/>
              </a:spcBef>
            </a:pPr>
            <a:r>
              <a:rPr sz="1300" b="1" spc="60" dirty="0">
                <a:solidFill>
                  <a:srgbClr val="BF7F3F"/>
                </a:solidFill>
                <a:latin typeface="Calibri"/>
                <a:cs typeface="Calibri"/>
              </a:rPr>
              <a:t>2022-</a:t>
            </a:r>
            <a:r>
              <a:rPr sz="1300" b="1" spc="45" dirty="0">
                <a:solidFill>
                  <a:srgbClr val="BF7F3F"/>
                </a:solidFill>
                <a:latin typeface="Calibri"/>
                <a:cs typeface="Calibri"/>
              </a:rPr>
              <a:t>2023</a:t>
            </a:r>
            <a:endParaRPr sz="1300" dirty="0">
              <a:latin typeface="Calibri"/>
              <a:cs typeface="Calibri"/>
            </a:endParaRPr>
          </a:p>
        </p:txBody>
      </p:sp>
      <p:pic>
        <p:nvPicPr>
          <p:cNvPr id="3" name="object 3"/>
          <p:cNvPicPr/>
          <p:nvPr/>
        </p:nvPicPr>
        <p:blipFill>
          <a:blip r:embed="rId2" cstate="print"/>
          <a:stretch>
            <a:fillRect/>
          </a:stretch>
        </p:blipFill>
        <p:spPr>
          <a:xfrm>
            <a:off x="3383015" y="1746646"/>
            <a:ext cx="823472" cy="791108"/>
          </a:xfrm>
          <a:prstGeom prst="rect">
            <a:avLst/>
          </a:prstGeom>
        </p:spPr>
      </p:pic>
      <p:sp>
        <p:nvSpPr>
          <p:cNvPr id="4" name="object 4"/>
          <p:cNvSpPr txBox="1"/>
          <p:nvPr/>
        </p:nvSpPr>
        <p:spPr>
          <a:xfrm>
            <a:off x="596900" y="2734018"/>
            <a:ext cx="6477000" cy="2836418"/>
          </a:xfrm>
          <a:prstGeom prst="rect">
            <a:avLst/>
          </a:prstGeom>
        </p:spPr>
        <p:txBody>
          <a:bodyPr vert="horz" wrap="square" lIns="0" tIns="44450" rIns="0" bIns="0" rtlCol="0">
            <a:spAutoFit/>
          </a:bodyPr>
          <a:lstStyle/>
          <a:p>
            <a:pPr marL="539750" marR="531495" algn="ctr">
              <a:lnSpc>
                <a:spcPts val="1300"/>
              </a:lnSpc>
              <a:spcBef>
                <a:spcPts val="350"/>
              </a:spcBef>
            </a:pPr>
            <a:r>
              <a:rPr sz="1300" spc="150" dirty="0">
                <a:latin typeface="Calibri"/>
                <a:cs typeface="Calibri"/>
              </a:rPr>
              <a:t>SCHOOL</a:t>
            </a:r>
            <a:r>
              <a:rPr sz="1300" spc="135" dirty="0">
                <a:latin typeface="Calibri"/>
                <a:cs typeface="Calibri"/>
              </a:rPr>
              <a:t> </a:t>
            </a:r>
            <a:r>
              <a:rPr sz="1300" spc="165" dirty="0">
                <a:latin typeface="Calibri"/>
                <a:cs typeface="Calibri"/>
              </a:rPr>
              <a:t>OF</a:t>
            </a:r>
            <a:r>
              <a:rPr sz="1300" spc="140" dirty="0">
                <a:latin typeface="Calibri"/>
                <a:cs typeface="Calibri"/>
              </a:rPr>
              <a:t> </a:t>
            </a:r>
            <a:r>
              <a:rPr sz="1300" spc="180" dirty="0">
                <a:latin typeface="Calibri"/>
                <a:cs typeface="Calibri"/>
              </a:rPr>
              <a:t>ELECTRONICS</a:t>
            </a:r>
            <a:r>
              <a:rPr sz="1300" spc="140" dirty="0">
                <a:latin typeface="Calibri"/>
                <a:cs typeface="Calibri"/>
              </a:rPr>
              <a:t> </a:t>
            </a:r>
            <a:r>
              <a:rPr sz="1300" spc="150" dirty="0">
                <a:latin typeface="Calibri"/>
                <a:cs typeface="Calibri"/>
              </a:rPr>
              <a:t>AND</a:t>
            </a:r>
            <a:r>
              <a:rPr sz="1300" spc="140" dirty="0">
                <a:latin typeface="Calibri"/>
                <a:cs typeface="Calibri"/>
              </a:rPr>
              <a:t> </a:t>
            </a:r>
            <a:r>
              <a:rPr sz="1300" spc="114" dirty="0">
                <a:latin typeface="Calibri"/>
                <a:cs typeface="Calibri"/>
              </a:rPr>
              <a:t>COMMUNICATION </a:t>
            </a:r>
            <a:r>
              <a:rPr sz="1300" spc="150" dirty="0">
                <a:latin typeface="Calibri"/>
                <a:cs typeface="Calibri"/>
              </a:rPr>
              <a:t>ENGINEERING</a:t>
            </a:r>
            <a:endParaRPr sz="1300" dirty="0">
              <a:latin typeface="Calibri"/>
              <a:cs typeface="Calibri"/>
            </a:endParaRPr>
          </a:p>
          <a:p>
            <a:pPr algn="ctr">
              <a:lnSpc>
                <a:spcPct val="100000"/>
              </a:lnSpc>
              <a:spcBef>
                <a:spcPts val="795"/>
              </a:spcBef>
            </a:pPr>
            <a:r>
              <a:rPr sz="1550" b="1" spc="340" dirty="0">
                <a:solidFill>
                  <a:srgbClr val="7F007F"/>
                </a:solidFill>
                <a:latin typeface="Calibri"/>
                <a:cs typeface="Calibri"/>
              </a:rPr>
              <a:t>CERTIFICATE</a:t>
            </a:r>
            <a:endParaRPr sz="1550" dirty="0">
              <a:latin typeface="Calibri"/>
              <a:cs typeface="Calibri"/>
            </a:endParaRPr>
          </a:p>
          <a:p>
            <a:pPr>
              <a:lnSpc>
                <a:spcPct val="100000"/>
              </a:lnSpc>
              <a:spcBef>
                <a:spcPts val="204"/>
              </a:spcBef>
            </a:pPr>
            <a:endParaRPr sz="1550" dirty="0">
              <a:latin typeface="Calibri"/>
              <a:cs typeface="Calibri"/>
            </a:endParaRPr>
          </a:p>
          <a:p>
            <a:pPr marL="12700" marR="5080" algn="just">
              <a:lnSpc>
                <a:spcPct val="103299"/>
              </a:lnSpc>
            </a:pPr>
            <a:r>
              <a:rPr sz="1600" spc="80" dirty="0">
                <a:latin typeface="Calibri"/>
                <a:cs typeface="Calibri"/>
              </a:rPr>
              <a:t>This</a:t>
            </a:r>
            <a:r>
              <a:rPr sz="1600" spc="185" dirty="0">
                <a:latin typeface="Calibri"/>
                <a:cs typeface="Calibri"/>
              </a:rPr>
              <a:t> </a:t>
            </a:r>
            <a:r>
              <a:rPr sz="1600" dirty="0">
                <a:latin typeface="Calibri"/>
                <a:cs typeface="Calibri"/>
              </a:rPr>
              <a:t>is</a:t>
            </a:r>
            <a:r>
              <a:rPr sz="1600" spc="195" dirty="0">
                <a:latin typeface="Calibri"/>
                <a:cs typeface="Calibri"/>
              </a:rPr>
              <a:t> </a:t>
            </a:r>
            <a:r>
              <a:rPr sz="1600" dirty="0">
                <a:latin typeface="Calibri"/>
                <a:cs typeface="Calibri"/>
              </a:rPr>
              <a:t>to</a:t>
            </a:r>
            <a:r>
              <a:rPr sz="1600" spc="190" dirty="0">
                <a:latin typeface="Calibri"/>
                <a:cs typeface="Calibri"/>
              </a:rPr>
              <a:t> </a:t>
            </a:r>
            <a:r>
              <a:rPr sz="1600" dirty="0">
                <a:latin typeface="Calibri"/>
                <a:cs typeface="Calibri"/>
              </a:rPr>
              <a:t>certify</a:t>
            </a:r>
            <a:r>
              <a:rPr sz="1600" spc="195" dirty="0">
                <a:latin typeface="Calibri"/>
                <a:cs typeface="Calibri"/>
              </a:rPr>
              <a:t> </a:t>
            </a:r>
            <a:r>
              <a:rPr sz="1600" dirty="0">
                <a:latin typeface="Calibri"/>
                <a:cs typeface="Calibri"/>
              </a:rPr>
              <a:t>that</a:t>
            </a:r>
            <a:r>
              <a:rPr sz="1600" spc="195" dirty="0">
                <a:latin typeface="Calibri"/>
                <a:cs typeface="Calibri"/>
              </a:rPr>
              <a:t> </a:t>
            </a:r>
            <a:r>
              <a:rPr sz="1600" dirty="0">
                <a:latin typeface="Calibri"/>
                <a:cs typeface="Calibri"/>
              </a:rPr>
              <a:t>project</a:t>
            </a:r>
            <a:r>
              <a:rPr sz="1600" spc="190" dirty="0">
                <a:latin typeface="Calibri"/>
                <a:cs typeface="Calibri"/>
              </a:rPr>
              <a:t> </a:t>
            </a:r>
            <a:r>
              <a:rPr sz="1600" dirty="0">
                <a:latin typeface="Calibri"/>
                <a:cs typeface="Calibri"/>
              </a:rPr>
              <a:t>entitled</a:t>
            </a:r>
            <a:r>
              <a:rPr sz="1600" spc="190" dirty="0">
                <a:latin typeface="Calibri"/>
                <a:cs typeface="Calibri"/>
              </a:rPr>
              <a:t> </a:t>
            </a:r>
            <a:r>
              <a:rPr sz="1600" b="1" spc="160" dirty="0">
                <a:latin typeface="Calibri"/>
                <a:cs typeface="Calibri"/>
              </a:rPr>
              <a:t>“</a:t>
            </a:r>
            <a:r>
              <a:rPr sz="1600" b="1" spc="254" dirty="0">
                <a:latin typeface="Calibri"/>
                <a:cs typeface="Calibri"/>
              </a:rPr>
              <a:t> </a:t>
            </a:r>
            <a:r>
              <a:rPr lang="en-US" sz="1600" b="1" spc="130" dirty="0">
                <a:latin typeface="Calibri"/>
                <a:cs typeface="Calibri"/>
              </a:rPr>
              <a:t>Solar Charging System</a:t>
            </a:r>
            <a:r>
              <a:rPr sz="1600" b="1" spc="260" dirty="0">
                <a:latin typeface="Calibri"/>
                <a:cs typeface="Calibri"/>
              </a:rPr>
              <a:t> </a:t>
            </a:r>
            <a:r>
              <a:rPr sz="1600" b="1" spc="160" dirty="0">
                <a:latin typeface="Calibri"/>
                <a:cs typeface="Calibri"/>
              </a:rPr>
              <a:t>”</a:t>
            </a:r>
            <a:r>
              <a:rPr sz="1600" b="1" spc="185" dirty="0">
                <a:latin typeface="Calibri"/>
                <a:cs typeface="Calibri"/>
              </a:rPr>
              <a:t> </a:t>
            </a:r>
            <a:r>
              <a:rPr sz="1600" dirty="0">
                <a:latin typeface="Calibri"/>
                <a:cs typeface="Calibri"/>
              </a:rPr>
              <a:t>is</a:t>
            </a:r>
            <a:r>
              <a:rPr sz="1600" spc="190" dirty="0">
                <a:latin typeface="Calibri"/>
                <a:cs typeface="Calibri"/>
              </a:rPr>
              <a:t> </a:t>
            </a:r>
            <a:r>
              <a:rPr sz="1600" dirty="0">
                <a:latin typeface="Calibri"/>
                <a:cs typeface="Calibri"/>
              </a:rPr>
              <a:t>a</a:t>
            </a:r>
            <a:r>
              <a:rPr sz="1600" spc="195" dirty="0">
                <a:latin typeface="Calibri"/>
                <a:cs typeface="Calibri"/>
              </a:rPr>
              <a:t> </a:t>
            </a:r>
            <a:r>
              <a:rPr sz="1600" dirty="0" err="1">
                <a:latin typeface="Calibri"/>
                <a:cs typeface="Calibri"/>
              </a:rPr>
              <a:t>bonafide</a:t>
            </a:r>
            <a:r>
              <a:rPr lang="en-IN" sz="1600" spc="185" dirty="0">
                <a:latin typeface="Calibri"/>
                <a:cs typeface="Calibri"/>
              </a:rPr>
              <a:t> </a:t>
            </a:r>
            <a:r>
              <a:rPr sz="1600" dirty="0">
                <a:latin typeface="Calibri"/>
                <a:cs typeface="Calibri"/>
              </a:rPr>
              <a:t>work</a:t>
            </a:r>
            <a:r>
              <a:rPr sz="1600" spc="195" dirty="0">
                <a:latin typeface="Calibri"/>
                <a:cs typeface="Calibri"/>
              </a:rPr>
              <a:t> </a:t>
            </a:r>
            <a:r>
              <a:rPr sz="1600" spc="-20" dirty="0">
                <a:latin typeface="Calibri"/>
                <a:cs typeface="Calibri"/>
              </a:rPr>
              <a:t>car</a:t>
            </a:r>
            <a:r>
              <a:rPr sz="1600" dirty="0">
                <a:latin typeface="Calibri"/>
                <a:cs typeface="Calibri"/>
              </a:rPr>
              <a:t>ried</a:t>
            </a:r>
            <a:r>
              <a:rPr sz="1600" spc="125" dirty="0">
                <a:latin typeface="Calibri"/>
                <a:cs typeface="Calibri"/>
              </a:rPr>
              <a:t> </a:t>
            </a:r>
            <a:r>
              <a:rPr sz="1600" dirty="0">
                <a:latin typeface="Calibri"/>
                <a:cs typeface="Calibri"/>
              </a:rPr>
              <a:t>out</a:t>
            </a:r>
            <a:r>
              <a:rPr sz="1600" spc="130" dirty="0">
                <a:latin typeface="Calibri"/>
                <a:cs typeface="Calibri"/>
              </a:rPr>
              <a:t> </a:t>
            </a:r>
            <a:r>
              <a:rPr sz="1600" dirty="0">
                <a:latin typeface="Calibri"/>
                <a:cs typeface="Calibri"/>
              </a:rPr>
              <a:t>by</a:t>
            </a:r>
            <a:r>
              <a:rPr sz="1600" spc="130" dirty="0">
                <a:latin typeface="Calibri"/>
                <a:cs typeface="Calibri"/>
              </a:rPr>
              <a:t> </a:t>
            </a:r>
            <a:r>
              <a:rPr sz="1600" dirty="0">
                <a:latin typeface="Calibri"/>
                <a:cs typeface="Calibri"/>
              </a:rPr>
              <a:t>the</a:t>
            </a:r>
            <a:r>
              <a:rPr sz="1600" spc="125" dirty="0">
                <a:latin typeface="Calibri"/>
                <a:cs typeface="Calibri"/>
              </a:rPr>
              <a:t> </a:t>
            </a:r>
            <a:r>
              <a:rPr sz="1600" dirty="0">
                <a:latin typeface="Calibri"/>
                <a:cs typeface="Calibri"/>
              </a:rPr>
              <a:t>student</a:t>
            </a:r>
            <a:r>
              <a:rPr sz="1600" spc="130" dirty="0">
                <a:latin typeface="Calibri"/>
                <a:cs typeface="Calibri"/>
              </a:rPr>
              <a:t> </a:t>
            </a:r>
            <a:r>
              <a:rPr sz="1600" dirty="0">
                <a:latin typeface="Calibri"/>
                <a:cs typeface="Calibri"/>
              </a:rPr>
              <a:t>team</a:t>
            </a:r>
            <a:r>
              <a:rPr sz="1600" spc="130" dirty="0">
                <a:latin typeface="Calibri"/>
                <a:cs typeface="Calibri"/>
              </a:rPr>
              <a:t> </a:t>
            </a:r>
            <a:r>
              <a:rPr sz="1600" dirty="0">
                <a:latin typeface="Calibri"/>
                <a:cs typeface="Calibri"/>
              </a:rPr>
              <a:t>of</a:t>
            </a:r>
            <a:r>
              <a:rPr lang="en-US" sz="1600" dirty="0">
                <a:latin typeface="Calibri"/>
                <a:cs typeface="Calibri"/>
              </a:rPr>
              <a:t> </a:t>
            </a:r>
            <a:r>
              <a:rPr sz="1600" spc="204" dirty="0">
                <a:latin typeface="Calibri"/>
                <a:cs typeface="Calibri"/>
              </a:rPr>
              <a:t> </a:t>
            </a:r>
            <a:r>
              <a:rPr lang="en-US" sz="1600" spc="204" dirty="0">
                <a:latin typeface="Calibri"/>
                <a:cs typeface="Calibri"/>
              </a:rPr>
              <a:t>  </a:t>
            </a:r>
            <a:r>
              <a:rPr lang="en-IN" sz="1600" b="1" spc="135" dirty="0">
                <a:latin typeface="Calibri"/>
                <a:cs typeface="Calibri"/>
              </a:rPr>
              <a:t>”</a:t>
            </a:r>
            <a:r>
              <a:rPr lang="en-US" sz="1600" b="1" spc="135" dirty="0" err="1">
                <a:latin typeface="Calibri"/>
                <a:cs typeface="Calibri"/>
              </a:rPr>
              <a:t>Chandan.R</a:t>
            </a:r>
            <a:r>
              <a:rPr lang="en-US" sz="1600" b="1" spc="135" dirty="0">
                <a:latin typeface="Calibri"/>
                <a:cs typeface="Calibri"/>
              </a:rPr>
              <a:t>(01FE21BEC038),</a:t>
            </a:r>
            <a:r>
              <a:rPr lang="en-US" sz="1600" b="1" spc="135" dirty="0" err="1">
                <a:latin typeface="Calibri"/>
                <a:cs typeface="Calibri"/>
              </a:rPr>
              <a:t>Divya.R.Salmani</a:t>
            </a:r>
            <a:r>
              <a:rPr lang="en-US" sz="1600" b="1" spc="135" dirty="0">
                <a:latin typeface="Calibri"/>
                <a:cs typeface="Calibri"/>
              </a:rPr>
              <a:t>(01FE21BEC013),</a:t>
            </a:r>
          </a:p>
          <a:p>
            <a:pPr marL="12700" marR="5080" algn="just">
              <a:lnSpc>
                <a:spcPct val="103299"/>
              </a:lnSpc>
            </a:pPr>
            <a:r>
              <a:rPr lang="en-US" sz="1600" b="1" spc="135" dirty="0" err="1">
                <a:latin typeface="Calibri"/>
                <a:cs typeface="Calibri"/>
              </a:rPr>
              <a:t>Sanjana.A</a:t>
            </a:r>
            <a:r>
              <a:rPr lang="en-US" sz="1600" b="1" spc="135" dirty="0">
                <a:latin typeface="Calibri"/>
                <a:cs typeface="Calibri"/>
              </a:rPr>
              <a:t>(01FE21BEC363),Sanjana(01FE21BEC261)</a:t>
            </a:r>
            <a:r>
              <a:rPr sz="1600" b="1" spc="90" dirty="0">
                <a:latin typeface="Calibri"/>
                <a:cs typeface="Calibri"/>
              </a:rPr>
              <a:t>”</a:t>
            </a:r>
            <a:r>
              <a:rPr sz="1600" spc="90" dirty="0">
                <a:latin typeface="Calibri"/>
                <a:cs typeface="Calibri"/>
              </a:rPr>
              <a:t>.</a:t>
            </a:r>
            <a:r>
              <a:rPr sz="1600" spc="275" dirty="0">
                <a:latin typeface="Calibri"/>
                <a:cs typeface="Calibri"/>
              </a:rPr>
              <a:t> </a:t>
            </a:r>
            <a:r>
              <a:rPr sz="1600" spc="70" dirty="0">
                <a:latin typeface="Calibri"/>
                <a:cs typeface="Calibri"/>
              </a:rPr>
              <a:t>The</a:t>
            </a:r>
            <a:r>
              <a:rPr sz="1600" spc="130" dirty="0">
                <a:latin typeface="Calibri"/>
                <a:cs typeface="Calibri"/>
              </a:rPr>
              <a:t> </a:t>
            </a:r>
            <a:r>
              <a:rPr sz="1600" dirty="0">
                <a:latin typeface="Calibri"/>
                <a:cs typeface="Calibri"/>
              </a:rPr>
              <a:t>project</a:t>
            </a:r>
            <a:r>
              <a:rPr sz="1600" spc="130" dirty="0">
                <a:latin typeface="Calibri"/>
                <a:cs typeface="Calibri"/>
              </a:rPr>
              <a:t> </a:t>
            </a:r>
            <a:r>
              <a:rPr sz="1600" spc="-10" dirty="0">
                <a:latin typeface="Calibri"/>
                <a:cs typeface="Calibri"/>
              </a:rPr>
              <a:t>report </a:t>
            </a:r>
            <a:r>
              <a:rPr sz="1600" dirty="0">
                <a:latin typeface="Calibri"/>
                <a:cs typeface="Calibri"/>
              </a:rPr>
              <a:t>has</a:t>
            </a:r>
            <a:r>
              <a:rPr sz="1600" spc="200" dirty="0">
                <a:latin typeface="Calibri"/>
                <a:cs typeface="Calibri"/>
              </a:rPr>
              <a:t> </a:t>
            </a:r>
            <a:r>
              <a:rPr sz="1600" dirty="0">
                <a:latin typeface="Calibri"/>
                <a:cs typeface="Calibri"/>
              </a:rPr>
              <a:t>been</a:t>
            </a:r>
            <a:r>
              <a:rPr sz="1600" spc="200" dirty="0">
                <a:latin typeface="Calibri"/>
                <a:cs typeface="Calibri"/>
              </a:rPr>
              <a:t> </a:t>
            </a:r>
            <a:r>
              <a:rPr sz="1600" dirty="0">
                <a:latin typeface="Calibri"/>
                <a:cs typeface="Calibri"/>
              </a:rPr>
              <a:t>approved</a:t>
            </a:r>
            <a:r>
              <a:rPr sz="1600" spc="200" dirty="0">
                <a:latin typeface="Calibri"/>
                <a:cs typeface="Calibri"/>
              </a:rPr>
              <a:t> </a:t>
            </a:r>
            <a:r>
              <a:rPr sz="1600" dirty="0">
                <a:latin typeface="Calibri"/>
                <a:cs typeface="Calibri"/>
              </a:rPr>
              <a:t>as</a:t>
            </a:r>
            <a:r>
              <a:rPr sz="1600" spc="200" dirty="0">
                <a:latin typeface="Calibri"/>
                <a:cs typeface="Calibri"/>
              </a:rPr>
              <a:t> </a:t>
            </a:r>
            <a:r>
              <a:rPr sz="1600" spc="55" dirty="0">
                <a:latin typeface="Calibri"/>
                <a:cs typeface="Calibri"/>
              </a:rPr>
              <a:t>it</a:t>
            </a:r>
            <a:r>
              <a:rPr sz="1600" spc="200" dirty="0">
                <a:latin typeface="Calibri"/>
                <a:cs typeface="Calibri"/>
              </a:rPr>
              <a:t> </a:t>
            </a:r>
            <a:r>
              <a:rPr sz="1600" dirty="0">
                <a:latin typeface="Calibri"/>
                <a:cs typeface="Calibri"/>
              </a:rPr>
              <a:t>satisfies</a:t>
            </a:r>
            <a:r>
              <a:rPr sz="1600" spc="200" dirty="0">
                <a:latin typeface="Calibri"/>
                <a:cs typeface="Calibri"/>
              </a:rPr>
              <a:t> </a:t>
            </a:r>
            <a:r>
              <a:rPr sz="1600" dirty="0">
                <a:latin typeface="Calibri"/>
                <a:cs typeface="Calibri"/>
              </a:rPr>
              <a:t>the</a:t>
            </a:r>
            <a:r>
              <a:rPr sz="1600" spc="200" dirty="0">
                <a:latin typeface="Calibri"/>
                <a:cs typeface="Calibri"/>
              </a:rPr>
              <a:t> </a:t>
            </a:r>
            <a:r>
              <a:rPr sz="1600" dirty="0">
                <a:latin typeface="Calibri"/>
                <a:cs typeface="Calibri"/>
              </a:rPr>
              <a:t>requirements</a:t>
            </a:r>
            <a:r>
              <a:rPr sz="1600" spc="200" dirty="0">
                <a:latin typeface="Calibri"/>
                <a:cs typeface="Calibri"/>
              </a:rPr>
              <a:t> </a:t>
            </a:r>
            <a:r>
              <a:rPr sz="1600" dirty="0">
                <a:latin typeface="Calibri"/>
                <a:cs typeface="Calibri"/>
              </a:rPr>
              <a:t>with</a:t>
            </a:r>
            <a:r>
              <a:rPr sz="1600" spc="200" dirty="0">
                <a:latin typeface="Calibri"/>
                <a:cs typeface="Calibri"/>
              </a:rPr>
              <a:t> </a:t>
            </a:r>
            <a:r>
              <a:rPr sz="1600" dirty="0">
                <a:latin typeface="Calibri"/>
                <a:cs typeface="Calibri"/>
              </a:rPr>
              <a:t>respect</a:t>
            </a:r>
            <a:r>
              <a:rPr sz="1600" spc="200" dirty="0">
                <a:latin typeface="Calibri"/>
                <a:cs typeface="Calibri"/>
              </a:rPr>
              <a:t> </a:t>
            </a:r>
            <a:r>
              <a:rPr sz="1600" dirty="0">
                <a:latin typeface="Calibri"/>
                <a:cs typeface="Calibri"/>
              </a:rPr>
              <a:t>to</a:t>
            </a:r>
            <a:r>
              <a:rPr sz="1600" spc="200" dirty="0">
                <a:latin typeface="Calibri"/>
                <a:cs typeface="Calibri"/>
              </a:rPr>
              <a:t> </a:t>
            </a:r>
            <a:r>
              <a:rPr sz="1600" dirty="0">
                <a:latin typeface="Calibri"/>
                <a:cs typeface="Calibri"/>
              </a:rPr>
              <a:t>the</a:t>
            </a:r>
            <a:r>
              <a:rPr sz="1600" spc="200" dirty="0">
                <a:latin typeface="Calibri"/>
                <a:cs typeface="Calibri"/>
              </a:rPr>
              <a:t> </a:t>
            </a:r>
            <a:r>
              <a:rPr lang="en-IN" sz="1600" spc="200" dirty="0">
                <a:latin typeface="Calibri"/>
                <a:cs typeface="Calibri"/>
              </a:rPr>
              <a:t>minor</a:t>
            </a:r>
            <a:r>
              <a:rPr sz="1600" spc="200" dirty="0">
                <a:latin typeface="Calibri"/>
                <a:cs typeface="Calibri"/>
              </a:rPr>
              <a:t> </a:t>
            </a:r>
            <a:r>
              <a:rPr sz="1600" dirty="0">
                <a:latin typeface="Calibri"/>
                <a:cs typeface="Calibri"/>
              </a:rPr>
              <a:t>project</a:t>
            </a:r>
            <a:r>
              <a:rPr sz="1600" spc="200" dirty="0">
                <a:latin typeface="Calibri"/>
                <a:cs typeface="Calibri"/>
              </a:rPr>
              <a:t> </a:t>
            </a:r>
            <a:r>
              <a:rPr sz="1600" spc="-20" dirty="0">
                <a:latin typeface="Calibri"/>
                <a:cs typeface="Calibri"/>
              </a:rPr>
              <a:t>work </a:t>
            </a:r>
            <a:r>
              <a:rPr sz="1600" spc="10" dirty="0">
                <a:latin typeface="Calibri"/>
                <a:cs typeface="Calibri"/>
              </a:rPr>
              <a:t>prescribed</a:t>
            </a:r>
            <a:r>
              <a:rPr sz="1600" spc="155" dirty="0">
                <a:latin typeface="Calibri"/>
                <a:cs typeface="Calibri"/>
              </a:rPr>
              <a:t> </a:t>
            </a:r>
            <a:r>
              <a:rPr sz="1600" spc="10" dirty="0">
                <a:latin typeface="Calibri"/>
                <a:cs typeface="Calibri"/>
              </a:rPr>
              <a:t>by</a:t>
            </a:r>
            <a:r>
              <a:rPr sz="1600" spc="155" dirty="0">
                <a:latin typeface="Calibri"/>
                <a:cs typeface="Calibri"/>
              </a:rPr>
              <a:t> </a:t>
            </a:r>
            <a:r>
              <a:rPr sz="1600" spc="10" dirty="0">
                <a:latin typeface="Calibri"/>
                <a:cs typeface="Calibri"/>
              </a:rPr>
              <a:t>the</a:t>
            </a:r>
            <a:r>
              <a:rPr sz="1600" spc="155" dirty="0">
                <a:latin typeface="Calibri"/>
                <a:cs typeface="Calibri"/>
              </a:rPr>
              <a:t> </a:t>
            </a:r>
            <a:r>
              <a:rPr sz="1600" spc="10" dirty="0">
                <a:latin typeface="Calibri"/>
                <a:cs typeface="Calibri"/>
              </a:rPr>
              <a:t>university</a:t>
            </a:r>
            <a:r>
              <a:rPr sz="1600" spc="160" dirty="0">
                <a:latin typeface="Calibri"/>
                <a:cs typeface="Calibri"/>
              </a:rPr>
              <a:t> </a:t>
            </a:r>
            <a:r>
              <a:rPr sz="1600" spc="10" dirty="0">
                <a:latin typeface="Calibri"/>
                <a:cs typeface="Calibri"/>
              </a:rPr>
              <a:t>curriculum</a:t>
            </a:r>
            <a:r>
              <a:rPr sz="1600" spc="155" dirty="0">
                <a:latin typeface="Calibri"/>
                <a:cs typeface="Calibri"/>
              </a:rPr>
              <a:t> </a:t>
            </a:r>
            <a:r>
              <a:rPr sz="1600" spc="10" dirty="0">
                <a:latin typeface="Calibri"/>
                <a:cs typeface="Calibri"/>
              </a:rPr>
              <a:t>for</a:t>
            </a:r>
            <a:r>
              <a:rPr sz="1600" spc="155" dirty="0">
                <a:latin typeface="Calibri"/>
                <a:cs typeface="Calibri"/>
              </a:rPr>
              <a:t> </a:t>
            </a:r>
            <a:r>
              <a:rPr sz="1600" spc="180" dirty="0">
                <a:latin typeface="Calibri"/>
                <a:cs typeface="Calibri"/>
              </a:rPr>
              <a:t>BE</a:t>
            </a:r>
            <a:r>
              <a:rPr sz="1600" spc="160" dirty="0">
                <a:latin typeface="Calibri"/>
                <a:cs typeface="Calibri"/>
              </a:rPr>
              <a:t> </a:t>
            </a:r>
            <a:r>
              <a:rPr sz="1600" spc="140" dirty="0">
                <a:latin typeface="Calibri"/>
                <a:cs typeface="Calibri"/>
              </a:rPr>
              <a:t>(</a:t>
            </a:r>
            <a:r>
              <a:rPr lang="en-IN" sz="1600" b="0" i="0" dirty="0">
                <a:solidFill>
                  <a:srgbClr val="202124"/>
                </a:solidFill>
                <a:effectLst/>
                <a:highlight>
                  <a:srgbClr val="FFFFFF"/>
                </a:highlight>
                <a:latin typeface="Google Sans"/>
              </a:rPr>
              <a:t>VI</a:t>
            </a:r>
            <a:r>
              <a:rPr sz="1600" spc="155" dirty="0">
                <a:latin typeface="Calibri"/>
                <a:cs typeface="Calibri"/>
              </a:rPr>
              <a:t> </a:t>
            </a:r>
            <a:r>
              <a:rPr sz="1600" spc="10" dirty="0">
                <a:latin typeface="Calibri"/>
                <a:cs typeface="Calibri"/>
              </a:rPr>
              <a:t>Semester)</a:t>
            </a:r>
            <a:r>
              <a:rPr sz="1600" spc="155" dirty="0">
                <a:latin typeface="Calibri"/>
                <a:cs typeface="Calibri"/>
              </a:rPr>
              <a:t> </a:t>
            </a:r>
            <a:r>
              <a:rPr sz="1600" spc="10" dirty="0">
                <a:latin typeface="Calibri"/>
                <a:cs typeface="Calibri"/>
              </a:rPr>
              <a:t>in</a:t>
            </a:r>
            <a:r>
              <a:rPr sz="1600" spc="155" dirty="0">
                <a:latin typeface="Calibri"/>
                <a:cs typeface="Calibri"/>
              </a:rPr>
              <a:t> </a:t>
            </a:r>
            <a:r>
              <a:rPr sz="1600" spc="10" dirty="0">
                <a:latin typeface="Calibri"/>
                <a:cs typeface="Calibri"/>
              </a:rPr>
              <a:t>School</a:t>
            </a:r>
            <a:r>
              <a:rPr sz="1600" spc="160" dirty="0">
                <a:latin typeface="Calibri"/>
                <a:cs typeface="Calibri"/>
              </a:rPr>
              <a:t> </a:t>
            </a:r>
            <a:r>
              <a:rPr sz="1600" spc="10" dirty="0">
                <a:latin typeface="Calibri"/>
                <a:cs typeface="Calibri"/>
              </a:rPr>
              <a:t>of</a:t>
            </a:r>
            <a:r>
              <a:rPr sz="1600" spc="155" dirty="0">
                <a:latin typeface="Calibri"/>
                <a:cs typeface="Calibri"/>
              </a:rPr>
              <a:t> </a:t>
            </a:r>
            <a:r>
              <a:rPr sz="1600" spc="10" dirty="0">
                <a:latin typeface="Calibri"/>
                <a:cs typeface="Calibri"/>
              </a:rPr>
              <a:t>Electronics</a:t>
            </a:r>
            <a:r>
              <a:rPr sz="1600" spc="155" dirty="0">
                <a:latin typeface="Calibri"/>
                <a:cs typeface="Calibri"/>
              </a:rPr>
              <a:t> </a:t>
            </a:r>
            <a:r>
              <a:rPr sz="1600" spc="-25" dirty="0">
                <a:latin typeface="Calibri"/>
                <a:cs typeface="Calibri"/>
              </a:rPr>
              <a:t>and </a:t>
            </a:r>
            <a:r>
              <a:rPr sz="1600" spc="20" dirty="0">
                <a:latin typeface="Calibri"/>
                <a:cs typeface="Calibri"/>
              </a:rPr>
              <a:t>Communication</a:t>
            </a:r>
            <a:r>
              <a:rPr sz="1600" spc="75" dirty="0">
                <a:latin typeface="Calibri"/>
                <a:cs typeface="Calibri"/>
              </a:rPr>
              <a:t> </a:t>
            </a:r>
            <a:r>
              <a:rPr sz="1600" spc="20" dirty="0">
                <a:latin typeface="Calibri"/>
                <a:cs typeface="Calibri"/>
              </a:rPr>
              <a:t>Engineering</a:t>
            </a:r>
            <a:r>
              <a:rPr sz="1600" spc="80" dirty="0">
                <a:latin typeface="Calibri"/>
                <a:cs typeface="Calibri"/>
              </a:rPr>
              <a:t> </a:t>
            </a:r>
            <a:r>
              <a:rPr sz="1600" spc="20" dirty="0">
                <a:latin typeface="Calibri"/>
                <a:cs typeface="Calibri"/>
              </a:rPr>
              <a:t>of</a:t>
            </a:r>
            <a:r>
              <a:rPr sz="1600" spc="80" dirty="0">
                <a:latin typeface="Calibri"/>
                <a:cs typeface="Calibri"/>
              </a:rPr>
              <a:t> </a:t>
            </a:r>
            <a:r>
              <a:rPr sz="1600" spc="229" dirty="0">
                <a:latin typeface="Calibri"/>
                <a:cs typeface="Calibri"/>
              </a:rPr>
              <a:t>KLE</a:t>
            </a:r>
            <a:r>
              <a:rPr sz="1600" spc="80" dirty="0">
                <a:latin typeface="Calibri"/>
                <a:cs typeface="Calibri"/>
              </a:rPr>
              <a:t> </a:t>
            </a:r>
            <a:r>
              <a:rPr sz="1600" spc="20" dirty="0">
                <a:latin typeface="Calibri"/>
                <a:cs typeface="Calibri"/>
              </a:rPr>
              <a:t>Technological</a:t>
            </a:r>
            <a:r>
              <a:rPr sz="1600" spc="80" dirty="0">
                <a:latin typeface="Calibri"/>
                <a:cs typeface="Calibri"/>
              </a:rPr>
              <a:t> </a:t>
            </a:r>
            <a:r>
              <a:rPr sz="1600" spc="20" dirty="0">
                <a:latin typeface="Calibri"/>
                <a:cs typeface="Calibri"/>
              </a:rPr>
              <a:t>University</a:t>
            </a:r>
            <a:r>
              <a:rPr sz="1600" spc="75" dirty="0">
                <a:latin typeface="Calibri"/>
                <a:cs typeface="Calibri"/>
              </a:rPr>
              <a:t> </a:t>
            </a:r>
            <a:r>
              <a:rPr sz="1600" spc="20" dirty="0">
                <a:latin typeface="Calibri"/>
                <a:cs typeface="Calibri"/>
              </a:rPr>
              <a:t>for</a:t>
            </a:r>
            <a:r>
              <a:rPr sz="1600" spc="80" dirty="0">
                <a:latin typeface="Calibri"/>
                <a:cs typeface="Calibri"/>
              </a:rPr>
              <a:t> </a:t>
            </a:r>
            <a:r>
              <a:rPr sz="1600" spc="20" dirty="0">
                <a:latin typeface="Calibri"/>
                <a:cs typeface="Calibri"/>
              </a:rPr>
              <a:t>the</a:t>
            </a:r>
            <a:r>
              <a:rPr sz="1600" spc="80" dirty="0">
                <a:latin typeface="Calibri"/>
                <a:cs typeface="Calibri"/>
              </a:rPr>
              <a:t> </a:t>
            </a:r>
            <a:r>
              <a:rPr sz="1600" spc="20" dirty="0">
                <a:latin typeface="Calibri"/>
                <a:cs typeface="Calibri"/>
              </a:rPr>
              <a:t>academic</a:t>
            </a:r>
            <a:r>
              <a:rPr sz="1600" spc="80" dirty="0">
                <a:latin typeface="Calibri"/>
                <a:cs typeface="Calibri"/>
              </a:rPr>
              <a:t> </a:t>
            </a:r>
            <a:r>
              <a:rPr sz="1600" spc="20" dirty="0">
                <a:latin typeface="Calibri"/>
                <a:cs typeface="Calibri"/>
              </a:rPr>
              <a:t>year</a:t>
            </a:r>
            <a:r>
              <a:rPr sz="1600" spc="80" dirty="0">
                <a:latin typeface="Calibri"/>
                <a:cs typeface="Calibri"/>
              </a:rPr>
              <a:t> </a:t>
            </a:r>
            <a:r>
              <a:rPr sz="1600" spc="-10" dirty="0">
                <a:latin typeface="Calibri"/>
                <a:cs typeface="Calibri"/>
              </a:rPr>
              <a:t>2023- 2024.</a:t>
            </a:r>
            <a:endParaRPr sz="1600" dirty="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2</a:t>
            </a:fld>
            <a:endParaRPr spc="-25" dirty="0"/>
          </a:p>
        </p:txBody>
      </p:sp>
      <p:graphicFrame>
        <p:nvGraphicFramePr>
          <p:cNvPr id="5" name="object 5"/>
          <p:cNvGraphicFramePr>
            <a:graphicFrameLocks noGrp="1"/>
          </p:cNvGraphicFramePr>
          <p:nvPr>
            <p:extLst>
              <p:ext uri="{D42A27DB-BD31-4B8C-83A1-F6EECF244321}">
                <p14:modId xmlns:p14="http://schemas.microsoft.com/office/powerpoint/2010/main" val="1835191521"/>
              </p:ext>
            </p:extLst>
          </p:nvPr>
        </p:nvGraphicFramePr>
        <p:xfrm>
          <a:off x="901700" y="5766700"/>
          <a:ext cx="5474949" cy="697308"/>
        </p:xfrm>
        <a:graphic>
          <a:graphicData uri="http://schemas.openxmlformats.org/drawingml/2006/table">
            <a:tbl>
              <a:tblPr firstRow="1" bandRow="1">
                <a:tableStyleId>{2D5ABB26-0587-4C30-8999-92F81FD0307C}</a:tableStyleId>
              </a:tblPr>
              <a:tblGrid>
                <a:gridCol w="1366500">
                  <a:extLst>
                    <a:ext uri="{9D8B030D-6E8A-4147-A177-3AD203B41FA5}">
                      <a16:colId xmlns:a16="http://schemas.microsoft.com/office/drawing/2014/main" val="20000"/>
                    </a:ext>
                  </a:extLst>
                </a:gridCol>
                <a:gridCol w="2489302">
                  <a:extLst>
                    <a:ext uri="{9D8B030D-6E8A-4147-A177-3AD203B41FA5}">
                      <a16:colId xmlns:a16="http://schemas.microsoft.com/office/drawing/2014/main" val="20001"/>
                    </a:ext>
                  </a:extLst>
                </a:gridCol>
                <a:gridCol w="1619147">
                  <a:extLst>
                    <a:ext uri="{9D8B030D-6E8A-4147-A177-3AD203B41FA5}">
                      <a16:colId xmlns:a16="http://schemas.microsoft.com/office/drawing/2014/main" val="20002"/>
                    </a:ext>
                  </a:extLst>
                </a:gridCol>
              </a:tblGrid>
              <a:tr h="348654">
                <a:tc>
                  <a:txBody>
                    <a:bodyPr/>
                    <a:lstStyle/>
                    <a:p>
                      <a:pPr marR="411480" algn="ctr">
                        <a:lnSpc>
                          <a:spcPts val="925"/>
                        </a:lnSpc>
                      </a:pPr>
                      <a:endParaRPr lang="en-US" sz="1050" b="1" spc="135" dirty="0">
                        <a:latin typeface="Calibri"/>
                        <a:cs typeface="Calibri"/>
                      </a:endParaRPr>
                    </a:p>
                    <a:p>
                      <a:pPr marR="411480" algn="ctr">
                        <a:lnSpc>
                          <a:spcPts val="925"/>
                        </a:lnSpc>
                      </a:pPr>
                      <a:r>
                        <a:rPr lang="en-US" sz="1050" b="1" spc="135" dirty="0" err="1">
                          <a:latin typeface="Calibri"/>
                          <a:cs typeface="Calibri"/>
                        </a:rPr>
                        <a:t>Rajeshwari.K</a:t>
                      </a:r>
                      <a:endParaRPr sz="1050" dirty="0">
                        <a:latin typeface="Calibri"/>
                        <a:cs typeface="Calibri"/>
                      </a:endParaRPr>
                    </a:p>
                  </a:txBody>
                  <a:tcPr marL="0" marR="0" marT="0" marB="0"/>
                </a:tc>
                <a:tc>
                  <a:txBody>
                    <a:bodyPr/>
                    <a:lstStyle/>
                    <a:p>
                      <a:pPr marL="450850">
                        <a:lnSpc>
                          <a:spcPts val="925"/>
                        </a:lnSpc>
                      </a:pPr>
                      <a:endParaRPr lang="en-US" sz="1050" b="1" spc="95" dirty="0">
                        <a:latin typeface="Calibri"/>
                        <a:cs typeface="Calibri"/>
                      </a:endParaRPr>
                    </a:p>
                    <a:p>
                      <a:pPr marL="450850">
                        <a:lnSpc>
                          <a:spcPts val="925"/>
                        </a:lnSpc>
                      </a:pPr>
                      <a:r>
                        <a:rPr sz="1050" b="1" spc="95" dirty="0" err="1">
                          <a:latin typeface="Calibri"/>
                          <a:cs typeface="Calibri"/>
                        </a:rPr>
                        <a:t>Suneeta</a:t>
                      </a:r>
                      <a:r>
                        <a:rPr sz="1050" b="1" spc="150" dirty="0">
                          <a:latin typeface="Calibri"/>
                          <a:cs typeface="Calibri"/>
                        </a:rPr>
                        <a:t> </a:t>
                      </a:r>
                      <a:r>
                        <a:rPr lang="en-US" sz="1050" b="1" spc="150" dirty="0">
                          <a:latin typeface="Calibri"/>
                          <a:cs typeface="Calibri"/>
                        </a:rPr>
                        <a:t>.</a:t>
                      </a:r>
                      <a:r>
                        <a:rPr lang="en-US" sz="1050" b="1" spc="285" dirty="0" err="1">
                          <a:latin typeface="Calibri"/>
                          <a:cs typeface="Calibri"/>
                        </a:rPr>
                        <a:t>V</a:t>
                      </a:r>
                      <a:r>
                        <a:rPr lang="en-US" sz="1050" b="1" spc="150" dirty="0" err="1">
                          <a:latin typeface="Calibri"/>
                          <a:cs typeface="Calibri"/>
                        </a:rPr>
                        <a:t>.</a:t>
                      </a:r>
                      <a:r>
                        <a:rPr sz="1050" b="1" spc="105" dirty="0" err="1">
                          <a:latin typeface="Calibri"/>
                          <a:cs typeface="Calibri"/>
                        </a:rPr>
                        <a:t>Budihal</a:t>
                      </a:r>
                      <a:endParaRPr sz="1050" dirty="0">
                        <a:latin typeface="Calibri"/>
                        <a:cs typeface="Calibri"/>
                      </a:endParaRPr>
                    </a:p>
                  </a:txBody>
                  <a:tcPr marL="0" marR="0" marT="0" marB="0"/>
                </a:tc>
                <a:tc>
                  <a:txBody>
                    <a:bodyPr/>
                    <a:lstStyle/>
                    <a:p>
                      <a:pPr marL="596900">
                        <a:lnSpc>
                          <a:spcPts val="925"/>
                        </a:lnSpc>
                      </a:pPr>
                      <a:endParaRPr lang="en-US" sz="1050" b="1" spc="160" dirty="0">
                        <a:latin typeface="Calibri"/>
                        <a:cs typeface="Calibri"/>
                      </a:endParaRPr>
                    </a:p>
                    <a:p>
                      <a:pPr marL="596900">
                        <a:lnSpc>
                          <a:spcPts val="925"/>
                        </a:lnSpc>
                      </a:pPr>
                      <a:r>
                        <a:rPr sz="1050" b="1" spc="160" dirty="0" err="1">
                          <a:latin typeface="Calibri"/>
                          <a:cs typeface="Calibri"/>
                        </a:rPr>
                        <a:t>B.</a:t>
                      </a:r>
                      <a:r>
                        <a:rPr sz="1050" b="1" spc="114" dirty="0" err="1">
                          <a:latin typeface="Calibri"/>
                          <a:cs typeface="Calibri"/>
                        </a:rPr>
                        <a:t>S.</a:t>
                      </a:r>
                      <a:r>
                        <a:rPr sz="1050" b="1" spc="125" dirty="0" err="1">
                          <a:latin typeface="Calibri"/>
                          <a:cs typeface="Calibri"/>
                        </a:rPr>
                        <a:t>Anami</a:t>
                      </a:r>
                      <a:endParaRPr sz="1050" dirty="0">
                        <a:latin typeface="Calibri"/>
                        <a:cs typeface="Calibri"/>
                      </a:endParaRPr>
                    </a:p>
                  </a:txBody>
                  <a:tcPr marL="0" marR="0" marT="0" marB="0"/>
                </a:tc>
                <a:extLst>
                  <a:ext uri="{0D108BD9-81ED-4DB2-BD59-A6C34878D82A}">
                    <a16:rowId xmlns:a16="http://schemas.microsoft.com/office/drawing/2014/main" val="10000"/>
                  </a:ext>
                </a:extLst>
              </a:tr>
              <a:tr h="348654">
                <a:tc>
                  <a:txBody>
                    <a:bodyPr/>
                    <a:lstStyle/>
                    <a:p>
                      <a:pPr marR="475615" algn="ctr">
                        <a:lnSpc>
                          <a:spcPts val="1000"/>
                        </a:lnSpc>
                      </a:pPr>
                      <a:r>
                        <a:rPr sz="1050" b="1" spc="114" dirty="0">
                          <a:latin typeface="Calibri"/>
                          <a:cs typeface="Calibri"/>
                        </a:rPr>
                        <a:t>Guide</a:t>
                      </a:r>
                      <a:endParaRPr sz="1050">
                        <a:latin typeface="Calibri"/>
                        <a:cs typeface="Calibri"/>
                      </a:endParaRPr>
                    </a:p>
                  </a:txBody>
                  <a:tcPr marL="0" marR="0" marT="0" marB="0"/>
                </a:tc>
                <a:tc>
                  <a:txBody>
                    <a:bodyPr/>
                    <a:lstStyle/>
                    <a:p>
                      <a:pPr marL="534670">
                        <a:lnSpc>
                          <a:spcPts val="1000"/>
                        </a:lnSpc>
                      </a:pPr>
                      <a:r>
                        <a:rPr sz="1050" b="1" spc="120" dirty="0">
                          <a:latin typeface="Calibri"/>
                          <a:cs typeface="Calibri"/>
                        </a:rPr>
                        <a:t>Head</a:t>
                      </a:r>
                      <a:r>
                        <a:rPr sz="1050" b="1" spc="204" dirty="0">
                          <a:latin typeface="Calibri"/>
                          <a:cs typeface="Calibri"/>
                        </a:rPr>
                        <a:t> </a:t>
                      </a:r>
                      <a:r>
                        <a:rPr sz="1050" b="1" dirty="0">
                          <a:latin typeface="Calibri"/>
                          <a:cs typeface="Calibri"/>
                        </a:rPr>
                        <a:t>of</a:t>
                      </a:r>
                      <a:r>
                        <a:rPr sz="1050" b="1" spc="204" dirty="0">
                          <a:latin typeface="Calibri"/>
                          <a:cs typeface="Calibri"/>
                        </a:rPr>
                        <a:t> </a:t>
                      </a:r>
                      <a:r>
                        <a:rPr sz="1050" b="1" spc="80" dirty="0">
                          <a:latin typeface="Calibri"/>
                          <a:cs typeface="Calibri"/>
                        </a:rPr>
                        <a:t>School</a:t>
                      </a:r>
                      <a:endParaRPr sz="1050" dirty="0">
                        <a:latin typeface="Calibri"/>
                        <a:cs typeface="Calibri"/>
                      </a:endParaRPr>
                    </a:p>
                  </a:txBody>
                  <a:tcPr marL="0" marR="0" marT="0" marB="0"/>
                </a:tc>
                <a:tc>
                  <a:txBody>
                    <a:bodyPr/>
                    <a:lstStyle/>
                    <a:p>
                      <a:pPr marL="563880">
                        <a:lnSpc>
                          <a:spcPts val="1000"/>
                        </a:lnSpc>
                      </a:pPr>
                      <a:r>
                        <a:rPr sz="1050" b="1" spc="100" dirty="0">
                          <a:latin typeface="Calibri"/>
                          <a:cs typeface="Calibri"/>
                        </a:rPr>
                        <a:t>Registrar</a:t>
                      </a:r>
                      <a:endParaRPr sz="1050" dirty="0">
                        <a:latin typeface="Calibri"/>
                        <a:cs typeface="Calibri"/>
                      </a:endParaRPr>
                    </a:p>
                  </a:txBody>
                  <a:tcPr marL="0" marR="0" marT="0" marB="0"/>
                </a:tc>
                <a:extLst>
                  <a:ext uri="{0D108BD9-81ED-4DB2-BD59-A6C34878D82A}">
                    <a16:rowId xmlns:a16="http://schemas.microsoft.com/office/drawing/2014/main" val="10001"/>
                  </a:ext>
                </a:extLst>
              </a:tr>
            </a:tbl>
          </a:graphicData>
        </a:graphic>
      </p:graphicFrame>
      <p:sp>
        <p:nvSpPr>
          <p:cNvPr id="6" name="object 6"/>
          <p:cNvSpPr txBox="1"/>
          <p:nvPr/>
        </p:nvSpPr>
        <p:spPr>
          <a:xfrm>
            <a:off x="1188041" y="7182372"/>
            <a:ext cx="939165" cy="175260"/>
          </a:xfrm>
          <a:prstGeom prst="rect">
            <a:avLst/>
          </a:prstGeom>
        </p:spPr>
        <p:txBody>
          <a:bodyPr vert="horz" wrap="square" lIns="0" tIns="16510" rIns="0" bIns="0" rtlCol="0">
            <a:spAutoFit/>
          </a:bodyPr>
          <a:lstStyle/>
          <a:p>
            <a:pPr marL="12700">
              <a:lnSpc>
                <a:spcPct val="100000"/>
              </a:lnSpc>
              <a:spcBef>
                <a:spcPts val="130"/>
              </a:spcBef>
            </a:pPr>
            <a:r>
              <a:rPr sz="950" b="1" spc="120" dirty="0">
                <a:latin typeface="Calibri"/>
                <a:cs typeface="Calibri"/>
              </a:rPr>
              <a:t>External</a:t>
            </a:r>
            <a:r>
              <a:rPr sz="950" b="1" spc="170" dirty="0">
                <a:latin typeface="Calibri"/>
                <a:cs typeface="Calibri"/>
              </a:rPr>
              <a:t> </a:t>
            </a:r>
            <a:r>
              <a:rPr sz="950" b="1" spc="100" dirty="0">
                <a:latin typeface="Calibri"/>
                <a:cs typeface="Calibri"/>
              </a:rPr>
              <a:t>Viva:</a:t>
            </a:r>
            <a:endParaRPr sz="950">
              <a:latin typeface="Calibri"/>
              <a:cs typeface="Calibri"/>
            </a:endParaRPr>
          </a:p>
        </p:txBody>
      </p:sp>
      <p:sp>
        <p:nvSpPr>
          <p:cNvPr id="7" name="object 7"/>
          <p:cNvSpPr txBox="1"/>
          <p:nvPr/>
        </p:nvSpPr>
        <p:spPr>
          <a:xfrm>
            <a:off x="1188041" y="7485477"/>
            <a:ext cx="1264920" cy="175260"/>
          </a:xfrm>
          <a:prstGeom prst="rect">
            <a:avLst/>
          </a:prstGeom>
        </p:spPr>
        <p:txBody>
          <a:bodyPr vert="horz" wrap="square" lIns="0" tIns="16510" rIns="0" bIns="0" rtlCol="0">
            <a:spAutoFit/>
          </a:bodyPr>
          <a:lstStyle/>
          <a:p>
            <a:pPr marL="12700">
              <a:lnSpc>
                <a:spcPct val="100000"/>
              </a:lnSpc>
              <a:spcBef>
                <a:spcPts val="130"/>
              </a:spcBef>
            </a:pPr>
            <a:r>
              <a:rPr sz="950" b="1" spc="135" dirty="0">
                <a:latin typeface="Calibri"/>
                <a:cs typeface="Calibri"/>
              </a:rPr>
              <a:t>Name</a:t>
            </a:r>
            <a:r>
              <a:rPr sz="950" b="1" spc="195" dirty="0">
                <a:latin typeface="Calibri"/>
                <a:cs typeface="Calibri"/>
              </a:rPr>
              <a:t> </a:t>
            </a:r>
            <a:r>
              <a:rPr sz="950" b="1" dirty="0">
                <a:latin typeface="Calibri"/>
                <a:cs typeface="Calibri"/>
              </a:rPr>
              <a:t>of</a:t>
            </a:r>
            <a:r>
              <a:rPr sz="950" b="1" spc="200" dirty="0">
                <a:latin typeface="Calibri"/>
                <a:cs typeface="Calibri"/>
              </a:rPr>
              <a:t> </a:t>
            </a:r>
            <a:r>
              <a:rPr sz="950" b="1" spc="110" dirty="0">
                <a:latin typeface="Calibri"/>
                <a:cs typeface="Calibri"/>
              </a:rPr>
              <a:t>Examiners</a:t>
            </a:r>
            <a:endParaRPr sz="950">
              <a:latin typeface="Calibri"/>
              <a:cs typeface="Calibri"/>
            </a:endParaRPr>
          </a:p>
        </p:txBody>
      </p:sp>
      <p:sp>
        <p:nvSpPr>
          <p:cNvPr id="8" name="object 8"/>
          <p:cNvSpPr txBox="1"/>
          <p:nvPr/>
        </p:nvSpPr>
        <p:spPr>
          <a:xfrm>
            <a:off x="5104109" y="7485477"/>
            <a:ext cx="1272540" cy="175260"/>
          </a:xfrm>
          <a:prstGeom prst="rect">
            <a:avLst/>
          </a:prstGeom>
        </p:spPr>
        <p:txBody>
          <a:bodyPr vert="horz" wrap="square" lIns="0" tIns="16510" rIns="0" bIns="0" rtlCol="0">
            <a:spAutoFit/>
          </a:bodyPr>
          <a:lstStyle/>
          <a:p>
            <a:pPr marL="12700">
              <a:lnSpc>
                <a:spcPct val="100000"/>
              </a:lnSpc>
              <a:spcBef>
                <a:spcPts val="130"/>
              </a:spcBef>
            </a:pPr>
            <a:r>
              <a:rPr sz="950" b="1" spc="100" dirty="0">
                <a:latin typeface="Calibri"/>
                <a:cs typeface="Calibri"/>
              </a:rPr>
              <a:t>Signature</a:t>
            </a:r>
            <a:r>
              <a:rPr sz="950" b="1" spc="180" dirty="0">
                <a:latin typeface="Calibri"/>
                <a:cs typeface="Calibri"/>
              </a:rPr>
              <a:t> </a:t>
            </a:r>
            <a:r>
              <a:rPr sz="950" b="1" spc="95" dirty="0">
                <a:latin typeface="Calibri"/>
                <a:cs typeface="Calibri"/>
              </a:rPr>
              <a:t>with</a:t>
            </a:r>
            <a:r>
              <a:rPr sz="950" b="1" spc="185" dirty="0">
                <a:latin typeface="Calibri"/>
                <a:cs typeface="Calibri"/>
              </a:rPr>
              <a:t> </a:t>
            </a:r>
            <a:r>
              <a:rPr sz="950" b="1" spc="60" dirty="0">
                <a:latin typeface="Calibri"/>
                <a:cs typeface="Calibri"/>
              </a:rPr>
              <a:t>date</a:t>
            </a:r>
            <a:endParaRPr sz="950">
              <a:latin typeface="Calibri"/>
              <a:cs typeface="Calibri"/>
            </a:endParaRPr>
          </a:p>
        </p:txBody>
      </p:sp>
      <p:sp>
        <p:nvSpPr>
          <p:cNvPr id="9" name="object 9"/>
          <p:cNvSpPr txBox="1"/>
          <p:nvPr/>
        </p:nvSpPr>
        <p:spPr>
          <a:xfrm>
            <a:off x="1358769" y="7742992"/>
            <a:ext cx="122555" cy="433070"/>
          </a:xfrm>
          <a:prstGeom prst="rect">
            <a:avLst/>
          </a:prstGeom>
        </p:spPr>
        <p:txBody>
          <a:bodyPr vert="horz" wrap="square" lIns="0" tIns="16510" rIns="0" bIns="0" rtlCol="0">
            <a:spAutoFit/>
          </a:bodyPr>
          <a:lstStyle/>
          <a:p>
            <a:pPr marL="12700">
              <a:lnSpc>
                <a:spcPct val="100000"/>
              </a:lnSpc>
              <a:spcBef>
                <a:spcPts val="130"/>
              </a:spcBef>
            </a:pPr>
            <a:r>
              <a:rPr sz="950" spc="-25" dirty="0">
                <a:latin typeface="Calibri"/>
                <a:cs typeface="Calibri"/>
              </a:rPr>
              <a:t>1.</a:t>
            </a:r>
            <a:endParaRPr sz="950">
              <a:latin typeface="Calibri"/>
              <a:cs typeface="Calibri"/>
            </a:endParaRPr>
          </a:p>
          <a:p>
            <a:pPr marL="12700">
              <a:lnSpc>
                <a:spcPct val="100000"/>
              </a:lnSpc>
              <a:spcBef>
                <a:spcPts val="890"/>
              </a:spcBef>
            </a:pPr>
            <a:r>
              <a:rPr sz="950" spc="-25" dirty="0">
                <a:latin typeface="Calibri"/>
                <a:cs typeface="Calibri"/>
              </a:rPr>
              <a:t>2.</a:t>
            </a:r>
            <a:endParaRPr sz="95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3</a:t>
            </a:fld>
            <a:endParaRPr spc="-25" dirty="0"/>
          </a:p>
        </p:txBody>
      </p:sp>
      <p:sp>
        <p:nvSpPr>
          <p:cNvPr id="4" name="object 2">
            <a:extLst>
              <a:ext uri="{FF2B5EF4-FFF2-40B4-BE49-F238E27FC236}">
                <a16:creationId xmlns:a16="http://schemas.microsoft.com/office/drawing/2014/main" id="{69F44744-B02E-9815-CE0E-302C39832033}"/>
              </a:ext>
            </a:extLst>
          </p:cNvPr>
          <p:cNvSpPr txBox="1"/>
          <p:nvPr/>
        </p:nvSpPr>
        <p:spPr>
          <a:xfrm>
            <a:off x="520700" y="967396"/>
            <a:ext cx="6553200" cy="4848763"/>
          </a:xfrm>
          <a:prstGeom prst="rect">
            <a:avLst/>
          </a:prstGeom>
        </p:spPr>
        <p:txBody>
          <a:bodyPr vert="horz" wrap="square" lIns="0" tIns="12700" rIns="0" bIns="0" rtlCol="0">
            <a:spAutoFit/>
          </a:bodyPr>
          <a:lstStyle/>
          <a:p>
            <a:pPr algn="ctr">
              <a:lnSpc>
                <a:spcPct val="100000"/>
              </a:lnSpc>
              <a:spcBef>
                <a:spcPts val="100"/>
              </a:spcBef>
            </a:pPr>
            <a:r>
              <a:rPr sz="2400" b="1" spc="360" dirty="0">
                <a:latin typeface="Calibri"/>
                <a:cs typeface="Calibri"/>
              </a:rPr>
              <a:t>ACKNOWLEDGMENT</a:t>
            </a:r>
            <a:endParaRPr lang="en-US" sz="2400" b="1" spc="360" dirty="0">
              <a:latin typeface="Calibri"/>
              <a:cs typeface="Calibri"/>
            </a:endParaRPr>
          </a:p>
          <a:p>
            <a:pPr algn="ctr">
              <a:lnSpc>
                <a:spcPct val="100000"/>
              </a:lnSpc>
              <a:spcBef>
                <a:spcPts val="100"/>
              </a:spcBef>
            </a:pPr>
            <a:endParaRPr lang="en-IN" sz="1550" b="1" spc="360" dirty="0">
              <a:latin typeface="Calibri"/>
              <a:cs typeface="Calibri"/>
            </a:endParaRPr>
          </a:p>
          <a:p>
            <a:pPr>
              <a:lnSpc>
                <a:spcPct val="107000"/>
              </a:lnSpc>
              <a:spcAft>
                <a:spcPts val="1200"/>
              </a:spcAft>
            </a:pP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We would like to express our gratitude to </a:t>
            </a:r>
            <a:r>
              <a:rPr lang="en-IN" kern="0" dirty="0" err="1">
                <a:effectLst/>
                <a:latin typeface="Times New Roman" panose="02020603050405020304" pitchFamily="18" charset="0"/>
                <a:ea typeface="Times New Roman" panose="02020603050405020304" pitchFamily="18" charset="0"/>
                <a:cs typeface="Times New Roman" panose="02020603050405020304" pitchFamily="18" charset="0"/>
              </a:rPr>
              <a:t>Dr.</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P. G. Tewari, Dean of Academics at KLE Technological University, and </a:t>
            </a:r>
            <a:r>
              <a:rPr lang="en-IN" kern="0" dirty="0" err="1">
                <a:effectLst/>
                <a:latin typeface="Times New Roman" panose="02020603050405020304" pitchFamily="18" charset="0"/>
                <a:ea typeface="Times New Roman" panose="02020603050405020304" pitchFamily="18" charset="0"/>
                <a:cs typeface="Times New Roman" panose="02020603050405020304" pitchFamily="18" charset="0"/>
              </a:rPr>
              <a:t>Dr.</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Ashok </a:t>
            </a:r>
            <a:r>
              <a:rPr lang="en-IN" kern="0" dirty="0" err="1">
                <a:effectLst/>
                <a:latin typeface="Times New Roman" panose="02020603050405020304" pitchFamily="18" charset="0"/>
                <a:ea typeface="Times New Roman" panose="02020603050405020304" pitchFamily="18" charset="0"/>
                <a:cs typeface="Times New Roman" panose="02020603050405020304" pitchFamily="18" charset="0"/>
              </a:rPr>
              <a:t>Shettar</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Vice-Chancellor of KLE Technological University, </a:t>
            </a:r>
            <a:r>
              <a:rPr lang="en-IN" kern="0" dirty="0" err="1">
                <a:effectLst/>
                <a:latin typeface="Times New Roman" panose="02020603050405020304" pitchFamily="18" charset="0"/>
                <a:ea typeface="Times New Roman" panose="02020603050405020304" pitchFamily="18" charset="0"/>
                <a:cs typeface="Times New Roman" panose="02020603050405020304" pitchFamily="18" charset="0"/>
              </a:rPr>
              <a:t>Hubballi</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for giving us the chance to conduct our research and for their unwavering support during the CIM Minor Project. Our school's head of school, </a:t>
            </a:r>
            <a:r>
              <a:rPr lang="en-IN" kern="0" dirty="0" err="1">
                <a:effectLst/>
                <a:latin typeface="Times New Roman" panose="02020603050405020304" pitchFamily="18" charset="0"/>
                <a:ea typeface="Times New Roman" panose="02020603050405020304" pitchFamily="18" charset="0"/>
                <a:cs typeface="Times New Roman" panose="02020603050405020304" pitchFamily="18" charset="0"/>
              </a:rPr>
              <a:t>Dr.</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kern="0" dirty="0" err="1">
                <a:effectLst/>
                <a:latin typeface="Times New Roman" panose="02020603050405020304" pitchFamily="18" charset="0"/>
                <a:ea typeface="Times New Roman" panose="02020603050405020304" pitchFamily="18" charset="0"/>
                <a:cs typeface="Times New Roman" panose="02020603050405020304" pitchFamily="18" charset="0"/>
              </a:rPr>
              <a:t>Suneeta</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V.B., deserves special recognition for her guidance and assistance. We also acknowledge Prof. Rajeshwari K. for her great assistance and direction throughout our effort. Furthermore, we thank all of the teaching and non-teaching personnel for their support and encouragement.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Bef>
                <a:spcPts val="100"/>
              </a:spcBef>
            </a:pPr>
            <a:endParaRPr lang="en-IN" sz="1550" b="1" spc="360" dirty="0">
              <a:latin typeface="Calibri"/>
              <a:cs typeface="Calibri"/>
            </a:endParaRPr>
          </a:p>
          <a:p>
            <a:pPr algn="ctr">
              <a:lnSpc>
                <a:spcPct val="100000"/>
              </a:lnSpc>
              <a:spcBef>
                <a:spcPts val="100"/>
              </a:spcBef>
            </a:pPr>
            <a:endParaRPr lang="en-IN" sz="1550" b="1" spc="360" dirty="0">
              <a:latin typeface="Calibri"/>
              <a:cs typeface="Calibri"/>
            </a:endParaRPr>
          </a:p>
          <a:p>
            <a:pPr algn="ctr">
              <a:lnSpc>
                <a:spcPct val="100000"/>
              </a:lnSpc>
              <a:spcBef>
                <a:spcPts val="100"/>
              </a:spcBef>
            </a:pPr>
            <a:endParaRPr sz="1550" dirty="0">
              <a:latin typeface="Calibri"/>
              <a:cs typeface="Calibri"/>
            </a:endParaRPr>
          </a:p>
          <a:p>
            <a:pPr marR="5080" algn="r">
              <a:lnSpc>
                <a:spcPct val="100000"/>
              </a:lnSpc>
              <a:spcBef>
                <a:spcPts val="980"/>
              </a:spcBef>
            </a:pPr>
            <a:r>
              <a:rPr sz="1400" dirty="0">
                <a:latin typeface="Calibri"/>
                <a:cs typeface="Calibri"/>
              </a:rPr>
              <a:t>-</a:t>
            </a:r>
            <a:r>
              <a:rPr sz="1400" spc="75" dirty="0">
                <a:latin typeface="Calibri"/>
                <a:cs typeface="Calibri"/>
              </a:rPr>
              <a:t>The</a:t>
            </a:r>
            <a:r>
              <a:rPr sz="1400" spc="265" dirty="0">
                <a:latin typeface="Calibri"/>
                <a:cs typeface="Calibri"/>
              </a:rPr>
              <a:t> </a:t>
            </a:r>
            <a:r>
              <a:rPr sz="1400" dirty="0">
                <a:latin typeface="Calibri"/>
                <a:cs typeface="Calibri"/>
              </a:rPr>
              <a:t>project</a:t>
            </a:r>
            <a:r>
              <a:rPr sz="1400" spc="270" dirty="0">
                <a:latin typeface="Calibri"/>
                <a:cs typeface="Calibri"/>
              </a:rPr>
              <a:t> </a:t>
            </a:r>
            <a:r>
              <a:rPr sz="1400" spc="-20" dirty="0">
                <a:latin typeface="Calibri"/>
                <a:cs typeface="Calibri"/>
              </a:rPr>
              <a:t>team</a:t>
            </a:r>
            <a:endParaRPr sz="14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2586" y="741248"/>
            <a:ext cx="1271270" cy="365760"/>
          </a:xfrm>
          <a:prstGeom prst="rect">
            <a:avLst/>
          </a:prstGeom>
        </p:spPr>
        <p:txBody>
          <a:bodyPr vert="horz" wrap="square" lIns="0" tIns="16510" rIns="0" bIns="0" rtlCol="0">
            <a:spAutoFit/>
          </a:bodyPr>
          <a:lstStyle/>
          <a:p>
            <a:pPr marL="12700">
              <a:lnSpc>
                <a:spcPct val="100000"/>
              </a:lnSpc>
              <a:spcBef>
                <a:spcPts val="130"/>
              </a:spcBef>
            </a:pPr>
            <a:r>
              <a:rPr spc="180" dirty="0"/>
              <a:t>Contents</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4</a:t>
            </a:fld>
            <a:endParaRPr spc="-25" dirty="0"/>
          </a:p>
        </p:txBody>
      </p:sp>
      <p:sp>
        <p:nvSpPr>
          <p:cNvPr id="15" name="object 3">
            <a:extLst>
              <a:ext uri="{FF2B5EF4-FFF2-40B4-BE49-F238E27FC236}">
                <a16:creationId xmlns:a16="http://schemas.microsoft.com/office/drawing/2014/main" id="{B9B3B6A4-B369-4D43-642E-9438591D5214}"/>
              </a:ext>
            </a:extLst>
          </p:cNvPr>
          <p:cNvSpPr txBox="1"/>
          <p:nvPr/>
        </p:nvSpPr>
        <p:spPr>
          <a:xfrm>
            <a:off x="719455" y="1235075"/>
            <a:ext cx="6155690" cy="7950190"/>
          </a:xfrm>
          <a:prstGeom prst="rect">
            <a:avLst/>
          </a:prstGeom>
        </p:spPr>
        <p:txBody>
          <a:bodyPr vert="horz" wrap="square" lIns="0" tIns="16510" rIns="0" bIns="0" rtlCol="0">
            <a:spAutoFit/>
          </a:bodyPr>
          <a:lstStyle/>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1.Introduction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1.1 Motivation . . . . . . . . . . . . . . . . . . . . . . . . . . . . . . . . . . . . . . . 5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1.2 Objectives . . . . . . . . . . . . . . . . . . . . . . . . . . . . . . . . . . . . . . .  6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1.3 </a:t>
            </a:r>
            <a:r>
              <a:rPr lang="en-IN" sz="1600" kern="100" dirty="0">
                <a:latin typeface="Calibri" panose="020F0502020204030204" pitchFamily="34" charset="0"/>
                <a:ea typeface="Calibri" panose="020F0502020204030204" pitchFamily="34" charset="0"/>
                <a:cs typeface="Times New Roman" panose="02020603050405020304" pitchFamily="18" charset="0"/>
              </a:rPr>
              <a:t>SDGs Goal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 . . . . . . . . . . . . . . . . . . . . . . . . . . . . . . . . . 7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1.4 </a:t>
            </a:r>
            <a:r>
              <a:rPr lang="en-IN" sz="1600" kern="100" dirty="0">
                <a:latin typeface="Calibri" panose="020F0502020204030204" pitchFamily="34" charset="0"/>
                <a:ea typeface="Calibri" panose="020F0502020204030204" pitchFamily="34" charset="0"/>
                <a:cs typeface="Times New Roman" panose="02020603050405020304" pitchFamily="18" charset="0"/>
              </a:rPr>
              <a:t>Literature Survey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 . . . . . . . . . . . . . . . . . . . . . . . . . . . . . . . 8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1.5 </a:t>
            </a:r>
            <a:r>
              <a:rPr lang="en-IN" sz="1600" kern="100" dirty="0">
                <a:latin typeface="Calibri" panose="020F0502020204030204" pitchFamily="34" charset="0"/>
                <a:ea typeface="Calibri" panose="020F0502020204030204" pitchFamily="34" charset="0"/>
                <a:cs typeface="Times New Roman" panose="02020603050405020304" pitchFamily="18" charset="0"/>
              </a:rPr>
              <a:t>Problem Statement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 . . . . . . . . . . . . . . . . . . . . . . . . . 10</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600" kern="100" dirty="0">
                <a:latin typeface="Calibri" panose="020F0502020204030204" pitchFamily="34" charset="0"/>
                <a:ea typeface="Calibri" panose="020F0502020204030204" pitchFamily="34" charset="0"/>
                <a:cs typeface="Times New Roman" panose="02020603050405020304" pitchFamily="18" charset="0"/>
              </a:rPr>
              <a:t>1.6 Bill Of Materials . . . . . . . . . . . . . . . . . . . . . . . . . . .. .  . .. . . .10</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1.7 Organization Of Report . . . . . . . . . . . . . . . . . . . . . . . . . . . .11</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2.System design                                                                                   12</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2.1 Functional Block Diagram. . . . . . . . . . . . . . . . . . . . .  . . . . . 12</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2.1.1 Functional Block Diagram Explanation . . . . . .. . . . .  . . . 13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2.2</a:t>
            </a:r>
            <a:r>
              <a:rPr lang="en-IN" sz="1600" kern="100" dirty="0">
                <a:latin typeface="Calibri" panose="020F0502020204030204" pitchFamily="34" charset="0"/>
                <a:ea typeface="Calibri" panose="020F0502020204030204" pitchFamily="34" charset="0"/>
                <a:cs typeface="Times New Roman" panose="02020603050405020304" pitchFamily="18" charset="0"/>
              </a:rPr>
              <a:t>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ESP32 Architectural Diagram . . . . . . . . . . . . . . . . .. . . . . . 14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2.2.1 </a:t>
            </a:r>
            <a:r>
              <a:rPr lang="en-IN" sz="1600" kern="100" dirty="0">
                <a:latin typeface="Calibri" panose="020F0502020204030204" pitchFamily="34" charset="0"/>
                <a:ea typeface="Calibri" panose="020F0502020204030204" pitchFamily="34" charset="0"/>
                <a:cs typeface="Times New Roman" panose="02020603050405020304" pitchFamily="18" charset="0"/>
              </a:rPr>
              <a:t>Features Of ESP32  . . . . . . . . . . . . . . . . . . . . . .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  . . . . . . 15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3.Implementation details                                                                    16</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3.1 Environment Setup. . . . . . . . . . . . . . . . . . . . . .  . . . . . . . . . . 16</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4.Results                                                                                                16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4.1  Results . . . . . . . . . . . . . . . . . . . . . . . .  . . . . . . . . . .. . . . . . . 19 </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4.1.1 Result Analysis . . . . . . . . . . . . . . . . . . . . . . . . . . . . . . . . .  19</a:t>
            </a: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5.Conclusion and future scope                                                        </a:t>
            </a:r>
            <a:r>
              <a:rPr lang="en-IN" sz="1600" kern="100" dirty="0">
                <a:latin typeface="Calibri" panose="020F0502020204030204" pitchFamily="34" charset="0"/>
                <a:ea typeface="Calibri" panose="020F0502020204030204" pitchFamily="34" charset="0"/>
                <a:cs typeface="Times New Roman" panose="02020603050405020304" pitchFamily="18" charset="0"/>
              </a:rPr>
              <a:t>  20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5.1 Conclusion . . . . . . . . . . . . . . . . . . . . . . . . . . . . . . . . . . . . . .  </a:t>
            </a:r>
            <a:r>
              <a:rPr lang="en-IN" sz="1600" kern="100" dirty="0">
                <a:latin typeface="Calibri" panose="020F0502020204030204" pitchFamily="34" charset="0"/>
                <a:ea typeface="Calibri" panose="020F0502020204030204" pitchFamily="34" charset="0"/>
                <a:cs typeface="Times New Roman" panose="02020603050405020304" pitchFamily="18" charset="0"/>
              </a:rPr>
              <a:t> 20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19735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5.2 Future Scope . . . . . . . . . . . . . . . . . . . . . . . . . . . . . . . . . . . .   </a:t>
            </a:r>
            <a:r>
              <a:rPr lang="en-IN" sz="1600" kern="100" dirty="0">
                <a:latin typeface="Calibri" panose="020F0502020204030204" pitchFamily="34" charset="0"/>
                <a:ea typeface="Calibri" panose="020F0502020204030204" pitchFamily="34" charset="0"/>
                <a:cs typeface="Times New Roman" panose="02020603050405020304" pitchFamily="18" charset="0"/>
              </a:rPr>
              <a:t>20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effectLst/>
                <a:latin typeface="Calibri" panose="020F0502020204030204" pitchFamily="34" charset="0"/>
                <a:ea typeface="Calibri" panose="020F0502020204030204" pitchFamily="34" charset="0"/>
                <a:cs typeface="Times New Roman" panose="02020603050405020304" pitchFamily="18" charset="0"/>
              </a:rPr>
              <a:t> References</a:t>
            </a:r>
            <a:endParaRPr sz="16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2600" y="701675"/>
            <a:ext cx="6629400" cy="9326912"/>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sz="2200" b="1" spc="80" dirty="0">
                <a:latin typeface="Calibri"/>
                <a:cs typeface="Calibri"/>
              </a:rPr>
              <a:t>1</a:t>
            </a:r>
            <a:endParaRPr sz="2200" dirty="0">
              <a:latin typeface="Calibri"/>
              <a:cs typeface="Calibri"/>
            </a:endParaRPr>
          </a:p>
          <a:p>
            <a:pPr marL="12700">
              <a:lnSpc>
                <a:spcPct val="100000"/>
              </a:lnSpc>
              <a:spcBef>
                <a:spcPts val="1845"/>
              </a:spcBef>
            </a:pPr>
            <a:r>
              <a:rPr sz="2400" b="1" spc="180" dirty="0">
                <a:latin typeface="Calibri"/>
                <a:cs typeface="Calibri"/>
              </a:rPr>
              <a:t>Introduction</a:t>
            </a:r>
            <a:endParaRPr lang="en-US" sz="2400" b="1" spc="180" dirty="0">
              <a:latin typeface="Calibri"/>
              <a:cs typeface="Calibri"/>
            </a:endParaRPr>
          </a:p>
          <a:p>
            <a:pPr marL="12700" lvl="1">
              <a:tabLst>
                <a:tab pos="516890" algn="l"/>
              </a:tabLs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popularity of electric vehicles is growing due to rising pollution and depletion of fossil fuels (EVs). But to really have an influence on the environment, EVs need clean electricity. In order to overcome this, solar charging systems use photovoltaic (PV) panels to capture solar energy. After then, EV batteries are charged either directly or indirectly using this solar energy. The carbon footprint of EVs is greatly decreased by these systems by using clean, renewable solar electricity. Furthermore, flexible power management is made possible by the grid connection and battery storage, which guarantees dependable charging in low sunlight. An autonomous, safe, and sustainable route to cleaner mobility in the future is provided by solar-powered EV charging stations.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lvl="1">
              <a:lnSpc>
                <a:spcPct val="100000"/>
              </a:lnSpc>
              <a:tabLst>
                <a:tab pos="516890" algn="l"/>
              </a:tabLst>
            </a:pPr>
            <a:r>
              <a:rPr lang="en-IN" sz="2200" b="1" spc="110" dirty="0">
                <a:latin typeface="Calibri"/>
                <a:cs typeface="Calibri"/>
              </a:rPr>
              <a:t>1.1 Motivation</a:t>
            </a:r>
          </a:p>
          <a:p>
            <a:pPr marL="12700" lvl="1">
              <a:tabLst>
                <a:tab pos="51689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lvl="1">
              <a:tabLst>
                <a:tab pos="516890" algn="l"/>
              </a:tabLs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necessity to solve two pressing issues—environmental pollution and the depletion of fossil fuels—is what spurred the development of solar charging systems for electric cars (EVs). Even if EVs are a great first step in the fight against urban air pollution, their environmental benefits are undermined if they run on non-renewable electricity. We are able to power EVs in a way that genuinely reduces their carbon footprint by employing solar energy, a clean and sustainable resource. Solar charging systems also lessen dependency on fossil fuels and the grid, promoting energy security and independence. Long-term economic gains are also possible from them since they provide a sustainable energy source and reduce the cost of power. Incorporating solar energy into EV charging infrastructure contributes to the worldwide movement towards sustainable development and combating climate change, while also facilitating the shift to environmentally friendly transportation.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lvl="1">
              <a:tabLst>
                <a:tab pos="51689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object 5"/>
          <p:cNvSpPr txBox="1">
            <a:spLocks noGrp="1"/>
          </p:cNvSpPr>
          <p:nvPr>
            <p:ph type="sldNum" sz="quarter" idx="7"/>
          </p:nvPr>
        </p:nvSpPr>
        <p:spPr>
          <a:xfrm>
            <a:off x="3689721" y="9873675"/>
            <a:ext cx="259979" cy="141321"/>
          </a:xfrm>
          <a:prstGeom prst="rect">
            <a:avLst/>
          </a:prstGeom>
        </p:spPr>
        <p:txBody>
          <a:bodyPr vert="horz" wrap="square" lIns="0" tIns="0" rIns="0" bIns="0" rtlCol="0">
            <a:spAutoFit/>
          </a:bodyPr>
          <a:lstStyle/>
          <a:p>
            <a:pPr marL="38100">
              <a:lnSpc>
                <a:spcPts val="1120"/>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DAFE762-31F8-356B-EDD9-40505DE8DF88}"/>
              </a:ext>
            </a:extLst>
          </p:cNvPr>
          <p:cNvSpPr txBox="1"/>
          <p:nvPr/>
        </p:nvSpPr>
        <p:spPr>
          <a:xfrm>
            <a:off x="520700" y="945170"/>
            <a:ext cx="6629400" cy="8425512"/>
          </a:xfrm>
          <a:prstGeom prst="rect">
            <a:avLst/>
          </a:prstGeom>
        </p:spPr>
        <p:txBody>
          <a:bodyPr vert="horz" wrap="square" lIns="0" tIns="16510" rIns="0" bIns="0" rtlCol="0">
            <a:spAutoFit/>
          </a:bodyPr>
          <a:lstStyle/>
          <a:p>
            <a:pPr marL="12700">
              <a:lnSpc>
                <a:spcPct val="100000"/>
              </a:lnSpc>
              <a:spcBef>
                <a:spcPts val="1845"/>
              </a:spcBef>
            </a:pPr>
            <a:r>
              <a:rPr lang="en-US" sz="2400" b="1" spc="180" dirty="0">
                <a:latin typeface="Calibri"/>
                <a:cs typeface="Calibri"/>
              </a:rPr>
              <a:t>1.2 Objective</a:t>
            </a:r>
          </a:p>
          <a:p>
            <a:pPr marL="12700">
              <a:lnSpc>
                <a:spcPct val="100000"/>
              </a:lnSpc>
              <a:spcBef>
                <a:spcPts val="1845"/>
              </a:spcBef>
            </a:pPr>
            <a:endParaRPr lang="en-US" sz="2400" b="1" spc="180" dirty="0">
              <a:latin typeface="Calibri"/>
              <a:cs typeface="Calibri"/>
            </a:endParaRPr>
          </a:p>
          <a:p>
            <a:pPr marL="342900" indent="-342900">
              <a:lnSpc>
                <a:spcPct val="107000"/>
              </a:lnSpc>
              <a:spcAft>
                <a:spcPts val="800"/>
              </a:spcAft>
              <a:buFont typeface="+mj-lt"/>
              <a:buAutoNum type="arabicPeriod"/>
            </a:pPr>
            <a:r>
              <a:rPr lang="en-IN" sz="1800" kern="0" dirty="0">
                <a:effectLst/>
                <a:latin typeface="Times New Roman" panose="02020603050405020304" pitchFamily="18" charset="0"/>
                <a:ea typeface="Times New Roman" panose="02020603050405020304" pitchFamily="18" charset="0"/>
              </a:rPr>
              <a:t>Reduce Carbon Emissions: By using clean, renewable solar energy for EV charging, we can lessen the carbon footprint connected with EVs and promote environmental sustainability. </a:t>
            </a:r>
          </a:p>
          <a:p>
            <a:pPr marL="342900" indent="-342900">
              <a:lnSpc>
                <a:spcPct val="107000"/>
              </a:lnSpc>
              <a:spcAft>
                <a:spcPts val="800"/>
              </a:spcAft>
              <a:buFont typeface="+mj-lt"/>
              <a:buAutoNum type="arabicPeriod"/>
            </a:pPr>
            <a:r>
              <a:rPr lang="en-IN" sz="1800" kern="0" dirty="0">
                <a:effectLst/>
                <a:latin typeface="Times New Roman" panose="02020603050405020304" pitchFamily="18" charset="0"/>
                <a:ea typeface="Times New Roman" panose="02020603050405020304" pitchFamily="18" charset="0"/>
              </a:rPr>
              <a:t>Boost Energy Independence: By giving EVs a dependable and sustainable energy source, we can lessen our reliance on the grid and non-renewable energy sources. </a:t>
            </a:r>
          </a:p>
          <a:p>
            <a:pPr marL="342900" indent="-342900">
              <a:lnSpc>
                <a:spcPct val="107000"/>
              </a:lnSpc>
              <a:spcAft>
                <a:spcPts val="800"/>
              </a:spcAft>
              <a:buFont typeface="+mj-lt"/>
              <a:buAutoNum type="arabicPeriod"/>
            </a:pPr>
            <a:r>
              <a:rPr lang="en-IN" sz="1800" kern="0" dirty="0">
                <a:effectLst/>
                <a:latin typeface="Times New Roman" panose="02020603050405020304" pitchFamily="18" charset="0"/>
                <a:ea typeface="Times New Roman" panose="02020603050405020304" pitchFamily="18" charset="0"/>
              </a:rPr>
              <a:t>Enhance Cost Efficiency: By using free solar energy, we can reduce the long-term operating expenses of EV charging and lessen our need on purchased electricity.</a:t>
            </a:r>
          </a:p>
          <a:p>
            <a:pPr marL="342900" indent="-342900">
              <a:lnSpc>
                <a:spcPct val="107000"/>
              </a:lnSpc>
              <a:spcAft>
                <a:spcPts val="800"/>
              </a:spcAft>
              <a:buFont typeface="+mj-lt"/>
              <a:buAutoNum type="arabicPeriod"/>
            </a:pPr>
            <a:r>
              <a:rPr lang="en-IN" dirty="0">
                <a:latin typeface="Times New Roman" panose="02020603050405020304" pitchFamily="18" charset="0"/>
                <a:ea typeface="Times New Roman" panose="02020603050405020304" pitchFamily="18" charset="0"/>
              </a:rPr>
              <a:t>P</a:t>
            </a:r>
            <a:r>
              <a:rPr lang="en-IN" sz="1800" kern="0" dirty="0">
                <a:effectLst/>
                <a:latin typeface="Times New Roman" panose="02020603050405020304" pitchFamily="18" charset="0"/>
                <a:ea typeface="Times New Roman" panose="02020603050405020304" pitchFamily="18" charset="0"/>
              </a:rPr>
              <a:t>rovide dependability: To incorporate battery storage technologies that provide a steady and dependable power source for electric vehicle charging, even at times of low sunshine or increased demand.  </a:t>
            </a:r>
          </a:p>
          <a:p>
            <a:pPr marL="342900" indent="-342900">
              <a:lnSpc>
                <a:spcPct val="107000"/>
              </a:lnSpc>
              <a:spcAft>
                <a:spcPts val="800"/>
              </a:spcAft>
              <a:buFont typeface="+mj-lt"/>
              <a:buAutoNum type="arabicPeriod"/>
            </a:pPr>
            <a:r>
              <a:rPr lang="en-IN" sz="1800" kern="0" dirty="0">
                <a:effectLst/>
                <a:latin typeface="Times New Roman" panose="02020603050405020304" pitchFamily="18" charset="0"/>
                <a:ea typeface="Times New Roman" panose="02020603050405020304" pitchFamily="18" charset="0"/>
              </a:rPr>
              <a:t>Promote Sustainable Infrastructure: To create and put into place infrastructure that facilitates the use of renewable energy, which will lead to a greater acceptance of sustainable mobility habits.</a:t>
            </a:r>
            <a:endParaRPr lang="en-IN" dirty="0">
              <a:latin typeface="Times New Roman" panose="02020603050405020304" pitchFamily="18" charset="0"/>
              <a:ea typeface="Times New Roman" panose="02020603050405020304" pitchFamily="18" charset="0"/>
            </a:endParaRPr>
          </a:p>
          <a:p>
            <a:pPr marL="342900" indent="-342900">
              <a:lnSpc>
                <a:spcPct val="107000"/>
              </a:lnSpc>
              <a:spcAft>
                <a:spcPts val="800"/>
              </a:spcAft>
              <a:buFont typeface="+mj-lt"/>
              <a:buAutoNum type="arabicPeriod"/>
            </a:pPr>
            <a:r>
              <a:rPr lang="en-IN" sz="1800" kern="0" dirty="0">
                <a:effectLst/>
                <a:latin typeface="Times New Roman" panose="02020603050405020304" pitchFamily="18" charset="0"/>
                <a:ea typeface="Times New Roman" panose="02020603050405020304" pitchFamily="18" charset="0"/>
              </a:rPr>
              <a:t>Encourage Grid Stability: To make it possible for solar charging stations that are connected to the grid to import and export electricity, balancing supply and demand and improving overall grid stability. </a:t>
            </a:r>
            <a:br>
              <a:rPr lang="en-IN" sz="1800" kern="0" dirty="0">
                <a:effectLst/>
                <a:latin typeface="Times New Roman" panose="02020603050405020304" pitchFamily="18" charset="0"/>
                <a:ea typeface="Times New Roman" panose="02020603050405020304" pitchFamily="18" charset="0"/>
              </a:rPr>
            </a:br>
            <a:endParaRPr lang="en-IN" sz="1800" kern="0" dirty="0">
              <a:effectLst/>
              <a:latin typeface="Times New Roman" panose="02020603050405020304" pitchFamily="18" charset="0"/>
              <a:ea typeface="Times New Roman" panose="02020603050405020304" pitchFamily="18" charset="0"/>
            </a:endParaRPr>
          </a:p>
          <a:p>
            <a:pPr marL="12700">
              <a:lnSpc>
                <a:spcPct val="100000"/>
              </a:lnSpc>
              <a:spcBef>
                <a:spcPts val="1845"/>
              </a:spcBef>
            </a:pPr>
            <a:endParaRPr lang="en-US" sz="2400" b="1" spc="180" dirty="0">
              <a:latin typeface="Calibri"/>
              <a:cs typeface="Calibri"/>
            </a:endParaRPr>
          </a:p>
        </p:txBody>
      </p:sp>
      <p:sp>
        <p:nvSpPr>
          <p:cNvPr id="3" name="object 6">
            <a:extLst>
              <a:ext uri="{FF2B5EF4-FFF2-40B4-BE49-F238E27FC236}">
                <a16:creationId xmlns:a16="http://schemas.microsoft.com/office/drawing/2014/main" id="{8419D081-7E8E-FDD0-1E22-5BF5DBF2B504}"/>
              </a:ext>
            </a:extLst>
          </p:cNvPr>
          <p:cNvSpPr txBox="1">
            <a:spLocks noGrp="1"/>
          </p:cNvSpPr>
          <p:nvPr>
            <p:ph type="sldNum" sz="quarter" idx="7"/>
          </p:nvPr>
        </p:nvSpPr>
        <p:spPr>
          <a:xfrm>
            <a:off x="3689721" y="956979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6</a:t>
            </a:fld>
            <a:endParaRPr spc="-25" dirty="0"/>
          </a:p>
        </p:txBody>
      </p:sp>
    </p:spTree>
    <p:extLst>
      <p:ext uri="{BB962C8B-B14F-4D97-AF65-F5344CB8AC3E}">
        <p14:creationId xmlns:p14="http://schemas.microsoft.com/office/powerpoint/2010/main" val="379826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C1E35F8-D135-3E99-26AF-BB1DD901EBC3}"/>
              </a:ext>
            </a:extLst>
          </p:cNvPr>
          <p:cNvSpPr txBox="1"/>
          <p:nvPr/>
        </p:nvSpPr>
        <p:spPr>
          <a:xfrm>
            <a:off x="482600" y="777875"/>
            <a:ext cx="6629400" cy="9303188"/>
          </a:xfrm>
          <a:prstGeom prst="rect">
            <a:avLst/>
          </a:prstGeom>
        </p:spPr>
        <p:txBody>
          <a:bodyPr vert="horz" wrap="square" lIns="0" tIns="16510" rIns="0" bIns="0" rtlCol="0">
            <a:spAutoFit/>
          </a:bodyPr>
          <a:lstStyle/>
          <a:p>
            <a:pPr marL="12700">
              <a:lnSpc>
                <a:spcPct val="100000"/>
              </a:lnSpc>
              <a:spcBef>
                <a:spcPts val="1845"/>
              </a:spcBef>
            </a:pPr>
            <a:r>
              <a:rPr lang="en-US" sz="2400" b="1" spc="180" dirty="0">
                <a:latin typeface="Calibri"/>
                <a:cs typeface="Calibri"/>
              </a:rPr>
              <a:t>1.3  SDGs Goal</a:t>
            </a:r>
          </a:p>
          <a:p>
            <a:pPr>
              <a:lnSpc>
                <a:spcPct val="107000"/>
              </a:lnSpc>
              <a:spcAft>
                <a:spcPts val="800"/>
              </a:spcAft>
            </a:pPr>
            <a:endPar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Sustainable, Reliable, and inexpensive Energy (SDG 7): Solar charging systems offer EV owners an economical, renewable energy option, facilitating the availability of inexpensive, dependable, and sustainable energy. </a:t>
            </a:r>
            <a:b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Climate Action (SDG 13): Solar charging systems considerably reduce greenhouse gas emissions by lowering reliance on fossil fuels, which helps to combat climate change and promote international climate action initiatives. </a:t>
            </a:r>
            <a:b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Industry, Innovation, and Infrastructure (SDG 9): Using solar energy to power EV charging stations highlights cutting-edge technological advancements and improves the sustainability of industrial and urban infrastructure. </a:t>
            </a:r>
            <a:b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Sustainable Cities and Communities (SDG 11): By reducing pollution and encouraging cleaner transportation options, the installation of solar-powered EV charging stations aids in the growth of sustainable urban environments.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Partnerships for the Goals (SDG 17): In order to progress renewable energy technology and meet common sustainable development goals, governments, corporations, and communities must work together to successfully implement solar charging infrastructure for EVs. </a:t>
            </a:r>
            <a:b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Responsible Consumption and generation (SDG 12): By lowering reliance on non-renewable energy sources and minimising environmental effect through cleaner energy generation, using solar energy for EV charging promotes responsible consumption.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p:txBody>
      </p:sp>
      <p:sp>
        <p:nvSpPr>
          <p:cNvPr id="3" name="object 6">
            <a:extLst>
              <a:ext uri="{FF2B5EF4-FFF2-40B4-BE49-F238E27FC236}">
                <a16:creationId xmlns:a16="http://schemas.microsoft.com/office/drawing/2014/main" id="{DF52FD82-DE56-DBEC-BEAE-EC104753B704}"/>
              </a:ext>
            </a:extLst>
          </p:cNvPr>
          <p:cNvSpPr txBox="1">
            <a:spLocks noGrp="1"/>
          </p:cNvSpPr>
          <p:nvPr>
            <p:ph type="sldNum" sz="quarter" idx="7"/>
          </p:nvPr>
        </p:nvSpPr>
        <p:spPr>
          <a:xfrm>
            <a:off x="3689721" y="956979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7</a:t>
            </a:fld>
            <a:endParaRPr spc="-25" dirty="0"/>
          </a:p>
        </p:txBody>
      </p:sp>
    </p:spTree>
    <p:extLst>
      <p:ext uri="{BB962C8B-B14F-4D97-AF65-F5344CB8AC3E}">
        <p14:creationId xmlns:p14="http://schemas.microsoft.com/office/powerpoint/2010/main" val="1480682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F16C021-DDF1-914B-83C4-62B095847D6E}"/>
              </a:ext>
            </a:extLst>
          </p:cNvPr>
          <p:cNvSpPr txBox="1"/>
          <p:nvPr/>
        </p:nvSpPr>
        <p:spPr>
          <a:xfrm>
            <a:off x="482600" y="777875"/>
            <a:ext cx="6629400" cy="7948779"/>
          </a:xfrm>
          <a:prstGeom prst="rect">
            <a:avLst/>
          </a:prstGeom>
        </p:spPr>
        <p:txBody>
          <a:bodyPr vert="horz" wrap="square" lIns="0" tIns="16510" rIns="0" bIns="0" rtlCol="0">
            <a:spAutoFit/>
          </a:bodyPr>
          <a:lstStyle/>
          <a:p>
            <a:pPr marL="12700">
              <a:lnSpc>
                <a:spcPct val="100000"/>
              </a:lnSpc>
              <a:spcBef>
                <a:spcPts val="1845"/>
              </a:spcBef>
            </a:pPr>
            <a:r>
              <a:rPr lang="en-US" sz="2400" b="1" spc="180" dirty="0">
                <a:latin typeface="Calibri"/>
                <a:cs typeface="Calibri"/>
              </a:rPr>
              <a:t>1.4 Literature survey</a:t>
            </a:r>
          </a:p>
          <a:p>
            <a:pPr marL="298450" indent="-285750">
              <a:spcBef>
                <a:spcPts val="1845"/>
              </a:spcBef>
              <a:buFont typeface="Arial" panose="020B0604020202020204" pitchFamily="34" charset="0"/>
              <a:buChar char="•"/>
            </a:pP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Zarren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Firdouse</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Syed Majed Ashraf,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Khaliqur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Rahman, and Haroon Rehman from the Electrical Engineering Department at Aligarh Muslim University in Aligarh, India, are the authors of the work. The reports, technical papers, and web sites pertaining to solar energy, electric vehicles, power quality, and environmental impact are among the sources listed in the paper's literature. The International Energy Agency's reports, research on air pollution and transportation-related emissions, and technical articles on solar energy, electric car technology, and power quality evaluation are a few examples of the cited literature.</a:t>
            </a:r>
            <a:endParaRPr lang="en-US" sz="2400" b="1" kern="0" spc="180" dirty="0">
              <a:effectLst/>
              <a:latin typeface="Calibri"/>
              <a:ea typeface="Times New Roman" panose="02020603050405020304" pitchFamily="18" charset="0"/>
              <a:cs typeface="Calibri"/>
            </a:endParaRPr>
          </a:p>
          <a:p>
            <a:pPr marL="298450" indent="-285750">
              <a:spcBef>
                <a:spcPts val="1845"/>
              </a:spcBef>
              <a:buFont typeface="Arial" panose="020B0604020202020204" pitchFamily="34" charset="0"/>
              <a:buChar char="•"/>
            </a:pPr>
            <a:r>
              <a:rPr lang="en-US" sz="2400" b="1" spc="180" dirty="0">
                <a:latin typeface="Calibri"/>
                <a:ea typeface="Calibri" panose="020F0502020204030204" pitchFamily="34" charset="0"/>
                <a:cs typeface="Calibri"/>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An EV charger and solar panel hybrid system: a stochastic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simulationIn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order to control the growing demand for electric vehicles while maximising the financial gain of the charging station operator (CPO), the paper presents a stochastic simulation for a hybrid system of solar panels and EV chargers. It highlights that, given the growing strain on the electrical infrastructure, a smart charging methodology is essential to guarantee stability and security. Based on reasonable assumptions, the simulation produces large amounts of data, taking into account variables like the number of vehicles, arrival hours, charging state, and solar energy installation. The study is broken down into sections that address energy-related computations, a case study in a university parking lot, the hybrid system, and the suggested charging simulation platform.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98450" indent="-285750">
              <a:spcBef>
                <a:spcPts val="1845"/>
              </a:spcBef>
              <a:buFont typeface="Arial" panose="020B0604020202020204" pitchFamily="34" charset="0"/>
              <a:buChar char="•"/>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object 6">
            <a:extLst>
              <a:ext uri="{FF2B5EF4-FFF2-40B4-BE49-F238E27FC236}">
                <a16:creationId xmlns:a16="http://schemas.microsoft.com/office/drawing/2014/main" id="{0587077C-E0F0-9C8D-6321-D4103F9B9113}"/>
              </a:ext>
            </a:extLst>
          </p:cNvPr>
          <p:cNvSpPr txBox="1">
            <a:spLocks noGrp="1"/>
          </p:cNvSpPr>
          <p:nvPr>
            <p:ph type="sldNum" sz="quarter" idx="7"/>
          </p:nvPr>
        </p:nvSpPr>
        <p:spPr>
          <a:xfrm>
            <a:off x="3689721" y="956979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8</a:t>
            </a:fld>
            <a:endParaRPr spc="-25" dirty="0"/>
          </a:p>
        </p:txBody>
      </p:sp>
    </p:spTree>
    <p:extLst>
      <p:ext uri="{BB962C8B-B14F-4D97-AF65-F5344CB8AC3E}">
        <p14:creationId xmlns:p14="http://schemas.microsoft.com/office/powerpoint/2010/main" val="1265900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4712947-7AE6-01DB-278F-3E4D46CF8A57}"/>
              </a:ext>
            </a:extLst>
          </p:cNvPr>
          <p:cNvSpPr txBox="1"/>
          <p:nvPr/>
        </p:nvSpPr>
        <p:spPr>
          <a:xfrm>
            <a:off x="482600" y="777875"/>
            <a:ext cx="6629400" cy="7449475"/>
          </a:xfrm>
          <a:prstGeom prst="rect">
            <a:avLst/>
          </a:prstGeom>
        </p:spPr>
        <p:txBody>
          <a:bodyPr vert="horz" wrap="square" lIns="0" tIns="16510" rIns="0" bIns="0" rtlCol="0">
            <a:spAutoFit/>
          </a:bodyPr>
          <a:lstStyle/>
          <a:p>
            <a:pPr marL="298450" indent="-285750">
              <a:spcBef>
                <a:spcPts val="1845"/>
              </a:spcBef>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rPr>
              <a:t>Commercial office buildings with rooftop solar PV systems for electric vehicle charging </a:t>
            </a:r>
            <a:r>
              <a:rPr lang="en-IN" sz="1800" kern="0" dirty="0" err="1">
                <a:effectLst/>
                <a:latin typeface="Times New Roman" panose="02020603050405020304" pitchFamily="18" charset="0"/>
                <a:ea typeface="Times New Roman" panose="02020603050405020304" pitchFamily="18" charset="0"/>
              </a:rPr>
              <a:t>loadThe</a:t>
            </a:r>
            <a:r>
              <a:rPr lang="en-IN" sz="1800" kern="0" dirty="0">
                <a:effectLst/>
                <a:latin typeface="Times New Roman" panose="02020603050405020304" pitchFamily="18" charset="0"/>
                <a:ea typeface="Times New Roman" panose="02020603050405020304" pitchFamily="18" charset="0"/>
              </a:rPr>
              <a:t> Indian Institute of Technology, Roorkee, India's Department of Electrical Engineering is home to the paper's author. The integration of rooftop solar PV systems, infrastructure for electric vehicle (EV) charging, and their effects on commercial buildings and the energy grid are probably the main topics of the literature review in the paper. It might talk about the difficulties, chances, and developments in these fields, especially in relation to smart measurement, instrumentation, and sustainable urban development. Professionals, academics, and stakeholders working in the sectors of energy, sustainability, smart infrastructure, and urban development are likely to find value in the findings given in this paper. </a:t>
            </a:r>
          </a:p>
          <a:p>
            <a:pPr marL="298450" indent="-285750">
              <a:spcBef>
                <a:spcPts val="1845"/>
              </a:spcBef>
              <a:buFont typeface="Arial" panose="020B0604020202020204" pitchFamily="34" charset="0"/>
              <a:buChar char="•"/>
            </a:pPr>
            <a:r>
              <a:rPr lang="en-IN" dirty="0">
                <a:latin typeface="Times New Roman" panose="02020603050405020304" pitchFamily="18" charset="0"/>
                <a:ea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rPr>
              <a:t>The paper's authors are </a:t>
            </a:r>
            <a:r>
              <a:rPr lang="en-IN" sz="1800" kern="0" dirty="0" err="1">
                <a:effectLst/>
                <a:latin typeface="Times New Roman" panose="02020603050405020304" pitchFamily="18" charset="0"/>
                <a:ea typeface="Times New Roman" panose="02020603050405020304" pitchFamily="18" charset="0"/>
              </a:rPr>
              <a:t>Vijith</a:t>
            </a:r>
            <a:r>
              <a:rPr lang="en-IN" sz="1800" kern="0" dirty="0">
                <a:effectLst/>
                <a:latin typeface="Times New Roman" panose="02020603050405020304" pitchFamily="18" charset="0"/>
                <a:ea typeface="Times New Roman" panose="02020603050405020304" pitchFamily="18" charset="0"/>
              </a:rPr>
              <a:t> K. and Rahul Hossain. The paper's literature review refers to a number of articles and conference papers, including "Model predictive current controller for grid connected PV inverter" by Arya </a:t>
            </a:r>
            <a:r>
              <a:rPr lang="en-IN" sz="1800" kern="0" dirty="0" err="1">
                <a:effectLst/>
                <a:latin typeface="Times New Roman" panose="02020603050405020304" pitchFamily="18" charset="0"/>
                <a:ea typeface="Times New Roman" panose="02020603050405020304" pitchFamily="18" charset="0"/>
              </a:rPr>
              <a:t>Gopakumar</a:t>
            </a:r>
            <a:r>
              <a:rPr lang="en-IN" sz="1800" kern="0" dirty="0">
                <a:effectLst/>
                <a:latin typeface="Times New Roman" panose="02020603050405020304" pitchFamily="18" charset="0"/>
                <a:ea typeface="Times New Roman" panose="02020603050405020304" pitchFamily="18" charset="0"/>
              </a:rPr>
              <a:t> and A </a:t>
            </a:r>
            <a:r>
              <a:rPr lang="en-IN" sz="1800" kern="0" dirty="0" err="1">
                <a:effectLst/>
                <a:latin typeface="Times New Roman" panose="02020603050405020304" pitchFamily="18" charset="0"/>
                <a:ea typeface="Times New Roman" panose="02020603050405020304" pitchFamily="18" charset="0"/>
              </a:rPr>
              <a:t>Vijayakumari</a:t>
            </a:r>
            <a:r>
              <a:rPr lang="en-IN" sz="1800" kern="0" dirty="0">
                <a:effectLst/>
                <a:latin typeface="Times New Roman" panose="02020603050405020304" pitchFamily="18" charset="0"/>
                <a:ea typeface="Times New Roman" panose="02020603050405020304" pitchFamily="18" charset="0"/>
              </a:rPr>
              <a:t>, "Development of fast large lead-acid battery charging system using multi-state strategy" by Cheng </a:t>
            </a:r>
            <a:r>
              <a:rPr lang="en-IN" sz="1800" kern="0" dirty="0" err="1">
                <a:effectLst/>
                <a:latin typeface="Times New Roman" panose="02020603050405020304" pitchFamily="18" charset="0"/>
                <a:ea typeface="Times New Roman" panose="02020603050405020304" pitchFamily="18" charset="0"/>
              </a:rPr>
              <a:t>Siong</a:t>
            </a:r>
            <a:r>
              <a:rPr lang="en-IN" sz="1800" kern="0" dirty="0">
                <a:effectLst/>
                <a:latin typeface="Times New Roman" panose="02020603050405020304" pitchFamily="18" charset="0"/>
                <a:ea typeface="Times New Roman" panose="02020603050405020304" pitchFamily="18" charset="0"/>
              </a:rPr>
              <a:t> Lee, </a:t>
            </a:r>
            <a:r>
              <a:rPr lang="en-IN" sz="1800" kern="0" dirty="0" err="1">
                <a:effectLst/>
                <a:latin typeface="Times New Roman" panose="02020603050405020304" pitchFamily="18" charset="0"/>
                <a:ea typeface="Times New Roman" panose="02020603050405020304" pitchFamily="18" charset="0"/>
              </a:rPr>
              <a:t>Hsiung</a:t>
            </a:r>
            <a:r>
              <a:rPr lang="en-IN" sz="1800" kern="0" dirty="0">
                <a:effectLst/>
                <a:latin typeface="Times New Roman" panose="02020603050405020304" pitchFamily="18" charset="0"/>
                <a:ea typeface="Times New Roman" panose="02020603050405020304" pitchFamily="18" charset="0"/>
              </a:rPr>
              <a:t> Cheng Lin, and Sin-You Lai, "Design of an electric vehicle fast-charging station with integration of renewable energy and storage" by JA Dom ́</a:t>
            </a:r>
            <a:r>
              <a:rPr lang="en-IN" sz="1800" kern="0" dirty="0" err="1">
                <a:effectLst/>
                <a:latin typeface="Times New Roman" panose="02020603050405020304" pitchFamily="18" charset="0"/>
                <a:ea typeface="Times New Roman" panose="02020603050405020304" pitchFamily="18" charset="0"/>
              </a:rPr>
              <a:t>ınguez</a:t>
            </a:r>
            <a:r>
              <a:rPr lang="en-IN" sz="1800" kern="0" dirty="0">
                <a:effectLst/>
                <a:latin typeface="Times New Roman" panose="02020603050405020304" pitchFamily="18" charset="0"/>
                <a:ea typeface="Times New Roman" panose="02020603050405020304" pitchFamily="18" charset="0"/>
              </a:rPr>
              <a:t>-Navarro, R </a:t>
            </a:r>
            <a:r>
              <a:rPr lang="en-IN" sz="1800" kern="0" dirty="0" err="1">
                <a:effectLst/>
                <a:latin typeface="Times New Roman" panose="02020603050405020304" pitchFamily="18" charset="0"/>
                <a:ea typeface="Times New Roman" panose="02020603050405020304" pitchFamily="18" charset="0"/>
              </a:rPr>
              <a:t>Dufo</a:t>
            </a:r>
            <a:r>
              <a:rPr lang="en-IN" sz="1800" kern="0" dirty="0">
                <a:effectLst/>
                <a:latin typeface="Times New Roman" panose="02020603050405020304" pitchFamily="18" charset="0"/>
                <a:ea typeface="Times New Roman" panose="02020603050405020304" pitchFamily="18" charset="0"/>
              </a:rPr>
              <a:t>-L ́</a:t>
            </a:r>
            <a:r>
              <a:rPr lang="en-IN" sz="1800" kern="0" dirty="0" err="1">
                <a:effectLst/>
                <a:latin typeface="Times New Roman" panose="02020603050405020304" pitchFamily="18" charset="0"/>
                <a:ea typeface="Times New Roman" panose="02020603050405020304" pitchFamily="18" charset="0"/>
              </a:rPr>
              <a:t>opez</a:t>
            </a:r>
            <a:r>
              <a:rPr lang="en-IN" sz="1800" kern="0" dirty="0">
                <a:effectLst/>
                <a:latin typeface="Times New Roman" panose="02020603050405020304" pitchFamily="18" charset="0"/>
                <a:ea typeface="Times New Roman" panose="02020603050405020304" pitchFamily="18" charset="0"/>
              </a:rPr>
              <a:t>, JM </a:t>
            </a:r>
            <a:r>
              <a:rPr lang="en-IN" sz="1800" kern="0" dirty="0" err="1">
                <a:effectLst/>
                <a:latin typeface="Times New Roman" panose="02020603050405020304" pitchFamily="18" charset="0"/>
                <a:ea typeface="Times New Roman" panose="02020603050405020304" pitchFamily="18" charset="0"/>
              </a:rPr>
              <a:t>Yusta-Loyo</a:t>
            </a:r>
            <a:r>
              <a:rPr lang="en-IN" sz="1800" kern="0" dirty="0">
                <a:effectLst/>
                <a:latin typeface="Times New Roman" panose="02020603050405020304" pitchFamily="18" charset="0"/>
                <a:ea typeface="Times New Roman" panose="02020603050405020304" pitchFamily="18" charset="0"/>
              </a:rPr>
              <a:t>, JS Artal-</a:t>
            </a:r>
            <a:r>
              <a:rPr lang="en-IN" sz="1800" kern="0" dirty="0" err="1">
                <a:effectLst/>
                <a:latin typeface="Times New Roman" panose="02020603050405020304" pitchFamily="18" charset="0"/>
                <a:ea typeface="Times New Roman" panose="02020603050405020304" pitchFamily="18" charset="0"/>
              </a:rPr>
              <a:t>Sevil</a:t>
            </a:r>
            <a:r>
              <a:rPr lang="en-IN" sz="1800" kern="0" dirty="0">
                <a:effectLst/>
                <a:latin typeface="Times New Roman" panose="02020603050405020304" pitchFamily="18" charset="0"/>
                <a:ea typeface="Times New Roman" panose="02020603050405020304" pitchFamily="18" charset="0"/>
              </a:rPr>
              <a:t>, and JL Bernal-</a:t>
            </a:r>
            <a:r>
              <a:rPr lang="en-IN" sz="1800" kern="0" dirty="0" err="1">
                <a:effectLst/>
                <a:latin typeface="Times New Roman" panose="02020603050405020304" pitchFamily="18" charset="0"/>
                <a:ea typeface="Times New Roman" panose="02020603050405020304" pitchFamily="18" charset="0"/>
              </a:rPr>
              <a:t>Agust</a:t>
            </a:r>
            <a:r>
              <a:rPr lang="en-IN" sz="1800" kern="0" dirty="0">
                <a:effectLst/>
                <a:latin typeface="Times New Roman" panose="02020603050405020304" pitchFamily="18" charset="0"/>
                <a:ea typeface="Times New Roman" panose="02020603050405020304" pitchFamily="18" charset="0"/>
              </a:rPr>
              <a:t> </a:t>
            </a:r>
            <a:r>
              <a:rPr lang="en-IN" sz="1800" kern="0" dirty="0" err="1">
                <a:effectLst/>
                <a:latin typeface="Times New Roman" panose="02020603050405020304" pitchFamily="18" charset="0"/>
                <a:ea typeface="Times New Roman" panose="02020603050405020304" pitchFamily="18" charset="0"/>
              </a:rPr>
              <a:t>ˁın</a:t>
            </a:r>
            <a:r>
              <a:rPr lang="en-IN" sz="1800" kern="0" dirty="0">
                <a:effectLst/>
                <a:latin typeface="Times New Roman" panose="02020603050405020304" pitchFamily="18" charset="0"/>
                <a:ea typeface="Times New Roman" panose="02020603050405020304" pitchFamily="18" charset="0"/>
              </a:rPr>
              <a:t>, "Grid connected multilevel inverter for renewable energy applications" by R Mahalakshmi and KC Sindhu </a:t>
            </a:r>
            <a:r>
              <a:rPr lang="en-IN" sz="1800" kern="0" dirty="0" err="1">
                <a:effectLst/>
                <a:latin typeface="Times New Roman" panose="02020603050405020304" pitchFamily="18" charset="0"/>
                <a:ea typeface="Times New Roman" panose="02020603050405020304" pitchFamily="18" charset="0"/>
              </a:rPr>
              <a:t>Thampatty</a:t>
            </a:r>
            <a:r>
              <a:rPr lang="en-IN" sz="1800" kern="0" dirty="0">
                <a:effectLst/>
                <a:latin typeface="Times New Roman" panose="02020603050405020304" pitchFamily="18" charset="0"/>
                <a:ea typeface="Times New Roman" panose="02020603050405020304" pitchFamily="18" charset="0"/>
              </a:rPr>
              <a:t>, and others. These sources address a variety of subjects pertaining to power, electric vehicle charging, and renewable energy.</a:t>
            </a:r>
          </a:p>
        </p:txBody>
      </p:sp>
      <p:sp>
        <p:nvSpPr>
          <p:cNvPr id="3" name="object 6">
            <a:extLst>
              <a:ext uri="{FF2B5EF4-FFF2-40B4-BE49-F238E27FC236}">
                <a16:creationId xmlns:a16="http://schemas.microsoft.com/office/drawing/2014/main" id="{E78E47D1-B8F9-ACF6-8815-8AACC433FEB7}"/>
              </a:ext>
            </a:extLst>
          </p:cNvPr>
          <p:cNvSpPr txBox="1">
            <a:spLocks noGrp="1"/>
          </p:cNvSpPr>
          <p:nvPr>
            <p:ph type="sldNum" sz="quarter" idx="7"/>
          </p:nvPr>
        </p:nvSpPr>
        <p:spPr>
          <a:xfrm>
            <a:off x="3689721" y="956979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9</a:t>
            </a:fld>
            <a:endParaRPr spc="-25" dirty="0"/>
          </a:p>
        </p:txBody>
      </p:sp>
    </p:spTree>
    <p:extLst>
      <p:ext uri="{BB962C8B-B14F-4D97-AF65-F5344CB8AC3E}">
        <p14:creationId xmlns:p14="http://schemas.microsoft.com/office/powerpoint/2010/main" val="1629788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DCDE154-6992-91EC-51EF-B5424A634A8D}"/>
              </a:ext>
            </a:extLst>
          </p:cNvPr>
          <p:cNvSpPr txBox="1"/>
          <p:nvPr/>
        </p:nvSpPr>
        <p:spPr>
          <a:xfrm>
            <a:off x="482600" y="777875"/>
            <a:ext cx="6629400" cy="7772641"/>
          </a:xfrm>
          <a:prstGeom prst="rect">
            <a:avLst/>
          </a:prstGeom>
        </p:spPr>
        <p:txBody>
          <a:bodyPr vert="horz" wrap="square" lIns="0" tIns="16510" rIns="0" bIns="0" rtlCol="0">
            <a:spAutoFit/>
          </a:bodyPr>
          <a:lstStyle/>
          <a:p>
            <a:pPr marL="12700">
              <a:lnSpc>
                <a:spcPct val="100000"/>
              </a:lnSpc>
              <a:spcBef>
                <a:spcPts val="1845"/>
              </a:spcBef>
            </a:pPr>
            <a:r>
              <a:rPr lang="en-US" sz="2400" b="1" spc="180" dirty="0">
                <a:latin typeface="Calibri"/>
                <a:cs typeface="Calibri"/>
              </a:rPr>
              <a:t>1.5 Problem statement</a:t>
            </a:r>
          </a:p>
          <a:p>
            <a:pPr marL="12700">
              <a:spcBef>
                <a:spcPts val="1845"/>
              </a:spcBef>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Develop a solar panel charging  system for a vehicle, ensuring efficient utilization of solar energy  and real-time charging process.</a:t>
            </a:r>
          </a:p>
          <a:p>
            <a:pPr marL="12700">
              <a:lnSpc>
                <a:spcPct val="100000"/>
              </a:lnSpc>
              <a:spcBef>
                <a:spcPts val="1845"/>
              </a:spcBef>
            </a:pPr>
            <a:r>
              <a:rPr lang="en-US" sz="2400" b="1" spc="180" dirty="0">
                <a:latin typeface="Calibri"/>
                <a:cs typeface="Calibri"/>
              </a:rPr>
              <a:t>1.6 Bill of materials</a:t>
            </a: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p:txBody>
      </p:sp>
      <p:sp>
        <p:nvSpPr>
          <p:cNvPr id="3" name="object 6">
            <a:extLst>
              <a:ext uri="{FF2B5EF4-FFF2-40B4-BE49-F238E27FC236}">
                <a16:creationId xmlns:a16="http://schemas.microsoft.com/office/drawing/2014/main" id="{03121366-CB92-22BA-FAD3-D07FFB2132F7}"/>
              </a:ext>
            </a:extLst>
          </p:cNvPr>
          <p:cNvSpPr txBox="1">
            <a:spLocks noGrp="1"/>
          </p:cNvSpPr>
          <p:nvPr>
            <p:ph type="sldNum" sz="quarter" idx="7"/>
          </p:nvPr>
        </p:nvSpPr>
        <p:spPr>
          <a:xfrm>
            <a:off x="3689721" y="956979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10</a:t>
            </a:fld>
            <a:endParaRPr spc="-25" dirty="0"/>
          </a:p>
        </p:txBody>
      </p:sp>
      <p:graphicFrame>
        <p:nvGraphicFramePr>
          <p:cNvPr id="4" name="Table 3">
            <a:extLst>
              <a:ext uri="{FF2B5EF4-FFF2-40B4-BE49-F238E27FC236}">
                <a16:creationId xmlns:a16="http://schemas.microsoft.com/office/drawing/2014/main" id="{7D7D2225-52F1-5A19-1DE6-8F40CBCB4023}"/>
              </a:ext>
            </a:extLst>
          </p:cNvPr>
          <p:cNvGraphicFramePr>
            <a:graphicFrameLocks noGrp="1"/>
          </p:cNvGraphicFramePr>
          <p:nvPr>
            <p:extLst>
              <p:ext uri="{D42A27DB-BD31-4B8C-83A1-F6EECF244321}">
                <p14:modId xmlns:p14="http://schemas.microsoft.com/office/powerpoint/2010/main" val="184562046"/>
              </p:ext>
            </p:extLst>
          </p:nvPr>
        </p:nvGraphicFramePr>
        <p:xfrm>
          <a:off x="596900" y="2911475"/>
          <a:ext cx="6324600" cy="4240530"/>
        </p:xfrm>
        <a:graphic>
          <a:graphicData uri="http://schemas.openxmlformats.org/drawingml/2006/table">
            <a:tbl>
              <a:tblPr firstRow="1" bandRow="1">
                <a:tableStyleId>{5C22544A-7EE6-4342-B048-85BDC9FD1C3A}</a:tableStyleId>
              </a:tblPr>
              <a:tblGrid>
                <a:gridCol w="2108200">
                  <a:extLst>
                    <a:ext uri="{9D8B030D-6E8A-4147-A177-3AD203B41FA5}">
                      <a16:colId xmlns:a16="http://schemas.microsoft.com/office/drawing/2014/main" val="2839053183"/>
                    </a:ext>
                  </a:extLst>
                </a:gridCol>
                <a:gridCol w="2108200">
                  <a:extLst>
                    <a:ext uri="{9D8B030D-6E8A-4147-A177-3AD203B41FA5}">
                      <a16:colId xmlns:a16="http://schemas.microsoft.com/office/drawing/2014/main" val="858733921"/>
                    </a:ext>
                  </a:extLst>
                </a:gridCol>
                <a:gridCol w="2108200">
                  <a:extLst>
                    <a:ext uri="{9D8B030D-6E8A-4147-A177-3AD203B41FA5}">
                      <a16:colId xmlns:a16="http://schemas.microsoft.com/office/drawing/2014/main" val="888187067"/>
                    </a:ext>
                  </a:extLst>
                </a:gridCol>
              </a:tblGrid>
              <a:tr h="514350">
                <a:tc>
                  <a:txBody>
                    <a:bodyPr/>
                    <a:lstStyle/>
                    <a:p>
                      <a:r>
                        <a:rPr lang="en-IN" dirty="0"/>
                        <a:t>Name of the component</a:t>
                      </a:r>
                    </a:p>
                  </a:txBody>
                  <a:tcPr/>
                </a:tc>
                <a:tc>
                  <a:txBody>
                    <a:bodyPr/>
                    <a:lstStyle/>
                    <a:p>
                      <a:r>
                        <a:rPr lang="en-IN" dirty="0"/>
                        <a:t>         Quantity </a:t>
                      </a:r>
                    </a:p>
                  </a:txBody>
                  <a:tcPr/>
                </a:tc>
                <a:tc>
                  <a:txBody>
                    <a:bodyPr/>
                    <a:lstStyle/>
                    <a:p>
                      <a:r>
                        <a:rPr lang="en-IN" dirty="0"/>
                        <a:t>           Cost</a:t>
                      </a:r>
                    </a:p>
                  </a:txBody>
                  <a:tcPr/>
                </a:tc>
                <a:extLst>
                  <a:ext uri="{0D108BD9-81ED-4DB2-BD59-A6C34878D82A}">
                    <a16:rowId xmlns:a16="http://schemas.microsoft.com/office/drawing/2014/main" val="1746595630"/>
                  </a:ext>
                </a:extLst>
              </a:tr>
              <a:tr h="514350">
                <a:tc>
                  <a:txBody>
                    <a:bodyPr/>
                    <a:lstStyle/>
                    <a:p>
                      <a:r>
                        <a:rPr lang="en-IN" dirty="0"/>
                        <a:t>ESP32 </a:t>
                      </a:r>
                    </a:p>
                  </a:txBody>
                  <a:tcPr/>
                </a:tc>
                <a:tc>
                  <a:txBody>
                    <a:bodyPr/>
                    <a:lstStyle/>
                    <a:p>
                      <a:r>
                        <a:rPr lang="en-IN" dirty="0"/>
                        <a:t>                1</a:t>
                      </a:r>
                    </a:p>
                  </a:txBody>
                  <a:tcPr/>
                </a:tc>
                <a:tc>
                  <a:txBody>
                    <a:bodyPr/>
                    <a:lstStyle/>
                    <a:p>
                      <a:r>
                        <a:rPr lang="en-IN" dirty="0"/>
                        <a:t>             450</a:t>
                      </a:r>
                    </a:p>
                  </a:txBody>
                  <a:tcPr/>
                </a:tc>
                <a:extLst>
                  <a:ext uri="{0D108BD9-81ED-4DB2-BD59-A6C34878D82A}">
                    <a16:rowId xmlns:a16="http://schemas.microsoft.com/office/drawing/2014/main" val="716952817"/>
                  </a:ext>
                </a:extLst>
              </a:tr>
              <a:tr h="514350">
                <a:tc>
                  <a:txBody>
                    <a:bodyPr/>
                    <a:lstStyle/>
                    <a:p>
                      <a:r>
                        <a:rPr lang="en-IN" dirty="0"/>
                        <a:t>LCD display </a:t>
                      </a:r>
                    </a:p>
                  </a:txBody>
                  <a:tcPr/>
                </a:tc>
                <a:tc>
                  <a:txBody>
                    <a:bodyPr/>
                    <a:lstStyle/>
                    <a:p>
                      <a:r>
                        <a:rPr lang="en-IN" dirty="0"/>
                        <a:t>                1</a:t>
                      </a:r>
                    </a:p>
                  </a:txBody>
                  <a:tcPr/>
                </a:tc>
                <a:tc>
                  <a:txBody>
                    <a:bodyPr/>
                    <a:lstStyle/>
                    <a:p>
                      <a:r>
                        <a:rPr lang="en-IN" dirty="0"/>
                        <a:t>             160</a:t>
                      </a:r>
                    </a:p>
                  </a:txBody>
                  <a:tcPr/>
                </a:tc>
                <a:extLst>
                  <a:ext uri="{0D108BD9-81ED-4DB2-BD59-A6C34878D82A}">
                    <a16:rowId xmlns:a16="http://schemas.microsoft.com/office/drawing/2014/main" val="3991287586"/>
                  </a:ext>
                </a:extLst>
              </a:tr>
              <a:tr h="514350">
                <a:tc>
                  <a:txBody>
                    <a:bodyPr/>
                    <a:lstStyle/>
                    <a:p>
                      <a:r>
                        <a:rPr lang="en-IN" dirty="0"/>
                        <a:t>Solar Panel</a:t>
                      </a:r>
                    </a:p>
                  </a:txBody>
                  <a:tcPr/>
                </a:tc>
                <a:tc>
                  <a:txBody>
                    <a:bodyPr/>
                    <a:lstStyle/>
                    <a:p>
                      <a:r>
                        <a:rPr lang="en-IN" dirty="0"/>
                        <a:t>                1</a:t>
                      </a:r>
                    </a:p>
                  </a:txBody>
                  <a:tcPr/>
                </a:tc>
                <a:tc>
                  <a:txBody>
                    <a:bodyPr/>
                    <a:lstStyle/>
                    <a:p>
                      <a:r>
                        <a:rPr lang="en-IN" dirty="0"/>
                        <a:t>                -</a:t>
                      </a:r>
                    </a:p>
                  </a:txBody>
                  <a:tcPr/>
                </a:tc>
                <a:extLst>
                  <a:ext uri="{0D108BD9-81ED-4DB2-BD59-A6C34878D82A}">
                    <a16:rowId xmlns:a16="http://schemas.microsoft.com/office/drawing/2014/main" val="3636447488"/>
                  </a:ext>
                </a:extLst>
              </a:tr>
              <a:tr h="514350">
                <a:tc>
                  <a:txBody>
                    <a:bodyPr/>
                    <a:lstStyle/>
                    <a:p>
                      <a:r>
                        <a:rPr lang="en-IN" dirty="0"/>
                        <a:t>Li-ion Battery</a:t>
                      </a:r>
                    </a:p>
                  </a:txBody>
                  <a:tcPr/>
                </a:tc>
                <a:tc>
                  <a:txBody>
                    <a:bodyPr/>
                    <a:lstStyle/>
                    <a:p>
                      <a:r>
                        <a:rPr lang="en-IN" dirty="0"/>
                        <a:t>                8</a:t>
                      </a:r>
                    </a:p>
                  </a:txBody>
                  <a:tcPr/>
                </a:tc>
                <a:tc>
                  <a:txBody>
                    <a:bodyPr/>
                    <a:lstStyle/>
                    <a:p>
                      <a:r>
                        <a:rPr lang="en-IN" dirty="0"/>
                        <a:t>               70</a:t>
                      </a:r>
                    </a:p>
                  </a:txBody>
                  <a:tcPr/>
                </a:tc>
                <a:extLst>
                  <a:ext uri="{0D108BD9-81ED-4DB2-BD59-A6C34878D82A}">
                    <a16:rowId xmlns:a16="http://schemas.microsoft.com/office/drawing/2014/main" val="3260132020"/>
                  </a:ext>
                </a:extLst>
              </a:tr>
              <a:tr h="514350">
                <a:tc>
                  <a:txBody>
                    <a:bodyPr/>
                    <a:lstStyle/>
                    <a:p>
                      <a:r>
                        <a:rPr lang="en-IN" dirty="0"/>
                        <a:t>PCB</a:t>
                      </a:r>
                    </a:p>
                  </a:txBody>
                  <a:tcPr/>
                </a:tc>
                <a:tc>
                  <a:txBody>
                    <a:bodyPr/>
                    <a:lstStyle/>
                    <a:p>
                      <a:r>
                        <a:rPr lang="en-IN" dirty="0"/>
                        <a:t>                1</a:t>
                      </a:r>
                    </a:p>
                  </a:txBody>
                  <a:tcPr/>
                </a:tc>
                <a:tc>
                  <a:txBody>
                    <a:bodyPr/>
                    <a:lstStyle/>
                    <a:p>
                      <a:r>
                        <a:rPr lang="en-IN" dirty="0"/>
                        <a:t>               50</a:t>
                      </a:r>
                    </a:p>
                  </a:txBody>
                  <a:tcPr/>
                </a:tc>
                <a:extLst>
                  <a:ext uri="{0D108BD9-81ED-4DB2-BD59-A6C34878D82A}">
                    <a16:rowId xmlns:a16="http://schemas.microsoft.com/office/drawing/2014/main" val="1670586587"/>
                  </a:ext>
                </a:extLst>
              </a:tr>
              <a:tr h="514350">
                <a:tc>
                  <a:txBody>
                    <a:bodyPr/>
                    <a:lstStyle/>
                    <a:p>
                      <a:r>
                        <a:rPr lang="en-IN" dirty="0"/>
                        <a:t>Battery holder</a:t>
                      </a:r>
                    </a:p>
                  </a:txBody>
                  <a:tcPr/>
                </a:tc>
                <a:tc>
                  <a:txBody>
                    <a:bodyPr/>
                    <a:lstStyle/>
                    <a:p>
                      <a:r>
                        <a:rPr lang="en-IN" dirty="0"/>
                        <a:t>                2</a:t>
                      </a:r>
                    </a:p>
                  </a:txBody>
                  <a:tcPr/>
                </a:tc>
                <a:tc>
                  <a:txBody>
                    <a:bodyPr/>
                    <a:lstStyle/>
                    <a:p>
                      <a:r>
                        <a:rPr lang="en-IN" dirty="0"/>
                        <a:t>               200</a:t>
                      </a:r>
                    </a:p>
                  </a:txBody>
                  <a:tcPr/>
                </a:tc>
                <a:extLst>
                  <a:ext uri="{0D108BD9-81ED-4DB2-BD59-A6C34878D82A}">
                    <a16:rowId xmlns:a16="http://schemas.microsoft.com/office/drawing/2014/main" val="3703408726"/>
                  </a:ext>
                </a:extLst>
              </a:tr>
              <a:tr h="514350">
                <a:tc>
                  <a:txBody>
                    <a:bodyPr/>
                    <a:lstStyle/>
                    <a:p>
                      <a:r>
                        <a:rPr lang="en-IN" dirty="0"/>
                        <a:t>Jumper wires</a:t>
                      </a:r>
                    </a:p>
                  </a:txBody>
                  <a:tcPr/>
                </a:tc>
                <a:tc>
                  <a:txBody>
                    <a:bodyPr/>
                    <a:lstStyle/>
                    <a:p>
                      <a:r>
                        <a:rPr lang="en-IN" dirty="0"/>
                        <a:t>                -</a:t>
                      </a:r>
                    </a:p>
                  </a:txBody>
                  <a:tcPr/>
                </a:tc>
                <a:tc>
                  <a:txBody>
                    <a:bodyPr/>
                    <a:lstStyle/>
                    <a:p>
                      <a:r>
                        <a:rPr lang="en-IN" dirty="0"/>
                        <a:t>               50</a:t>
                      </a:r>
                    </a:p>
                  </a:txBody>
                  <a:tcPr/>
                </a:tc>
                <a:extLst>
                  <a:ext uri="{0D108BD9-81ED-4DB2-BD59-A6C34878D82A}">
                    <a16:rowId xmlns:a16="http://schemas.microsoft.com/office/drawing/2014/main" val="2703385956"/>
                  </a:ext>
                </a:extLst>
              </a:tr>
            </a:tbl>
          </a:graphicData>
        </a:graphic>
      </p:graphicFrame>
    </p:spTree>
    <p:extLst>
      <p:ext uri="{BB962C8B-B14F-4D97-AF65-F5344CB8AC3E}">
        <p14:creationId xmlns:p14="http://schemas.microsoft.com/office/powerpoint/2010/main" val="2149994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BC28288-ECC6-2043-9820-93DF72FCFDA1}"/>
              </a:ext>
            </a:extLst>
          </p:cNvPr>
          <p:cNvSpPr txBox="1"/>
          <p:nvPr/>
        </p:nvSpPr>
        <p:spPr>
          <a:xfrm>
            <a:off x="482600" y="777875"/>
            <a:ext cx="6629400" cy="7243714"/>
          </a:xfrm>
          <a:prstGeom prst="rect">
            <a:avLst/>
          </a:prstGeom>
        </p:spPr>
        <p:txBody>
          <a:bodyPr vert="horz" wrap="square" lIns="0" tIns="16510" rIns="0" bIns="0" rtlCol="0">
            <a:spAutoFit/>
          </a:bodyPr>
          <a:lstStyle/>
          <a:p>
            <a:pPr marL="12700">
              <a:lnSpc>
                <a:spcPct val="100000"/>
              </a:lnSpc>
              <a:spcBef>
                <a:spcPts val="1845"/>
              </a:spcBef>
            </a:pPr>
            <a:r>
              <a:rPr lang="en-US" sz="2400" b="1" spc="180" dirty="0">
                <a:latin typeface="Calibri"/>
                <a:cs typeface="Calibri"/>
              </a:rPr>
              <a:t>1.7 Organization of the report</a:t>
            </a:r>
          </a:p>
          <a:p>
            <a:pPr marL="12700">
              <a:lnSpc>
                <a:spcPct val="100000"/>
              </a:lnSpc>
              <a:spcBef>
                <a:spcPts val="1845"/>
              </a:spcBef>
            </a:pPr>
            <a:endParaRPr lang="en-US" sz="2400" b="1" spc="180" dirty="0">
              <a:latin typeface="Calibri"/>
              <a:cs typeface="Calibri"/>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Chapter 1: Introduction- Initiating with an introduction, the project provides an initial overview, setting the stage for the systematic exploration of various facets.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Chapter 2: System Design- The project extensively examines the complexities of system design, offering an in-depth overview of its structure and components.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Chapter 3: Planning and Execution- In this thoroughly covers the planning and execution aspects of the design, shedding light on strategic decisions made during the development phase.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Chapter 4: Results Analysis- Progressing further shifts focus to presenting and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analyzing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results, featuring detailed discussions to clarify findings and highlight significant outcomes.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Chapter 5: Conclusion- Finally concluding the report with a summary, providing insights into project outcomes, implications, and paving the way for future exploration and development in the identified scope.</a:t>
            </a: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p:txBody>
      </p:sp>
      <p:sp>
        <p:nvSpPr>
          <p:cNvPr id="3" name="object 6">
            <a:extLst>
              <a:ext uri="{FF2B5EF4-FFF2-40B4-BE49-F238E27FC236}">
                <a16:creationId xmlns:a16="http://schemas.microsoft.com/office/drawing/2014/main" id="{ECF72278-3495-D242-C396-009EC724007D}"/>
              </a:ext>
            </a:extLst>
          </p:cNvPr>
          <p:cNvSpPr txBox="1">
            <a:spLocks noGrp="1"/>
          </p:cNvSpPr>
          <p:nvPr>
            <p:ph type="sldNum" sz="quarter" idx="7"/>
          </p:nvPr>
        </p:nvSpPr>
        <p:spPr>
          <a:xfrm>
            <a:off x="3689721" y="960691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11</a:t>
            </a:fld>
            <a:endParaRPr spc="-25" dirty="0"/>
          </a:p>
        </p:txBody>
      </p:sp>
    </p:spTree>
    <p:extLst>
      <p:ext uri="{BB962C8B-B14F-4D97-AF65-F5344CB8AC3E}">
        <p14:creationId xmlns:p14="http://schemas.microsoft.com/office/powerpoint/2010/main" val="4099856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1F76217-4BC7-945A-5DBD-C1D75E38C2BA}"/>
              </a:ext>
            </a:extLst>
          </p:cNvPr>
          <p:cNvSpPr txBox="1"/>
          <p:nvPr/>
        </p:nvSpPr>
        <p:spPr>
          <a:xfrm>
            <a:off x="520700" y="945170"/>
            <a:ext cx="6629400" cy="8385629"/>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lang="en-IN" sz="2200" b="1" spc="80" dirty="0">
                <a:latin typeface="Calibri"/>
                <a:cs typeface="Calibri"/>
              </a:rPr>
              <a:t>2</a:t>
            </a:r>
          </a:p>
          <a:p>
            <a:pPr marL="12700">
              <a:lnSpc>
                <a:spcPct val="100000"/>
              </a:lnSpc>
              <a:spcBef>
                <a:spcPts val="130"/>
              </a:spcBef>
            </a:pPr>
            <a:endParaRPr lang="en-IN" sz="2200" b="1" spc="80" dirty="0">
              <a:latin typeface="Calibri"/>
              <a:cs typeface="Calibri"/>
            </a:endParaRPr>
          </a:p>
          <a:p>
            <a:pPr marL="12700">
              <a:spcBef>
                <a:spcPts val="130"/>
              </a:spcBef>
            </a:pPr>
            <a:r>
              <a:rPr lang="en-IN" sz="2200" b="1" spc="204" dirty="0">
                <a:latin typeface="Calibri"/>
                <a:cs typeface="Calibri"/>
              </a:rPr>
              <a:t>System</a:t>
            </a:r>
            <a:r>
              <a:rPr lang="en-IN" sz="2200" b="1" spc="365" dirty="0">
                <a:latin typeface="Calibri"/>
                <a:cs typeface="Calibri"/>
              </a:rPr>
              <a:t> </a:t>
            </a:r>
            <a:r>
              <a:rPr lang="en-IN" sz="2200" b="1" spc="145" dirty="0">
                <a:latin typeface="Calibri"/>
                <a:cs typeface="Calibri"/>
              </a:rPr>
              <a:t>design</a:t>
            </a:r>
            <a:endParaRPr lang="en-IN" sz="2200" dirty="0">
              <a:latin typeface="Calibri"/>
              <a:cs typeface="Calibri"/>
            </a:endParaRPr>
          </a:p>
          <a:p>
            <a:pPr marL="12700">
              <a:lnSpc>
                <a:spcPct val="100000"/>
              </a:lnSpc>
              <a:spcBef>
                <a:spcPts val="130"/>
              </a:spcBef>
            </a:pPr>
            <a:endParaRPr lang="en-IN" sz="2200" b="1" spc="80" dirty="0">
              <a:latin typeface="Calibri"/>
              <a:cs typeface="Calibri"/>
            </a:endParaRPr>
          </a:p>
          <a:p>
            <a:pPr marL="12700">
              <a:spcBef>
                <a:spcPts val="130"/>
              </a:spcBef>
            </a:pPr>
            <a:r>
              <a:rPr lang="en-IN" b="1" spc="80" dirty="0">
                <a:latin typeface="Calibri"/>
                <a:cs typeface="Calibri"/>
              </a:rPr>
              <a:t>                 </a:t>
            </a:r>
            <a:r>
              <a:rPr lang="en-IN" kern="100" dirty="0">
                <a:effectLst/>
                <a:latin typeface="Calibri" panose="020F0502020204030204" pitchFamily="34" charset="0"/>
                <a:ea typeface="Calibri" panose="020F0502020204030204" pitchFamily="34" charset="0"/>
                <a:cs typeface="Times New Roman" panose="02020603050405020304" pitchFamily="18" charset="0"/>
              </a:rPr>
              <a:t>In this chapter, we will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analyze</a:t>
            </a:r>
            <a:r>
              <a:rPr lang="en-IN" kern="100" dirty="0">
                <a:effectLst/>
                <a:latin typeface="Calibri" panose="020F0502020204030204" pitchFamily="34" charset="0"/>
                <a:ea typeface="Calibri" panose="020F0502020204030204" pitchFamily="34" charset="0"/>
                <a:cs typeface="Times New Roman" panose="02020603050405020304" pitchFamily="18" charset="0"/>
              </a:rPr>
              <a:t> the  advancements and intricate design principles of the solar charging system for electric vehicles (EVs). We will delve into the system’s inner workings, exploring how its innovative features are incorporated. The block diagram for our project will illustrate the integration of these advanced features and demonstrate how effectively our solution utilizes them.</a:t>
            </a:r>
          </a:p>
          <a:p>
            <a:pPr marL="12700">
              <a:lnSpc>
                <a:spcPct val="100000"/>
              </a:lnSpc>
              <a:spcBef>
                <a:spcPts val="130"/>
              </a:spcBef>
            </a:pPr>
            <a:endParaRPr lang="en-IN" sz="2200" b="1" spc="80" dirty="0">
              <a:latin typeface="Calibri"/>
              <a:cs typeface="Calibri"/>
            </a:endParaRPr>
          </a:p>
          <a:p>
            <a:pPr marL="12700">
              <a:lnSpc>
                <a:spcPct val="100000"/>
              </a:lnSpc>
              <a:spcBef>
                <a:spcPts val="130"/>
              </a:spcBef>
            </a:pPr>
            <a:r>
              <a:rPr lang="en-IN" sz="2400" b="1" spc="80" dirty="0">
                <a:latin typeface="Calibri"/>
                <a:cs typeface="Calibri"/>
              </a:rPr>
              <a:t>2.1 Functional block diagram</a:t>
            </a:r>
          </a:p>
          <a:p>
            <a:pPr marL="12700">
              <a:lnSpc>
                <a:spcPct val="100000"/>
              </a:lnSpc>
              <a:spcBef>
                <a:spcPts val="130"/>
              </a:spcBef>
            </a:pPr>
            <a:endParaRPr lang="en-IN" sz="2200" b="1" spc="80" dirty="0">
              <a:latin typeface="Calibri"/>
              <a:cs typeface="Calibri"/>
            </a:endParaRPr>
          </a:p>
          <a:p>
            <a:pPr marL="12700">
              <a:lnSpc>
                <a:spcPct val="100000"/>
              </a:lnSpc>
              <a:spcBef>
                <a:spcPts val="130"/>
              </a:spcBef>
            </a:pPr>
            <a:endParaRPr lang="en-IN" sz="2200" b="1" spc="80" dirty="0">
              <a:latin typeface="Calibri"/>
              <a:cs typeface="Calibri"/>
            </a:endParaRPr>
          </a:p>
          <a:p>
            <a:pPr marL="12700">
              <a:lnSpc>
                <a:spcPct val="100000"/>
              </a:lnSpc>
              <a:spcBef>
                <a:spcPts val="130"/>
              </a:spcBef>
            </a:pPr>
            <a:endParaRPr lang="en-IN" sz="2200" b="1" spc="8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lang="en-IN" sz="2200" dirty="0">
              <a:latin typeface="Calibri"/>
              <a:cs typeface="Calibri"/>
            </a:endParaRPr>
          </a:p>
          <a:p>
            <a:pPr marL="12700">
              <a:lnSpc>
                <a:spcPct val="100000"/>
              </a:lnSpc>
              <a:spcBef>
                <a:spcPts val="130"/>
              </a:spcBef>
            </a:pPr>
            <a:endParaRPr sz="2200" dirty="0">
              <a:latin typeface="Calibri"/>
              <a:cs typeface="Calibri"/>
            </a:endParaRPr>
          </a:p>
        </p:txBody>
      </p:sp>
      <p:sp>
        <p:nvSpPr>
          <p:cNvPr id="3" name="object 6">
            <a:extLst>
              <a:ext uri="{FF2B5EF4-FFF2-40B4-BE49-F238E27FC236}">
                <a16:creationId xmlns:a16="http://schemas.microsoft.com/office/drawing/2014/main" id="{94FD3FE2-76BB-BE4A-CCE3-DEBE94BD4568}"/>
              </a:ext>
            </a:extLst>
          </p:cNvPr>
          <p:cNvSpPr txBox="1">
            <a:spLocks noGrp="1"/>
          </p:cNvSpPr>
          <p:nvPr>
            <p:ph type="sldNum" sz="quarter" idx="7"/>
          </p:nvPr>
        </p:nvSpPr>
        <p:spPr>
          <a:xfrm>
            <a:off x="3689721" y="956979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12</a:t>
            </a:fld>
            <a:endParaRPr spc="-25" dirty="0"/>
          </a:p>
        </p:txBody>
      </p:sp>
      <p:pic>
        <p:nvPicPr>
          <p:cNvPr id="4" name="Picture 3">
            <a:extLst>
              <a:ext uri="{FF2B5EF4-FFF2-40B4-BE49-F238E27FC236}">
                <a16:creationId xmlns:a16="http://schemas.microsoft.com/office/drawing/2014/main" id="{0BC58D42-5951-2AD2-7D71-F3EC609728CB}"/>
              </a:ext>
            </a:extLst>
          </p:cNvPr>
          <p:cNvPicPr>
            <a:picLocks noChangeAspect="1"/>
          </p:cNvPicPr>
          <p:nvPr/>
        </p:nvPicPr>
        <p:blipFill>
          <a:blip r:embed="rId2"/>
          <a:stretch>
            <a:fillRect/>
          </a:stretch>
        </p:blipFill>
        <p:spPr>
          <a:xfrm>
            <a:off x="712216" y="5137984"/>
            <a:ext cx="6246368" cy="3473785"/>
          </a:xfrm>
          <a:prstGeom prst="rect">
            <a:avLst/>
          </a:prstGeom>
        </p:spPr>
      </p:pic>
      <p:sp>
        <p:nvSpPr>
          <p:cNvPr id="5" name="object 4">
            <a:extLst>
              <a:ext uri="{FF2B5EF4-FFF2-40B4-BE49-F238E27FC236}">
                <a16:creationId xmlns:a16="http://schemas.microsoft.com/office/drawing/2014/main" id="{E4F49F65-8D66-3DF4-C71A-940ACCE319A1}"/>
              </a:ext>
            </a:extLst>
          </p:cNvPr>
          <p:cNvSpPr txBox="1"/>
          <p:nvPr/>
        </p:nvSpPr>
        <p:spPr>
          <a:xfrm>
            <a:off x="2311400" y="8626145"/>
            <a:ext cx="2971800" cy="688009"/>
          </a:xfrm>
          <a:prstGeom prst="rect">
            <a:avLst/>
          </a:prstGeom>
        </p:spPr>
        <p:txBody>
          <a:bodyPr vert="horz" wrap="square" lIns="0" tIns="15875" rIns="0" bIns="0" rtlCol="0">
            <a:spAutoFit/>
          </a:bodyPr>
          <a:lstStyle/>
          <a:p>
            <a:pPr marL="12700">
              <a:lnSpc>
                <a:spcPct val="100000"/>
              </a:lnSpc>
              <a:spcBef>
                <a:spcPts val="125"/>
              </a:spcBef>
            </a:pPr>
            <a:endParaRPr lang="en-IN" sz="1400" dirty="0">
              <a:latin typeface="Calibri"/>
              <a:cs typeface="Calibri"/>
            </a:endParaRPr>
          </a:p>
          <a:p>
            <a:pPr marL="12700">
              <a:lnSpc>
                <a:spcPct val="100000"/>
              </a:lnSpc>
              <a:spcBef>
                <a:spcPts val="125"/>
              </a:spcBef>
            </a:pPr>
            <a:r>
              <a:rPr lang="en-IN" sz="1400" dirty="0">
                <a:latin typeface="Calibri"/>
                <a:cs typeface="Calibri"/>
              </a:rPr>
              <a:t>Figure 2.1: Functional Block Diagram</a:t>
            </a:r>
          </a:p>
          <a:p>
            <a:pPr marL="12700">
              <a:lnSpc>
                <a:spcPct val="100000"/>
              </a:lnSpc>
              <a:spcBef>
                <a:spcPts val="125"/>
              </a:spcBef>
            </a:pPr>
            <a:endParaRPr sz="1400" dirty="0">
              <a:latin typeface="Calibri"/>
              <a:cs typeface="Calibri"/>
            </a:endParaRPr>
          </a:p>
        </p:txBody>
      </p:sp>
    </p:spTree>
    <p:extLst>
      <p:ext uri="{BB962C8B-B14F-4D97-AF65-F5344CB8AC3E}">
        <p14:creationId xmlns:p14="http://schemas.microsoft.com/office/powerpoint/2010/main" val="753519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0FC1653-3CA5-EC8D-B2D8-1CF046786BFE}"/>
              </a:ext>
            </a:extLst>
          </p:cNvPr>
          <p:cNvSpPr txBox="1"/>
          <p:nvPr/>
        </p:nvSpPr>
        <p:spPr>
          <a:xfrm>
            <a:off x="482600" y="777875"/>
            <a:ext cx="6629400" cy="9619300"/>
          </a:xfrm>
          <a:prstGeom prst="rect">
            <a:avLst/>
          </a:prstGeom>
        </p:spPr>
        <p:txBody>
          <a:bodyPr vert="horz" wrap="square" lIns="0" tIns="16510" rIns="0" bIns="0" rtlCol="0">
            <a:spAutoFit/>
          </a:bodyPr>
          <a:lstStyle/>
          <a:p>
            <a:pPr marL="12700">
              <a:lnSpc>
                <a:spcPct val="100000"/>
              </a:lnSpc>
              <a:spcBef>
                <a:spcPts val="1845"/>
              </a:spcBef>
            </a:pPr>
            <a:r>
              <a:rPr lang="en-US" sz="2400" b="1" spc="180" dirty="0">
                <a:latin typeface="Calibri"/>
                <a:cs typeface="Calibri"/>
              </a:rPr>
              <a:t>2.1.1 Functional block diagram explanation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98450" indent="-285750">
              <a:spcBef>
                <a:spcPts val="1845"/>
              </a:spcBef>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Solar Panel: It produces direct current (DC) electricity by harnessing sunshine. </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298450" indent="-285750">
              <a:spcBef>
                <a:spcPts val="1845"/>
              </a:spcBef>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Charge Controller: It controls solar panel voltage and current to securely charge the battery without overcharging it.</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298450" indent="-285750">
              <a:spcBef>
                <a:spcPts val="1845"/>
              </a:spcBef>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Battery: The solar panel's electrical energy is stored in a battery. </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298450" indent="-285750">
              <a:spcBef>
                <a:spcPts val="1845"/>
              </a:spcBef>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ESP32 microcontroller: The gadget that the solar charging system is powering. </a:t>
            </a:r>
          </a:p>
          <a:p>
            <a:pPr marL="298450" indent="-285750">
              <a:spcBef>
                <a:spcPts val="1845"/>
              </a:spcBef>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LCD display :The LCD display is utilised to show system information, including battery voltage and charging status.  </a:t>
            </a:r>
          </a:p>
          <a:p>
            <a:pPr marL="298450" indent="-285750">
              <a:spcBef>
                <a:spcPts val="1845"/>
              </a:spcBef>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Switch: The switch is utilised for manually turning on and off the system.</a:t>
            </a:r>
            <a:endParaRPr lang="en-IN"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12700">
              <a:spcBef>
                <a:spcPts val="1845"/>
              </a:spcBef>
            </a:pPr>
            <a:r>
              <a:rPr lang="en-US" sz="2400" b="1" spc="180" dirty="0">
                <a:latin typeface="Calibri"/>
                <a:cs typeface="Calibri"/>
              </a:rPr>
              <a:t>2.2 </a:t>
            </a:r>
            <a:r>
              <a:rPr lang="en-IN" sz="2400" b="1" dirty="0">
                <a:effectLst/>
                <a:latin typeface="Times New Roman" panose="02020603050405020304" pitchFamily="18" charset="0"/>
                <a:ea typeface="Times New Roman" panose="02020603050405020304" pitchFamily="18" charset="0"/>
              </a:rPr>
              <a:t>ESP32 Architecture </a:t>
            </a:r>
            <a:r>
              <a:rPr lang="en-IN" sz="2400" b="1" dirty="0">
                <a:latin typeface="Times New Roman" panose="02020603050405020304" pitchFamily="18" charset="0"/>
                <a:ea typeface="Times New Roman" panose="02020603050405020304" pitchFamily="18" charset="0"/>
              </a:rPr>
              <a:t>D</a:t>
            </a:r>
            <a:r>
              <a:rPr lang="en-IN" sz="2400" b="1" dirty="0">
                <a:effectLst/>
                <a:latin typeface="Times New Roman" panose="02020603050405020304" pitchFamily="18" charset="0"/>
                <a:ea typeface="Times New Roman" panose="02020603050405020304" pitchFamily="18" charset="0"/>
              </a:rPr>
              <a:t>iagram</a:t>
            </a:r>
            <a:endParaRPr lang="en-IN" sz="2400" dirty="0">
              <a:effectLst/>
              <a:latin typeface="Times New Roman" panose="02020603050405020304" pitchFamily="18" charset="0"/>
              <a:ea typeface="Times New Roman" panose="02020603050405020304" pitchFamily="18" charset="0"/>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p:txBody>
      </p:sp>
      <p:pic>
        <p:nvPicPr>
          <p:cNvPr id="3" name="Picture 2">
            <a:extLst>
              <a:ext uri="{FF2B5EF4-FFF2-40B4-BE49-F238E27FC236}">
                <a16:creationId xmlns:a16="http://schemas.microsoft.com/office/drawing/2014/main" id="{ABE8F190-3EA0-27D0-A4B7-8C8A2C290A7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6550" y="6166664"/>
            <a:ext cx="4381500" cy="3727546"/>
          </a:xfrm>
          <a:prstGeom prst="rect">
            <a:avLst/>
          </a:prstGeom>
          <a:noFill/>
          <a:ln>
            <a:noFill/>
          </a:ln>
        </p:spPr>
      </p:pic>
      <p:sp>
        <p:nvSpPr>
          <p:cNvPr id="4" name="object 3">
            <a:extLst>
              <a:ext uri="{FF2B5EF4-FFF2-40B4-BE49-F238E27FC236}">
                <a16:creationId xmlns:a16="http://schemas.microsoft.com/office/drawing/2014/main" id="{F79474A0-58FB-F35B-CB56-8B5130BF1196}"/>
              </a:ext>
            </a:extLst>
          </p:cNvPr>
          <p:cNvSpPr txBox="1">
            <a:spLocks noGrp="1"/>
          </p:cNvSpPr>
          <p:nvPr>
            <p:ph type="sldNum" sz="quarter" idx="7"/>
          </p:nvPr>
        </p:nvSpPr>
        <p:spPr>
          <a:xfrm>
            <a:off x="3644900" y="9764446"/>
            <a:ext cx="259979" cy="141321"/>
          </a:xfrm>
          <a:prstGeom prst="rect">
            <a:avLst/>
          </a:prstGeom>
        </p:spPr>
        <p:txBody>
          <a:bodyPr vert="horz" wrap="square" lIns="0" tIns="0" rIns="0" bIns="0" rtlCol="0">
            <a:spAutoFit/>
          </a:bodyPr>
          <a:lstStyle/>
          <a:p>
            <a:pPr marL="38100">
              <a:lnSpc>
                <a:spcPts val="1120"/>
              </a:lnSpc>
            </a:pPr>
            <a:fld id="{81D60167-4931-47E6-BA6A-407CBD079E47}" type="slidenum">
              <a:rPr spc="-25" dirty="0"/>
              <a:t>13</a:t>
            </a:fld>
            <a:endParaRPr spc="-25" dirty="0"/>
          </a:p>
        </p:txBody>
      </p:sp>
      <p:sp>
        <p:nvSpPr>
          <p:cNvPr id="5" name="object 4">
            <a:extLst>
              <a:ext uri="{FF2B5EF4-FFF2-40B4-BE49-F238E27FC236}">
                <a16:creationId xmlns:a16="http://schemas.microsoft.com/office/drawing/2014/main" id="{99AF8F9C-7201-32EE-50D5-380274E0EC7D}"/>
              </a:ext>
            </a:extLst>
          </p:cNvPr>
          <p:cNvSpPr txBox="1"/>
          <p:nvPr/>
        </p:nvSpPr>
        <p:spPr>
          <a:xfrm>
            <a:off x="2197100" y="9076437"/>
            <a:ext cx="2971800" cy="688009"/>
          </a:xfrm>
          <a:prstGeom prst="rect">
            <a:avLst/>
          </a:prstGeom>
        </p:spPr>
        <p:txBody>
          <a:bodyPr vert="horz" wrap="square" lIns="0" tIns="15875" rIns="0" bIns="0" rtlCol="0">
            <a:spAutoFit/>
          </a:bodyPr>
          <a:lstStyle/>
          <a:p>
            <a:pPr marL="12700">
              <a:lnSpc>
                <a:spcPct val="100000"/>
              </a:lnSpc>
              <a:spcBef>
                <a:spcPts val="125"/>
              </a:spcBef>
            </a:pPr>
            <a:endParaRPr lang="en-IN" sz="1400" dirty="0">
              <a:latin typeface="Calibri"/>
              <a:cs typeface="Calibri"/>
            </a:endParaRPr>
          </a:p>
          <a:p>
            <a:pPr marL="12700">
              <a:lnSpc>
                <a:spcPct val="100000"/>
              </a:lnSpc>
              <a:spcBef>
                <a:spcPts val="125"/>
              </a:spcBef>
            </a:pPr>
            <a:r>
              <a:rPr lang="en-IN" sz="1400" dirty="0">
                <a:latin typeface="Calibri"/>
                <a:cs typeface="Calibri"/>
              </a:rPr>
              <a:t>Figure 2.2: ESP32 Architecture Diagram</a:t>
            </a:r>
          </a:p>
          <a:p>
            <a:pPr marL="12700">
              <a:lnSpc>
                <a:spcPct val="100000"/>
              </a:lnSpc>
              <a:spcBef>
                <a:spcPts val="125"/>
              </a:spcBef>
            </a:pPr>
            <a:endParaRPr sz="1400" dirty="0">
              <a:latin typeface="Calibri"/>
              <a:cs typeface="Calibri"/>
            </a:endParaRPr>
          </a:p>
        </p:txBody>
      </p:sp>
    </p:spTree>
    <p:extLst>
      <p:ext uri="{BB962C8B-B14F-4D97-AF65-F5344CB8AC3E}">
        <p14:creationId xmlns:p14="http://schemas.microsoft.com/office/powerpoint/2010/main" val="565266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37A26F9-F37B-8E43-415B-C4F5D852917F}"/>
              </a:ext>
            </a:extLst>
          </p:cNvPr>
          <p:cNvSpPr txBox="1"/>
          <p:nvPr/>
        </p:nvSpPr>
        <p:spPr>
          <a:xfrm>
            <a:off x="482600" y="777875"/>
            <a:ext cx="6629400" cy="8634159"/>
          </a:xfrm>
          <a:prstGeom prst="rect">
            <a:avLst/>
          </a:prstGeom>
        </p:spPr>
        <p:txBody>
          <a:bodyPr vert="horz" wrap="square" lIns="0" tIns="16510" rIns="0" bIns="0" rtlCol="0">
            <a:spAutoFit/>
          </a:bodyPr>
          <a:lstStyle/>
          <a:p>
            <a:pPr marL="12700">
              <a:lnSpc>
                <a:spcPct val="100000"/>
              </a:lnSpc>
              <a:spcBef>
                <a:spcPts val="1845"/>
              </a:spcBef>
            </a:pPr>
            <a:r>
              <a:rPr lang="en-US" sz="2400" b="1" spc="180" dirty="0">
                <a:latin typeface="Calibri"/>
                <a:cs typeface="Calibri"/>
              </a:rPr>
              <a:t>2.2.1 Features of ESP32</a:t>
            </a:r>
          </a:p>
          <a:p>
            <a:pPr marL="12700">
              <a:lnSpc>
                <a:spcPct val="100000"/>
              </a:lnSpc>
              <a:spcBef>
                <a:spcPts val="1845"/>
              </a:spcBef>
            </a:pPr>
            <a:endParaRPr lang="en-US" sz="2400" b="1" spc="180" dirty="0">
              <a:latin typeface="Calibri"/>
              <a:cs typeface="Calibri"/>
            </a:endParaRPr>
          </a:p>
          <a:p>
            <a:pPr marL="285750" indent="-285750">
              <a:lnSpc>
                <a:spcPct val="107000"/>
              </a:lnSpc>
              <a:spcAft>
                <a:spcPts val="800"/>
              </a:spcAft>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Dual-core Processor: The ESP32 has two Xtensa LX6 CPUs that provide excellent processing power and efficiency. These CPUs may be individually controlled and utilised for a variety of activities. </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Wi-Fi and Bluetooth Connectivity: It has integrated Bluetooth (v4.2 and BLE) and Wi-Fi (802.11 b/g/n) features, making it simple to connect to the internet and other devices. </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Low Power Consumption: Because of its power-efficient design, the ESP32 is appropriate for low-power and battery-powered applications. Several power-saving settings are available to maximise energy efficiency. </a:t>
            </a:r>
          </a:p>
          <a:p>
            <a:pPr marL="285750" indent="-285750">
              <a:lnSpc>
                <a:spcPct val="107000"/>
              </a:lnSpc>
              <a:spcAft>
                <a:spcPts val="800"/>
              </a:spcAft>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Rich Peripheral Interface: It has many peripherals, including SPI, I2C, UART, ADC, DAC, PWM, and more, which makes it possible to interface with sensors, actuators, and other external devices in a flexible way.</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Secure Connectivity: To guarantee secure connection and data integrity, the ESP32 has strong security features such support for WPA3 encryption, secure boot, flash encryption, and cryptographic accelerators.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p:txBody>
      </p:sp>
      <p:sp>
        <p:nvSpPr>
          <p:cNvPr id="3" name="object 3">
            <a:extLst>
              <a:ext uri="{FF2B5EF4-FFF2-40B4-BE49-F238E27FC236}">
                <a16:creationId xmlns:a16="http://schemas.microsoft.com/office/drawing/2014/main" id="{C6DB6848-89B5-A088-B4F9-6C1C44C7A57D}"/>
              </a:ext>
            </a:extLst>
          </p:cNvPr>
          <p:cNvSpPr txBox="1">
            <a:spLocks noGrp="1"/>
          </p:cNvSpPr>
          <p:nvPr>
            <p:ph type="sldNum" sz="quarter" idx="7"/>
          </p:nvPr>
        </p:nvSpPr>
        <p:spPr>
          <a:xfrm>
            <a:off x="3689721" y="9569796"/>
            <a:ext cx="222885" cy="162559"/>
          </a:xfrm>
          <a:prstGeom prst="rect">
            <a:avLst/>
          </a:prstGeom>
        </p:spPr>
        <p:txBody>
          <a:bodyPr vert="horz" wrap="square" lIns="0" tIns="0" rIns="0" bIns="0" rtlCol="0">
            <a:spAutoFit/>
          </a:bodyPr>
          <a:lstStyle/>
          <a:p>
            <a:pPr marL="38100">
              <a:lnSpc>
                <a:spcPts val="1120"/>
              </a:lnSpc>
            </a:pPr>
            <a:fld id="{81D60167-4931-47E6-BA6A-407CBD079E47}" type="slidenum">
              <a:rPr spc="-25" dirty="0"/>
              <a:t>14</a:t>
            </a:fld>
            <a:endParaRPr spc="-25" dirty="0"/>
          </a:p>
        </p:txBody>
      </p:sp>
    </p:spTree>
    <p:extLst>
      <p:ext uri="{BB962C8B-B14F-4D97-AF65-F5344CB8AC3E}">
        <p14:creationId xmlns:p14="http://schemas.microsoft.com/office/powerpoint/2010/main" val="2412021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C9B92EA-BA5D-D588-EFE9-7285F8197A06}"/>
              </a:ext>
            </a:extLst>
          </p:cNvPr>
          <p:cNvSpPr txBox="1"/>
          <p:nvPr/>
        </p:nvSpPr>
        <p:spPr>
          <a:xfrm>
            <a:off x="520700" y="777875"/>
            <a:ext cx="6553200" cy="8603637"/>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sz="2200" b="1" spc="80" dirty="0">
                <a:latin typeface="Calibri"/>
                <a:cs typeface="Calibri"/>
              </a:rPr>
              <a:t>3</a:t>
            </a:r>
            <a:endParaRPr sz="2200" dirty="0">
              <a:latin typeface="Calibri"/>
              <a:cs typeface="Calibri"/>
            </a:endParaRPr>
          </a:p>
          <a:p>
            <a:pPr marL="12700">
              <a:lnSpc>
                <a:spcPct val="100000"/>
              </a:lnSpc>
              <a:spcBef>
                <a:spcPts val="1845"/>
              </a:spcBef>
            </a:pPr>
            <a:r>
              <a:rPr sz="2200" b="1" spc="175" dirty="0">
                <a:latin typeface="Calibri"/>
                <a:cs typeface="Calibri"/>
              </a:rPr>
              <a:t>Implementation</a:t>
            </a:r>
            <a:r>
              <a:rPr sz="2200" b="1" spc="385" dirty="0">
                <a:latin typeface="Calibri"/>
                <a:cs typeface="Calibri"/>
              </a:rPr>
              <a:t> </a:t>
            </a:r>
            <a:r>
              <a:rPr sz="2200" b="1" spc="125" dirty="0">
                <a:latin typeface="Calibri"/>
                <a:cs typeface="Calibri"/>
              </a:rPr>
              <a:t>details</a:t>
            </a:r>
            <a:endParaRPr lang="en-IN" sz="2200" dirty="0">
              <a:latin typeface="Calibri"/>
              <a:cs typeface="Calibri"/>
            </a:endParaRPr>
          </a:p>
          <a:p>
            <a:pPr>
              <a:spcBef>
                <a:spcPts val="890"/>
              </a:spcBef>
            </a:pPr>
            <a:endParaRPr lang="en-IN" sz="2400" dirty="0">
              <a:latin typeface="Calibri"/>
              <a:cs typeface="Calibri"/>
            </a:endParaRPr>
          </a:p>
          <a:p>
            <a:pPr>
              <a:spcBef>
                <a:spcPts val="890"/>
              </a:spcBef>
            </a:pPr>
            <a:r>
              <a:rPr lang="en-IN" sz="2400" dirty="0">
                <a:latin typeface="Calibri"/>
                <a:cs typeface="Calibri"/>
              </a:rPr>
              <a:t>3.1 </a:t>
            </a:r>
            <a:r>
              <a:rPr lang="en-IN" sz="2400" dirty="0"/>
              <a:t>Environment Setup</a:t>
            </a:r>
          </a:p>
          <a:p>
            <a:pPr>
              <a:spcBef>
                <a:spcPts val="890"/>
              </a:spcBef>
            </a:pPr>
            <a:r>
              <a:rPr lang="en-IN" sz="1600" dirty="0"/>
              <a:t>Components and tools needed :-</a:t>
            </a:r>
          </a:p>
          <a:p>
            <a:pPr marL="342900" indent="-342900">
              <a:spcBef>
                <a:spcPts val="890"/>
              </a:spcBef>
              <a:buAutoNum type="arabicPeriod"/>
            </a:pPr>
            <a:r>
              <a:rPr lang="en-IN" sz="1600" dirty="0"/>
              <a:t>Solar panel</a:t>
            </a:r>
          </a:p>
          <a:p>
            <a:pPr marL="342900" indent="-342900">
              <a:spcBef>
                <a:spcPts val="890"/>
              </a:spcBef>
              <a:buAutoNum type="arabicPeriod"/>
            </a:pPr>
            <a:r>
              <a:rPr lang="en-IN" sz="1600" dirty="0"/>
              <a:t> ESP32 </a:t>
            </a:r>
          </a:p>
          <a:p>
            <a:pPr marL="342900" indent="-342900">
              <a:spcBef>
                <a:spcPts val="890"/>
              </a:spcBef>
              <a:buAutoNum type="arabicPeriod"/>
            </a:pPr>
            <a:r>
              <a:rPr lang="en-IN" sz="1600" dirty="0"/>
              <a:t> LCD display</a:t>
            </a:r>
          </a:p>
          <a:p>
            <a:pPr marL="342900" indent="-342900">
              <a:spcBef>
                <a:spcPts val="890"/>
              </a:spcBef>
              <a:buAutoNum type="arabicPeriod"/>
            </a:pPr>
            <a:r>
              <a:rPr lang="en-IN" sz="1600" dirty="0"/>
              <a:t> Lithium-ion battery</a:t>
            </a:r>
          </a:p>
          <a:p>
            <a:pPr marL="342900" indent="-342900">
              <a:spcBef>
                <a:spcPts val="890"/>
              </a:spcBef>
              <a:buAutoNum type="arabicPeriod"/>
            </a:pPr>
            <a:r>
              <a:rPr lang="en-IN" sz="1600" dirty="0"/>
              <a:t> PCB</a:t>
            </a:r>
          </a:p>
          <a:p>
            <a:pPr marL="342900" indent="-342900">
              <a:spcBef>
                <a:spcPts val="890"/>
              </a:spcBef>
              <a:buAutoNum type="arabicPeriod"/>
            </a:pPr>
            <a:r>
              <a:rPr lang="en-IN" sz="1600" dirty="0"/>
              <a:t> Battery holder</a:t>
            </a:r>
          </a:p>
          <a:p>
            <a:pPr marL="342900" indent="-342900">
              <a:spcBef>
                <a:spcPts val="890"/>
              </a:spcBef>
              <a:buAutoNum type="arabicPeriod"/>
            </a:pPr>
            <a:r>
              <a:rPr lang="en-IN" sz="1600" dirty="0"/>
              <a:t> Jumper wires</a:t>
            </a:r>
          </a:p>
          <a:p>
            <a:pPr marL="342900" indent="-342900">
              <a:spcBef>
                <a:spcPts val="890"/>
              </a:spcBef>
              <a:buAutoNum type="arabicPeriod"/>
            </a:pPr>
            <a:endParaRPr lang="en-IN" sz="1600" dirty="0"/>
          </a:p>
          <a:p>
            <a:pPr>
              <a:spcBef>
                <a:spcPts val="890"/>
              </a:spcBef>
            </a:pPr>
            <a:endParaRPr lang="en-IN" sz="1600" dirty="0"/>
          </a:p>
          <a:p>
            <a:pPr>
              <a:spcBef>
                <a:spcPts val="890"/>
              </a:spcBef>
            </a:pPr>
            <a:r>
              <a:rPr lang="en-IN" sz="2400" dirty="0"/>
              <a:t>3.2 Working </a:t>
            </a:r>
          </a:p>
          <a:p>
            <a:pPr>
              <a:spcBef>
                <a:spcPts val="890"/>
              </a:spcBef>
            </a:pPr>
            <a:r>
              <a:rPr lang="en-IN" sz="1800" kern="0" dirty="0">
                <a:effectLst/>
                <a:latin typeface="Times New Roman" panose="02020603050405020304" pitchFamily="18" charset="0"/>
                <a:ea typeface="Times New Roman" panose="02020603050405020304" pitchFamily="18" charset="0"/>
              </a:rPr>
              <a:t>The solar panel is fixed to the car and uses sunshine to continuously produce electricity. The lithium-ion battery stores this energy and uses it to power the car when needed. In this setup, the ESP32 microcontroller is essential. their voltage proportions. Two batteries, referred to as the master and slave, will have their voltage levels monitored by Arduino code through the use of an ESP32 microcontroller. The LiquidCrystal_I2C library is utilised to exhibit voltage readings on a 16x2 LCD panel. The code initialises the LCD, the relay pin, and serial communication during the setup phase.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object 3">
            <a:extLst>
              <a:ext uri="{FF2B5EF4-FFF2-40B4-BE49-F238E27FC236}">
                <a16:creationId xmlns:a16="http://schemas.microsoft.com/office/drawing/2014/main" id="{68509C92-6D24-A950-F54F-056737D1250F}"/>
              </a:ext>
            </a:extLst>
          </p:cNvPr>
          <p:cNvSpPr txBox="1">
            <a:spLocks noGrp="1"/>
          </p:cNvSpPr>
          <p:nvPr>
            <p:ph type="sldNum" sz="quarter" idx="7"/>
          </p:nvPr>
        </p:nvSpPr>
        <p:spPr>
          <a:xfrm>
            <a:off x="3683000" y="9932954"/>
            <a:ext cx="228600" cy="141321"/>
          </a:xfrm>
          <a:prstGeom prst="rect">
            <a:avLst/>
          </a:prstGeom>
        </p:spPr>
        <p:txBody>
          <a:bodyPr vert="horz" wrap="square" lIns="0" tIns="0" rIns="0" bIns="0" rtlCol="0">
            <a:spAutoFit/>
          </a:bodyPr>
          <a:lstStyle/>
          <a:p>
            <a:pPr marL="38100">
              <a:lnSpc>
                <a:spcPts val="1120"/>
              </a:lnSpc>
            </a:pPr>
            <a:fld id="{81D60167-4931-47E6-BA6A-407CBD079E47}" type="slidenum">
              <a:rPr spc="-25" dirty="0"/>
              <a:t>15</a:t>
            </a:fld>
            <a:endParaRPr spc="-25" dirty="0"/>
          </a:p>
        </p:txBody>
      </p:sp>
    </p:spTree>
    <p:extLst>
      <p:ext uri="{BB962C8B-B14F-4D97-AF65-F5344CB8AC3E}">
        <p14:creationId xmlns:p14="http://schemas.microsoft.com/office/powerpoint/2010/main" val="2903321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025421B-0B91-E526-2602-6BC80C267CF8}"/>
              </a:ext>
            </a:extLst>
          </p:cNvPr>
          <p:cNvSpPr txBox="1"/>
          <p:nvPr/>
        </p:nvSpPr>
        <p:spPr>
          <a:xfrm>
            <a:off x="482600" y="777875"/>
            <a:ext cx="6629400" cy="7075398"/>
          </a:xfrm>
          <a:prstGeom prst="rect">
            <a:avLst/>
          </a:prstGeom>
        </p:spPr>
        <p:txBody>
          <a:bodyPr vert="horz" wrap="square" lIns="0" tIns="16510" rIns="0" bIns="0" rtlCol="0">
            <a:spAutoFit/>
          </a:bodyPr>
          <a:lstStyle/>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It also displays a welcome message and sets the relay to HIGH to connect the load to the master battery for the first time. The code reads the analogue voltage values from the master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MBat</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and slave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SBat</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battery pins, translates them to real voltages, and shows the results on the LCD during the main loop. Next, it determines if the voltage of the master battery falls below 10V. If so, the code investigates whether the voltage of the slave battery is more than 10V. If so, it updates the display and shifts the load to the slave battery. It displays a low battery alert if both batteries are low. The load is maintained on the master battery if the voltage stays over 10V. By adjusting the load between the two batteries dynamically in response to their respective voltage levels, this configuration guarantees a consistent power source.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a:p>
            <a:pPr marL="12700">
              <a:lnSpc>
                <a:spcPct val="100000"/>
              </a:lnSpc>
              <a:spcBef>
                <a:spcPts val="1845"/>
              </a:spcBef>
            </a:pPr>
            <a:endParaRPr lang="en-US" sz="2400" b="1" spc="180" dirty="0">
              <a:latin typeface="Calibri"/>
              <a:cs typeface="Calibri"/>
            </a:endParaRPr>
          </a:p>
        </p:txBody>
      </p:sp>
      <p:sp>
        <p:nvSpPr>
          <p:cNvPr id="3" name="object 3">
            <a:extLst>
              <a:ext uri="{FF2B5EF4-FFF2-40B4-BE49-F238E27FC236}">
                <a16:creationId xmlns:a16="http://schemas.microsoft.com/office/drawing/2014/main" id="{A6FB4F40-6386-B86E-1DD2-CC5A178DD10C}"/>
              </a:ext>
            </a:extLst>
          </p:cNvPr>
          <p:cNvSpPr txBox="1">
            <a:spLocks noGrp="1"/>
          </p:cNvSpPr>
          <p:nvPr>
            <p:ph type="sldNum" sz="quarter" idx="7"/>
          </p:nvPr>
        </p:nvSpPr>
        <p:spPr>
          <a:xfrm>
            <a:off x="3683000" y="9932954"/>
            <a:ext cx="228600" cy="141321"/>
          </a:xfrm>
          <a:prstGeom prst="rect">
            <a:avLst/>
          </a:prstGeom>
        </p:spPr>
        <p:txBody>
          <a:bodyPr vert="horz" wrap="square" lIns="0" tIns="0" rIns="0" bIns="0" rtlCol="0">
            <a:spAutoFit/>
          </a:bodyPr>
          <a:lstStyle/>
          <a:p>
            <a:pPr marL="38100">
              <a:lnSpc>
                <a:spcPts val="1120"/>
              </a:lnSpc>
            </a:pPr>
            <a:fld id="{81D60167-4931-47E6-BA6A-407CBD079E47}" type="slidenum">
              <a:rPr spc="-25" dirty="0"/>
              <a:t>16</a:t>
            </a:fld>
            <a:endParaRPr spc="-25" dirty="0"/>
          </a:p>
        </p:txBody>
      </p:sp>
    </p:spTree>
    <p:extLst>
      <p:ext uri="{BB962C8B-B14F-4D97-AF65-F5344CB8AC3E}">
        <p14:creationId xmlns:p14="http://schemas.microsoft.com/office/powerpoint/2010/main" val="1948015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701" y="777875"/>
            <a:ext cx="6477000" cy="4171655"/>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lang="en-IN" sz="2200" b="1" spc="80" dirty="0">
                <a:latin typeface="Calibri"/>
                <a:cs typeface="Calibri"/>
              </a:rPr>
              <a:t>4</a:t>
            </a:r>
            <a:endParaRPr sz="2200" dirty="0">
              <a:latin typeface="Calibri"/>
              <a:cs typeface="Calibri"/>
            </a:endParaRPr>
          </a:p>
          <a:p>
            <a:pPr marL="12700">
              <a:lnSpc>
                <a:spcPct val="100000"/>
              </a:lnSpc>
              <a:spcBef>
                <a:spcPts val="1845"/>
              </a:spcBef>
            </a:pPr>
            <a:r>
              <a:rPr sz="2200" b="1" spc="204" dirty="0">
                <a:latin typeface="Calibri"/>
                <a:cs typeface="Calibri"/>
              </a:rPr>
              <a:t>Results</a:t>
            </a:r>
            <a:r>
              <a:rPr sz="2200" b="1" spc="350" dirty="0">
                <a:latin typeface="Calibri"/>
                <a:cs typeface="Calibri"/>
              </a:rPr>
              <a:t> </a:t>
            </a:r>
            <a:r>
              <a:rPr sz="2200" b="1" spc="180" dirty="0">
                <a:latin typeface="Calibri"/>
                <a:cs typeface="Calibri"/>
              </a:rPr>
              <a:t>and</a:t>
            </a:r>
            <a:r>
              <a:rPr sz="2200" b="1" spc="350" dirty="0">
                <a:latin typeface="Calibri"/>
                <a:cs typeface="Calibri"/>
              </a:rPr>
              <a:t> </a:t>
            </a:r>
            <a:r>
              <a:rPr sz="2200" b="1" spc="135" dirty="0">
                <a:latin typeface="Calibri"/>
                <a:cs typeface="Calibri"/>
              </a:rPr>
              <a:t>discussions</a:t>
            </a:r>
            <a:endParaRPr sz="2200" dirty="0">
              <a:latin typeface="Calibri"/>
              <a:cs typeface="Calibri"/>
            </a:endParaRPr>
          </a:p>
          <a:p>
            <a:pPr>
              <a:lnSpc>
                <a:spcPct val="100000"/>
              </a:lnSpc>
              <a:spcBef>
                <a:spcPts val="890"/>
              </a:spcBef>
            </a:pPr>
            <a:endParaRPr lang="en-IN" sz="2200" dirty="0">
              <a:latin typeface="Calibri"/>
              <a:cs typeface="Calibri"/>
            </a:endParaRPr>
          </a:p>
          <a:p>
            <a:pPr>
              <a:lnSpc>
                <a:spcPct val="100000"/>
              </a:lnSpc>
              <a:spcBef>
                <a:spcPts val="890"/>
              </a:spcBef>
            </a:pPr>
            <a:r>
              <a:rPr lang="en-IN" sz="2400" dirty="0">
                <a:latin typeface="Calibri"/>
                <a:cs typeface="Calibri"/>
              </a:rPr>
              <a:t>4.1 Results</a:t>
            </a:r>
          </a:p>
          <a:p>
            <a:pPr>
              <a:lnSpc>
                <a:spcPct val="100000"/>
              </a:lnSpc>
              <a:spcBef>
                <a:spcPts val="890"/>
              </a:spcBef>
            </a:pPr>
            <a:r>
              <a:rPr lang="en-IN" sz="2400" dirty="0">
                <a:latin typeface="Calibri"/>
                <a:cs typeface="Calibri"/>
              </a:rPr>
              <a:t>               </a:t>
            </a:r>
            <a:r>
              <a:rPr lang="en-IN" sz="1800" dirty="0">
                <a:effectLst/>
                <a:latin typeface="Calibri" panose="020F0502020204030204" pitchFamily="34" charset="0"/>
                <a:ea typeface="Calibri" panose="020F0502020204030204" pitchFamily="34" charset="0"/>
                <a:cs typeface="Times New Roman" panose="02020603050405020304" pitchFamily="18" charset="0"/>
              </a:rPr>
              <a:t>This chapter presents the results of the solar charging system for EV vehicles and evaluates its effectiveness</a:t>
            </a:r>
            <a:r>
              <a:rPr lang="en-IN" sz="2400" dirty="0">
                <a:effectLst/>
                <a:latin typeface="Calibri"/>
                <a:ea typeface="Calibri" panose="020F0502020204030204" pitchFamily="34" charset="0"/>
                <a:cs typeface="Calibri"/>
              </a:rPr>
              <a:t>.</a:t>
            </a: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lang="en-IN" sz="2400" dirty="0">
              <a:latin typeface="Calibri"/>
              <a:cs typeface="Calibri"/>
            </a:endParaRPr>
          </a:p>
          <a:p>
            <a:pPr>
              <a:lnSpc>
                <a:spcPct val="100000"/>
              </a:lnSpc>
              <a:spcBef>
                <a:spcPts val="890"/>
              </a:spcBef>
            </a:pPr>
            <a:endParaRPr sz="2400" dirty="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17</a:t>
            </a:fld>
            <a:endParaRPr spc="-25" dirty="0"/>
          </a:p>
        </p:txBody>
      </p:sp>
      <p:pic>
        <p:nvPicPr>
          <p:cNvPr id="5" name="Picture 4">
            <a:extLst>
              <a:ext uri="{FF2B5EF4-FFF2-40B4-BE49-F238E27FC236}">
                <a16:creationId xmlns:a16="http://schemas.microsoft.com/office/drawing/2014/main" id="{4EEDB916-A979-E886-00FE-537C967108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899" y="3970796"/>
            <a:ext cx="4419600" cy="2758158"/>
          </a:xfrm>
          <a:prstGeom prst="rect">
            <a:avLst/>
          </a:prstGeom>
        </p:spPr>
      </p:pic>
      <p:pic>
        <p:nvPicPr>
          <p:cNvPr id="9" name="Picture 8">
            <a:extLst>
              <a:ext uri="{FF2B5EF4-FFF2-40B4-BE49-F238E27FC236}">
                <a16:creationId xmlns:a16="http://schemas.microsoft.com/office/drawing/2014/main" id="{710D126D-EC8E-3D61-6F9F-64858F1913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7420" y="5502275"/>
            <a:ext cx="1660281" cy="35972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700" y="777875"/>
            <a:ext cx="6553200" cy="8909875"/>
          </a:xfrm>
          <a:prstGeom prst="rect">
            <a:avLst/>
          </a:prstGeom>
        </p:spPr>
        <p:txBody>
          <a:bodyPr vert="horz" wrap="square" lIns="0" tIns="16510" rIns="0" bIns="0" rtlCol="0">
            <a:spAutoFit/>
          </a:bodyPr>
          <a:lstStyle/>
          <a:p>
            <a:pPr marL="12700">
              <a:lnSpc>
                <a:spcPct val="100000"/>
              </a:lnSpc>
              <a:spcBef>
                <a:spcPts val="130"/>
              </a:spcBef>
            </a:pPr>
            <a:r>
              <a:rPr sz="2200" b="1" spc="235" dirty="0">
                <a:latin typeface="Calibri"/>
                <a:cs typeface="Calibri"/>
              </a:rPr>
              <a:t>Chapter</a:t>
            </a:r>
            <a:r>
              <a:rPr sz="2200" b="1" spc="365" dirty="0">
                <a:latin typeface="Calibri"/>
                <a:cs typeface="Calibri"/>
              </a:rPr>
              <a:t> </a:t>
            </a:r>
            <a:r>
              <a:rPr lang="en-IN" sz="2200" b="1" spc="80" dirty="0">
                <a:latin typeface="Calibri"/>
                <a:cs typeface="Calibri"/>
              </a:rPr>
              <a:t>5</a:t>
            </a:r>
            <a:endParaRPr lang="en-IN" sz="2200" dirty="0">
              <a:latin typeface="Calibri"/>
              <a:cs typeface="Calibri"/>
            </a:endParaRPr>
          </a:p>
          <a:p>
            <a:pPr marL="12700">
              <a:lnSpc>
                <a:spcPct val="100000"/>
              </a:lnSpc>
              <a:spcBef>
                <a:spcPts val="1845"/>
              </a:spcBef>
            </a:pPr>
            <a:r>
              <a:rPr lang="en-IN" sz="2200" b="1" spc="195" dirty="0">
                <a:latin typeface="Calibri"/>
                <a:cs typeface="Calibri"/>
              </a:rPr>
              <a:t>Conclusions</a:t>
            </a:r>
            <a:r>
              <a:rPr lang="en-IN" sz="2200" b="1" spc="350" dirty="0">
                <a:latin typeface="Calibri"/>
                <a:cs typeface="Calibri"/>
              </a:rPr>
              <a:t> </a:t>
            </a:r>
            <a:r>
              <a:rPr lang="en-IN" sz="2200" b="1" spc="180" dirty="0">
                <a:latin typeface="Calibri"/>
                <a:cs typeface="Calibri"/>
              </a:rPr>
              <a:t>and</a:t>
            </a:r>
            <a:r>
              <a:rPr lang="en-IN" sz="2200" b="1" spc="355" dirty="0">
                <a:latin typeface="Calibri"/>
                <a:cs typeface="Calibri"/>
              </a:rPr>
              <a:t> </a:t>
            </a:r>
            <a:r>
              <a:rPr lang="en-IN" sz="2200" b="1" spc="160" dirty="0">
                <a:latin typeface="Calibri"/>
                <a:cs typeface="Calibri"/>
              </a:rPr>
              <a:t>future</a:t>
            </a:r>
            <a:r>
              <a:rPr lang="en-IN" sz="2200" b="1" spc="350" dirty="0">
                <a:latin typeface="Calibri"/>
                <a:cs typeface="Calibri"/>
              </a:rPr>
              <a:t> </a:t>
            </a:r>
            <a:r>
              <a:rPr lang="en-IN" sz="2200" b="1" spc="120" dirty="0">
                <a:latin typeface="Calibri"/>
                <a:cs typeface="Calibri"/>
              </a:rPr>
              <a:t>scope</a:t>
            </a:r>
            <a:endParaRPr lang="en-IN" sz="2200" dirty="0">
              <a:latin typeface="Calibri"/>
              <a:cs typeface="Calibri"/>
            </a:endParaRPr>
          </a:p>
          <a:p>
            <a:pPr marL="12700" lvl="1">
              <a:lnSpc>
                <a:spcPct val="100000"/>
              </a:lnSpc>
              <a:tabLst>
                <a:tab pos="516890" algn="l"/>
              </a:tabLst>
            </a:pPr>
            <a:endParaRPr sz="1550" dirty="0">
              <a:latin typeface="Calibri"/>
              <a:cs typeface="Calibri"/>
            </a:endParaRPr>
          </a:p>
          <a:p>
            <a:pPr marL="12700" lvl="1">
              <a:lnSpc>
                <a:spcPct val="100000"/>
              </a:lnSpc>
              <a:spcBef>
                <a:spcPts val="1085"/>
              </a:spcBef>
              <a:tabLst>
                <a:tab pos="516890" algn="l"/>
              </a:tabLst>
            </a:pPr>
            <a:r>
              <a:rPr lang="en-IN" sz="2400" b="1" spc="130" dirty="0">
                <a:latin typeface="Calibri"/>
                <a:cs typeface="Calibri"/>
              </a:rPr>
              <a:t>5.1 Conclusion</a:t>
            </a:r>
          </a:p>
          <a:p>
            <a:pPr marL="12700" lvl="1">
              <a:spcBef>
                <a:spcPts val="1085"/>
              </a:spcBef>
              <a:tabLst>
                <a:tab pos="516890" algn="l"/>
              </a:tabLs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In conclusion, a lithium-ion battery is effectively charged by a solar-charging system for cars, guaranteeing a steady supply of electricity while the vehicle is moving and stopped. The system, which is controlled by an ESP32 microcontroller, senses the condition of a switch to identify the proper charging mode. The car charges while driving when the switch is turned ON. On the other hand, the car charges when it is stopped while the switch is off. Real-time status information on the system, including charging activity, battery level, and vehicle movement condition, is provided by an LCD display that is connected to the ESP32. This creative configuration helps to conserve the environment by encouraging the use of sustainable energy sources and increasing the vehicle's energy efficiency. It also lessens the vehicle's need on fossil fuels.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lvl="1">
              <a:lnSpc>
                <a:spcPct val="100000"/>
              </a:lnSpc>
              <a:spcBef>
                <a:spcPts val="1085"/>
              </a:spcBef>
              <a:tabLst>
                <a:tab pos="516890" algn="l"/>
              </a:tabLst>
            </a:pPr>
            <a:r>
              <a:rPr lang="en-IN" sz="2400" b="1" spc="130" dirty="0">
                <a:latin typeface="Calibri"/>
                <a:cs typeface="Calibri"/>
              </a:rPr>
              <a:t>5.2 Future scope</a:t>
            </a:r>
          </a:p>
          <a:p>
            <a:pPr marL="355600" lvl="1" indent="-342900">
              <a:spcBef>
                <a:spcPts val="1085"/>
              </a:spcBef>
              <a:buFont typeface="+mj-lt"/>
              <a:buAutoNum type="arabicPeriod"/>
              <a:tabLst>
                <a:tab pos="516890" algn="l"/>
              </a:tabLs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Enhanced Efficiency: To optimise the amount of energy captured from sunshine and its application for EV charging, future research can concentrate on enhancing the efficiency of solar panels and energy storage devices. </a:t>
            </a:r>
          </a:p>
          <a:p>
            <a:pPr marL="355600" lvl="1" indent="-342900">
              <a:spcBef>
                <a:spcPts val="1085"/>
              </a:spcBef>
              <a:buFont typeface="+mj-lt"/>
              <a:buAutoNum type="arabicPeriod"/>
              <a:tabLst>
                <a:tab pos="516890" algn="l"/>
              </a:tabLs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Smart Grid Integration: As more sophisticated grid integration technologies are developed, solar charging systems will be able to better control energy flow, plan charging times, and return energy to the grid during times of high demand.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700" lvl="1">
              <a:lnSpc>
                <a:spcPct val="100000"/>
              </a:lnSpc>
              <a:spcBef>
                <a:spcPts val="1085"/>
              </a:spcBef>
              <a:tabLst>
                <a:tab pos="516890" algn="l"/>
              </a:tabLst>
            </a:pPr>
            <a:endParaRPr lang="en-IN" sz="2400" b="1" spc="130" dirty="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714CD44-6B81-21E1-329B-A1650F20F8D3}"/>
              </a:ext>
            </a:extLst>
          </p:cNvPr>
          <p:cNvSpPr txBox="1"/>
          <p:nvPr/>
        </p:nvSpPr>
        <p:spPr>
          <a:xfrm>
            <a:off x="520701" y="777875"/>
            <a:ext cx="6477000" cy="4151136"/>
          </a:xfrm>
          <a:prstGeom prst="rect">
            <a:avLst/>
          </a:prstGeom>
        </p:spPr>
        <p:txBody>
          <a:bodyPr vert="horz" wrap="square" lIns="0" tIns="16510" rIns="0" bIns="0" rtlCol="0">
            <a:spAutoFit/>
          </a:bodyPr>
          <a:lstStyle/>
          <a:p>
            <a:pPr lvl="0">
              <a:lnSpc>
                <a:spcPct val="107000"/>
              </a:lnSpc>
              <a:tabLst>
                <a:tab pos="457200" algn="l"/>
              </a:tabLst>
            </a:pPr>
            <a:r>
              <a:rPr lang="en-IN" sz="1800" kern="0" dirty="0">
                <a:effectLst/>
                <a:latin typeface="Times New Roman" panose="02020603050405020304" pitchFamily="18" charset="0"/>
                <a:ea typeface="Times New Roman" panose="02020603050405020304" pitchFamily="18" charset="0"/>
              </a:rPr>
              <a:t>3. Advanced Materials: Research into novel materials and    technologies for solar panels and batteries may result in solar charging systems that are more robust, economical, and efficient. </a:t>
            </a:r>
            <a:br>
              <a:rPr lang="en-IN" sz="1800" kern="0" dirty="0">
                <a:effectLst/>
                <a:latin typeface="Times New Roman" panose="02020603050405020304" pitchFamily="18" charset="0"/>
                <a:ea typeface="Times New Roman" panose="02020603050405020304" pitchFamily="18" charset="0"/>
              </a:rPr>
            </a:br>
            <a:r>
              <a:rPr lang="en-IN" dirty="0">
                <a:latin typeface="Times New Roman" panose="02020603050405020304" pitchFamily="18" charset="0"/>
                <a:ea typeface="Times New Roman" panose="02020603050405020304" pitchFamily="18" charset="0"/>
              </a:rPr>
              <a:t>4. </a:t>
            </a:r>
            <a:r>
              <a:rPr lang="en-IN" sz="1800" kern="0" dirty="0">
                <a:effectLst/>
                <a:latin typeface="Times New Roman" panose="02020603050405020304" pitchFamily="18" charset="0"/>
                <a:ea typeface="Times New Roman" panose="02020603050405020304" pitchFamily="18" charset="0"/>
              </a:rPr>
              <a:t>Wider Adoption: By lowering dependency on fossil fuels and encouraging sustainable mobility, a wider adoption of EVs can be facilitated by increasing the deployment of solar charging stations in both urban and rural locations. </a:t>
            </a:r>
            <a:br>
              <a:rPr lang="en-IN" sz="1800" kern="0" dirty="0">
                <a:effectLst/>
                <a:latin typeface="Times New Roman" panose="02020603050405020304" pitchFamily="18" charset="0"/>
                <a:ea typeface="Times New Roman" panose="02020603050405020304" pitchFamily="18" charset="0"/>
              </a:rPr>
            </a:br>
            <a:r>
              <a:rPr lang="en-IN" sz="1800" kern="0" dirty="0">
                <a:effectLst/>
                <a:latin typeface="Times New Roman" panose="02020603050405020304" pitchFamily="18" charset="0"/>
                <a:ea typeface="Times New Roman" panose="02020603050405020304" pitchFamily="18" charset="0"/>
              </a:rPr>
              <a:t>5. Autonomous Systems: Adding intelligent and autonomous systems to the management and upkeep of solar charging stations can improve performance and dependability and guarantee continuous functioning with less need for human intervention. </a:t>
            </a:r>
            <a:br>
              <a:rPr lang="en-IN" sz="1800" kern="0" dirty="0">
                <a:effectLst/>
                <a:latin typeface="Times New Roman" panose="02020603050405020304" pitchFamily="18" charset="0"/>
                <a:ea typeface="Times New Roman" panose="02020603050405020304" pitchFamily="18" charset="0"/>
              </a:rPr>
            </a:br>
            <a:r>
              <a:rPr lang="en-IN" sz="1800" kern="0" dirty="0">
                <a:effectLst/>
                <a:latin typeface="Times New Roman" panose="02020603050405020304" pitchFamily="18" charset="0"/>
                <a:ea typeface="Times New Roman" panose="02020603050405020304" pitchFamily="18" charset="0"/>
              </a:rPr>
              <a:t>6. Hybrid Systems: By fusing solar energy with additional renewable energy sources, including wind or hydropower, hybrid systems can provide EV charging with more dependable and constant electricity. </a:t>
            </a:r>
            <a:endParaRPr lang="en-IN" sz="2400" b="1" spc="235" dirty="0">
              <a:latin typeface="Calibri"/>
              <a:cs typeface="Calibri"/>
            </a:endParaRPr>
          </a:p>
        </p:txBody>
      </p:sp>
    </p:spTree>
    <p:extLst>
      <p:ext uri="{BB962C8B-B14F-4D97-AF65-F5344CB8AC3E}">
        <p14:creationId xmlns:p14="http://schemas.microsoft.com/office/powerpoint/2010/main" val="2140786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934D6CB-4689-1AB5-629E-0530C144495F}"/>
              </a:ext>
            </a:extLst>
          </p:cNvPr>
          <p:cNvSpPr txBox="1"/>
          <p:nvPr/>
        </p:nvSpPr>
        <p:spPr>
          <a:xfrm>
            <a:off x="520701" y="777875"/>
            <a:ext cx="6477000" cy="5491888"/>
          </a:xfrm>
          <a:prstGeom prst="rect">
            <a:avLst/>
          </a:prstGeom>
        </p:spPr>
        <p:txBody>
          <a:bodyPr vert="horz" wrap="square" lIns="0" tIns="16510" rIns="0" bIns="0" rtlCol="0">
            <a:spAutoFit/>
          </a:bodyPr>
          <a:lstStyle/>
          <a:p>
            <a:pPr lvl="0">
              <a:lnSpc>
                <a:spcPct val="107000"/>
              </a:lnSpc>
              <a:tabLst>
                <a:tab pos="457200" algn="l"/>
              </a:tabLst>
            </a:pPr>
            <a:r>
              <a:rPr lang="en-IN" sz="2400" b="1" spc="235" dirty="0">
                <a:latin typeface="Calibri"/>
                <a:cs typeface="Calibri"/>
              </a:rPr>
              <a:t>Reference</a:t>
            </a:r>
          </a:p>
          <a:p>
            <a:pPr marL="12700">
              <a:lnSpc>
                <a:spcPct val="100000"/>
              </a:lnSpc>
              <a:spcBef>
                <a:spcPts val="130"/>
              </a:spcBef>
            </a:pPr>
            <a:endParaRPr lang="en-IN" sz="2200" b="1" spc="235" dirty="0">
              <a:latin typeface="Calibri"/>
              <a:cs typeface="Calibri"/>
            </a:endParaRPr>
          </a:p>
          <a:p>
            <a:pPr marL="342900" lvl="0" indent="-342900">
              <a:lnSpc>
                <a:spcPct val="107000"/>
              </a:lnSpc>
              <a:buFont typeface="Symbol" panose="05050102010706020507" pitchFamily="18" charset="2"/>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Hans Manoj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Raghubir;Sayyad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Azmat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Suleman;Satya</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Prakash,” Design and development of Wind Solar Energy Charging System for Electric Vehicle”, 2019 2nd International Conference on Power and Embedded Drive Control (ICPEDC).[1]</a:t>
            </a:r>
          </a:p>
          <a:p>
            <a:pPr marL="342900" lvl="0" indent="-342900">
              <a:lnSpc>
                <a:spcPct val="107000"/>
              </a:lnSpc>
              <a:buFont typeface="Symbol" panose="05050102010706020507" pitchFamily="18" charset="2"/>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Rahul Hossain;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Vijith</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K;” Solar Energy based EV Charging Station With Added Battery Storage System”, 2021 IEEE International Power and Renewable Energy Conference (IPRECON) .[2]</a:t>
            </a:r>
          </a:p>
          <a:p>
            <a:pPr marL="342900" lvl="0" indent="-342900">
              <a:lnSpc>
                <a:spcPct val="107000"/>
              </a:lnSpc>
              <a:buFont typeface="Symbol" panose="05050102010706020507" pitchFamily="18" charset="2"/>
              <a:buChar char=""/>
            </a:pP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Zarren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Firdouse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Syed Majed Ashraf;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Khaliqur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Rahman;” Hybrid Solar PV System for Electric Vehicles Battery Charging “,2023 International Conference on Power, Instrumentation, Energy and Control (PIECON).[3]</a:t>
            </a:r>
          </a:p>
          <a:p>
            <a:pPr marL="342900" lvl="0" indent="-342900">
              <a:lnSpc>
                <a:spcPct val="107000"/>
              </a:lnSpc>
              <a:spcAft>
                <a:spcPts val="800"/>
              </a:spcAft>
              <a:buFont typeface="Symbol" panose="05050102010706020507" pitchFamily="18" charset="2"/>
              <a:buChar char=""/>
            </a:pP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Abhijith</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Pangil</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Sidharthan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Salma Al Aref; “Optimization of Charging in a Multi-Port EV Charging Station for Emergency Vehicle Priority Fast Charging”, 2021 IEEE International Women in Engineering (WIE) Conference on Electrical and Computer Engineering (WIECON-ECE).[4]</a:t>
            </a:r>
          </a:p>
        </p:txBody>
      </p:sp>
    </p:spTree>
    <p:extLst>
      <p:ext uri="{BB962C8B-B14F-4D97-AF65-F5344CB8AC3E}">
        <p14:creationId xmlns:p14="http://schemas.microsoft.com/office/powerpoint/2010/main" val="3443767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1138</TotalTime>
  <Words>3651</Words>
  <Application>Microsoft Office PowerPoint</Application>
  <PresentationFormat>Custom</PresentationFormat>
  <Paragraphs>244</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Google Sans</vt:lpstr>
      <vt:lpstr>Symbol</vt:lpstr>
      <vt:lpstr>Times New Roman</vt:lpstr>
      <vt:lpstr>Office Theme</vt:lpstr>
      <vt:lpstr>PowerPoint Presentation</vt:lpstr>
      <vt:lpstr>PowerPoint Presentation</vt:lpstr>
      <vt:lpstr>PowerPoint Presentation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divyasalmani25@outlook.com</cp:lastModifiedBy>
  <cp:revision>14</cp:revision>
  <dcterms:created xsi:type="dcterms:W3CDTF">2024-06-04T10:08:08Z</dcterms:created>
  <dcterms:modified xsi:type="dcterms:W3CDTF">2024-06-19T09:05:27Z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2024-01-16T00:00:00Z</vt:filetime>
  </property>
  <property fmtid="{D5CDD505-2E9C-101B-9397-08002B2CF9AE}" pid="3" name="Creator">
    <vt:lpwstr>LaTeX with hyperref</vt:lpwstr>
  </property>
  <property fmtid="{D5CDD505-2E9C-101B-9397-08002B2CF9AE}" pid="4" name="LastSaved">
    <vt:filetime>2024-06-04T00:00:00Z</vt:filetime>
  </property>
  <property fmtid="{D5CDD505-2E9C-101B-9397-08002B2CF9AE}" pid="5" name="PTEX.Fullbanner">
    <vt:lpwstr>This is MiKTeX-pdfTeX 4.0.1 (1.40.21)</vt:lpwstr>
  </property>
  <property fmtid="{D5CDD505-2E9C-101B-9397-08002B2CF9AE}" pid="6" name="Producer">
    <vt:lpwstr>MiKTeX pdfTeX-1.40.21</vt:lpwstr>
  </property>
</Properties>
</file>